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Báo cáo sơ bộ giới thiệu hệ thống Recruitment System với giao diện thương hiệu CareerHub. Nội dung tập trung vào bài toán, phạm vi đã triển khai, kiến trúc, kết quả kiểm chứng và phần cần tiếp tục hoàn thiện. Thông tin được tổng hợp đến ngày 23/10/2026. Đây là báo cáo hiện trạng dựa trên mã nguồn và tài liệu, không phải tuyên bố nghiệm thu production.</a:t>
            </a:r>
          </a:p>
          <a:p/>
          <a:p>
            <a:r>
              <a:t>Nguồn đối chiếu:</a:t>
            </a:r>
          </a:p>
          <a:p>
            <a:r>
              <a:t>- README.md</a:t>
            </a:r>
          </a:p>
          <a:p>
            <a:r>
              <a:t>- docs/system-regression-2026-10-16.md</a:t>
            </a:r>
          </a:p>
          <a:p>
            <a:r>
              <a:t>- docs/frontend-portals-2026-10-22.md</a:t>
            </a:r>
          </a:p>
          <a:p>
            <a:r>
              <a:t>- docs/chat-identities-2026-10-23.md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toán được xác định từ phạm vi nghiệp vụ của dự án: ứng viên cần quản lý hồ sơ và theo dõi đơn; nhà tuyển dụng cần tổ chức toàn bộ vòng đời tuyển dụng; quản trị viên cần kiểm soát nội dung và tài khoản. Mục tiêu hệ thống là tập trung các tác vụ này, giữ trạng thái nhất quán và bổ sung gợi ý dựa trên độ tương đồng CV với công việc. Chưa có khảo sát người dùng hoặc số liệu đo mức tiết kiệm thời gian để khẳng định hiệu quả định lượng.</a:t>
            </a:r>
          </a:p>
          <a:p/>
          <a:p>
            <a:r>
              <a:t>Nguồn đối chiếu:</a:t>
            </a:r>
          </a:p>
          <a:p>
            <a:r>
              <a:t>- README.md</a:t>
            </a:r>
          </a:p>
          <a:p>
            <a:r>
              <a:t>- Phan-cong-cong-viec-He-thong-tuyen-dung.md</a:t>
            </a:r>
          </a:p>
          <a:p>
            <a:r>
              <a:t>- docs/system-regression-2026-10-16.md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cổng Candidate, Recruiter và Admin được tách về URL và trải nghiệm điều hướng. Khách có thể xem dữ liệu công khai theo chính sách; các tác vụ cá nhân yêu cầu đăng nhập. Nhà tuyển dụng không được đọc toàn bộ hồ sơ riêng tư của ứng viên. Quyền xem CV gắn với đơn ứng tuyển hoặc consent tìm kiếm. Kiểm tra vai trò trên giao diện chỉ hỗ trợ trải nghiệm; backend vẫn chịu trách nhiệm phân quyền tài nguyên.</a:t>
            </a:r>
          </a:p>
          <a:p/>
          <a:p>
            <a:r>
              <a:t>Nguồn đối chiếu:</a:t>
            </a:r>
          </a:p>
          <a:p>
            <a:r>
              <a:t>- docs/frontend-portals-2026-10-22.md</a:t>
            </a:r>
          </a:p>
          <a:p>
            <a:r>
              <a:t>- docs/chat-identities-2026-10-23.md</a:t>
            </a:r>
          </a:p>
          <a:p>
            <a:r>
              <a:t>- docs/architecture.md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luồng thành công điển hình. Recruiter tạo hồ sơ công ty và được Admin duyệt, sau đó tin tuyển dụng cũng qua kiểm duyệt. Candidate chọn CV để ứng tuyển; hệ thống chặn đơn trùng và pin snapshot CV. Recruiter xử lý hồ sơ, đặt lịch OFFLINE và gửi offer; Candidate chấp nhận đúng phiên bản để đơn chuyển HIRED. Tin nhắn và thông báo hỗ trợ giao tiếp trong quá trình này. Cuộc gọi LiveKit trong chat đã được kiểm chứng nhưng chưa đồng nghĩa lịch phỏng vấn ONLINE hoạt động.</a:t>
            </a:r>
          </a:p>
          <a:p/>
          <a:p>
            <a:r>
              <a:t>Nguồn đối chiếu:</a:t>
            </a:r>
          </a:p>
          <a:p>
            <a:r>
              <a:t>- docs/system-regression-2026-10-16.md</a:t>
            </a:r>
          </a:p>
          <a:p>
            <a:r>
              <a:t>- docs/architecture.md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Bốn nhóm chức năng bao phủ các hành trình chính và đã có bằng chứng chạy với backend thật trên Docker local. Trong phần này, cần phân biệt chức năng đã được kiểm chứng với toàn bộ yêu cầu mở rộng. Ví dụ quản lý CV/upload có bằng chứng; không vì vậy kết luận CV Builder/PDF nâng cao đã nghiệm thu đầy đủ. Admin có quản trị và export thật nhưng báo cáo JOB/COMPANY vẫn có giới hạn xử lý. Chatbot AI hiện giữ tắt.</a:t>
            </a:r>
          </a:p>
          <a:p/>
          <a:p>
            <a:r>
              <a:t>Nguồn đối chiếu:</a:t>
            </a:r>
          </a:p>
          <a:p>
            <a:r>
              <a:t>- docs/system-regression-2026-10-16.md</a:t>
            </a:r>
          </a:p>
          <a:p>
            <a:r>
              <a:t>- README.md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thống có 12 API service và hai embedding worker; không cộng worker vào số lượng API. Frontend Next.js cung cấp ba portal và chuyển yêu cầu qua gateway. Sơ đồ gom service theo vai trò để dễ trình bày, không biểu diễn quyền truy cập cơ sở dữ liệu chéo. PostgreSQL hiện dùng chung cluster/database, tách schema theo service, riêng một số bảng Go có owner trong public. Nghiệp vụ giao tiếp qua API hoặc Kafka; không truy cập chéo bảng. Redis, Elasticsearch, Cloudinary và LiveKit phục vụ từng nhu cầu cụ thể.</a:t>
            </a:r>
          </a:p>
          <a:p/>
          <a:p>
            <a:r>
              <a:t>Nguồn đối chiếu:</a:t>
            </a:r>
          </a:p>
          <a:p>
            <a:r>
              <a:t>- README.md</a:t>
            </a:r>
          </a:p>
          <a:p>
            <a:r>
              <a:t>- docs/architecture.md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Bốn service Java dùng Spring Boot; bốn service Node dùng NestJS; ba service Go xử lý chat, notification và video; AI dùng FastAPI và sentence-transformers. Cách chia này phản ánh runtime hiện tại của README và architecture, thay thế các mô tả cũ về 11 service, Node cho chat hoặc Jitsi. Đa ngôn ngữ giúp khai thác thư viện phù hợp nhưng tăng chi phí vận hành và kiểm thử hợp đồng. Trong báo cáo không cần đọc toàn bộ công nghệ, chỉ giải thích vai trò của từng nhóm.</a:t>
            </a:r>
          </a:p>
          <a:p/>
          <a:p>
            <a:r>
              <a:t>Nguồn đối chiếu:</a:t>
            </a:r>
          </a:p>
          <a:p>
            <a:r>
              <a:t>- README.md</a:t>
            </a:r>
          </a:p>
          <a:p>
            <a:r>
              <a:t>- docs/architecture.md</a:t>
            </a:r>
          </a:p>
          <a:p>
            <a:r>
              <a:t>- frontend/package.json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Auth là nơi phát hành token RS256; khóa bí mật chỉ thuộc Auth. Với browser, cookie proxy HttpOnly quản lý access/refresh, phản hồi JSON chỉ chứa user. Backend kiểm tra quyền đến từng tài nguyên: CV, đơn ứng tuyển, hội thoại và cuộc gọi. Snapshot CV tránh việc ứng viên sửa hoặc xóa CV làm thay đổi nội dung đã nộp. Transactional outbox của Job hỗ trợ ghi dữ liệu và sự kiện nguyên tử; delivery at-least-once đòi hỏi consumer xử lý trùng. Giới hạn cần công khai: môi trường local chưa tách credential database như production; việc khóa tài khoản không làm tất cả token stateless biến mất tức thì.</a:t>
            </a:r>
          </a:p>
          <a:p/>
          <a:p>
            <a:r>
              <a:t>Nguồn đối chiếu:</a:t>
            </a:r>
          </a:p>
          <a:p>
            <a:r>
              <a:t>- README.md</a:t>
            </a:r>
          </a:p>
          <a:p>
            <a:r>
              <a:t>- docs/architecture.md</a:t>
            </a:r>
          </a:p>
          <a:p>
            <a:r>
              <a:t>- docs/system-regression-2026-10-16.md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sử dụng sentence-transformers với model được ghim revision, sinh embedding 384 chiều trên CPU và lưu pgvector. Hai worker nhận sự kiện CV và Job, tách khỏi API. Báo cáo 16/10 ghi nhận pipeline thật với PDF fixture và điểm match dạng số; candidate nhận gợi ý, recruiter xem người đã consent. Điều này xác nhận chức năng tích hợp, chưa xác nhận độ chính xác hoặc công bằng trên dữ liệu tuyển dụng thực. Điểm tương đồng chỉ hỗ trợ quyết định. AI Assistant có code riêng nhưng hiện CHAT_ENABLED=false; luyện phỏng vấn AI chưa được backend triển khai.</a:t>
            </a:r>
          </a:p>
          <a:p/>
          <a:p>
            <a:r>
              <a:t>Nguồn đối chiếu:</a:t>
            </a:r>
          </a:p>
          <a:p>
            <a:r>
              <a:t>- services/ai-service/README.md</a:t>
            </a:r>
          </a:p>
          <a:p>
            <a:r>
              <a:t>- README.md</a:t>
            </a:r>
          </a:p>
          <a:p>
            <a:r>
              <a:t>- docs/system-regression-2026-10-16.md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Ảnh này lấy trực tiếp từ artifact giao diện có sẵn trong repository, không phải ảnh dựng hoặc một lần chạy mới. Ảnh được chụp khi dashboard chưa có hồ sơ/đơn của phiên minh họa, nên các số 0 không mô tả quy mô dữ liệu dự án. Có thể chỉ vào ba tác vụ chính: khám phá việc, quản lý CV và theo dõi đơn. Tài liệu portal ghi nhận thiết kế responsive, role gate và xử lý trạng thái lỗi/trống. Menu hiển thị trợ lý AI không có nghĩa chức năng chatbot đang bật.</a:t>
            </a:r>
          </a:p>
          <a:p/>
          <a:p>
            <a:r>
              <a:t>Nguồn đối chiếu:</a:t>
            </a:r>
          </a:p>
          <a:p>
            <a:r>
              <a:t>- .cache/portal-live/candidate-desktop.png</a:t>
            </a:r>
          </a:p>
          <a:p>
            <a:r>
              <a:t>- docs/frontend-portals-2026-10-22.md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ảnh minh họa workspace thật của frontend local, cắt phần trên để giữ độ đọc được. Recruiter có điều hướng quản lý tin, ứng viên, hồ sơ công ty, lời mời và tin nhắn. Admin có điều hướng quản lý người dùng, duyệt tin/công ty, báo cáo, audit và thống kê. Đây là trạng thái giao diện theo phiên fixture trước khi bổ sung bộ demo, không phải ảnh dashboard có số liệu kinh doanh. Các hành vi backend thật cần căn cứ báo cáo kiểm thử, không suy ra từ ảnh đơn thuần.</a:t>
            </a:r>
          </a:p>
          <a:p/>
          <a:p>
            <a:r>
              <a:t>Nguồn đối chiếu:</a:t>
            </a:r>
          </a:p>
          <a:p>
            <a:r>
              <a:t>- .cache/portal-live/recruiter-desktop.png</a:t>
            </a:r>
          </a:p>
          <a:p>
            <a:r>
              <a:t>- .cache/portal-live/admin-desktop.png</a:t>
            </a:r>
          </a:p>
          <a:p>
            <a:r>
              <a:t>- docs/frontend-portals-2026-10-22.md</a:t>
            </a:r>
          </a:p>
          <a:p>
            <a:r>
              <a:t>- docs/system-regression-2026-10-16.md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Nhấn mạnh ngày và phạm vi của từng số: 12 health endpoint và 138 browser test thuộc báo cáo 16/10; 155 kiểm tra logic frontend thuộc cập nhật 23/10. Đây không phải số lượng hoàn thành chức năng hay phần trăm tiến độ. Báo cáo hệ thống còn có kết quả backend unit/integration theo từng service. Báo cáo portal 22/10 ghi nhận smoke Chrome/backend thật 9/9 bước cho ba vai trò; báo cáo chat 23/10 có 26 ca Chrome và kiểm tra backend thật ở hai vai trò. Không cộng các lượt có ca trùng thành tổng độc lập. Tại lần tạo deck này chỉ đối chiếu tài liệu và kiểm tra file trình chiếu.</a:t>
            </a:r>
          </a:p>
          <a:p/>
          <a:p>
            <a:r>
              <a:t>Nguồn đối chiếu:</a:t>
            </a:r>
          </a:p>
          <a:p>
            <a:r>
              <a:t>- docs/system-regression-2026-10-16.md</a:t>
            </a:r>
          </a:p>
          <a:p>
            <a:r>
              <a:t>- docs/frontend-portals-2026-10-22.md</a:t>
            </a:r>
          </a:p>
          <a:p>
            <a:r>
              <a:t>- docs/chat-identities-2026-10-23.md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Tài liệu phân công gốc chia theo vertical slice, tức một người chịu trách nhiệm cả nghiệp vụ backend và frontend tương ứng. Báo cáo giữ tên Người 1, Người 2, Người 3 vì repository không cung cấp tên thành viên được xác nhận. Nhóm 1 phụ trách danh tính/hồ sơ/quản trị; nhóm 2 phụ trách công ty/tin/ứng tuyển/AI; nhóm 3 phụ trách lịch, giao tiếp và hạ tầng. Phần service trong slide đã cập nhật theo runtime hiện tại: Video tách riêng, Chat/Notification/Video dùng Go và LiveKit thay Jitsi. Điểm giao quan trọng nhất là JWT, Media và contract Kafka.</a:t>
            </a:r>
          </a:p>
          <a:p/>
          <a:p>
            <a:r>
              <a:t>Nguồn đối chiếu:</a:t>
            </a:r>
          </a:p>
          <a:p>
            <a:r>
              <a:t>- Phan-cong-cong-viec-He-thong-tuyen-dung.md</a:t>
            </a:r>
          </a:p>
          <a:p>
            <a:r>
              <a:t>- README.md</a:t>
            </a:r>
          </a:p>
          <a:p>
            <a:r>
              <a:t>- docs/architecture.md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 giới hạn này lấy từ tài liệu đã ghi nhận, không suy diễn rằng cả hệ thống chưa hoạt động. Thứ nhất, gọi video trong chat hoạt động nhưng lịch phỏng vấn ONLINE chưa có binding phòng/token. Thứ hai, chatbot giữ tắt theo cấu hình hiện tại và luyện phỏng vấn AI chưa triển khai. Thứ ba, báo cáo USER đã có xử lý thật nhưng JOB/COMPANY chưa có hợp đồng gỡ nội dung; trạng thái UNKNOWN/PROCESSING sau timeout cần đối soát. Cuối cùng, cần bộ CV thực tế, kiểm thử tải dài hạn và mô hình credential production. Không dùng số ca test để khẳng định hệ thống sẵn sàng production.</a:t>
            </a:r>
          </a:p>
          <a:p/>
          <a:p>
            <a:r>
              <a:t>Nguồn đối chiếu:</a:t>
            </a:r>
          </a:p>
          <a:p>
            <a:r>
              <a:t>- docs/system-regression-2026-10-16.md</a:t>
            </a:r>
          </a:p>
          <a:p>
            <a:r>
              <a:t>- README.md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đề xuất dựa trên hiện trạng, không phải cam kết của nhóm về tuần hoặc ngày hoàn thành. Mốc đầu ưu tiên ổn định demo hiện có và chạy lại ba hành trình. Mốc hai khép các contract sản phẩm còn thiếu nếu giữ trong phạm vi nghiệm thu. Mốc ba đo chất lượng AI và tải với dữ liệu có quyền sử dụng, dùng tiêu chí được xác định trước. Mốc bốn chuẩn bị môi trường, giám sát, sao lưu/phục hồi và tài liệu bàn giao. Chatbot là phạm vi cần xác nhận, không tự bật chỉ để có thêm tính năng trong demo.</a:t>
            </a:r>
          </a:p>
          <a:p/>
          <a:p>
            <a:r>
              <a:t>Nguồn đối chiếu:</a:t>
            </a:r>
          </a:p>
          <a:p>
            <a:r>
              <a:t>- docs/system-regression-2026-10-16.md</a:t>
            </a:r>
          </a:p>
          <a:p>
            <a:r>
              <a:t>- README.md</a:t>
            </a:r>
          </a:p>
          <a:p>
            <a:r>
              <a:t>- docs/architecture.md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luận ở mức sơ bộ: hệ thống đã có ba portal, 12 API service và bằng chứng chạy local cho các hành trình chính. Các mục còn mở đã được chỉ rõ, vì vậy chưa kết luận đạt nghiệm thu toàn hệ thống hay production. Nếu demo trực tiếp, chuẩn bị trước tài khoản fixture: Candidate xem việc/CV/đơn; Recruiter xem pipeline/offer hoặc tin nhắn; Admin xem duyệt tin/audit. Chỉ chạy các thao tác thay đổi dữ liệu trên fixture được phép. Nếu backend chưa chạy, dùng các ảnh và bằng chứng có ngày trong deck; không nói đó là demo live. Mời người nghe góp ý về phạm vi nghiệm thu và ưu tiên tiếp theo.</a:t>
            </a:r>
          </a:p>
          <a:p/>
          <a:p>
            <a:r>
              <a:t>Nguồn đối chiếu:</a:t>
            </a:r>
          </a:p>
          <a:p>
            <a:r>
              <a:t>- README.md</a:t>
            </a:r>
          </a:p>
          <a:p>
            <a:r>
              <a:t>- docs/system-regression-2026-10-16.md</a:t>
            </a:r>
          </a:p>
          <a:p>
            <a:r>
              <a:t>- docs/frontend-portals-2026-10-22.md</a:t>
            </a:r>
          </a:p>
          <a:p>
            <a:r>
              <a:t>- docs/chat-identities-2026-10-23.md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2723"/>
        </a:solidFill>
        <a:effectLst/>
      </p:bgPr>
    </p:bg>
    <p:spTree>
      <p:nvGrpSpPr>
        <p:cNvPr id="1" name=""/>
        <p:cNvGrpSpPr/>
        <p:nvPr/>
      </p:nvGrpSpPr>
      <p:grpSpPr/>
      <p:sp>
        <p:nvSpPr>
          <p:cNvPr id="2" name="TextBox 1"/>
          <p:cNvSpPr txBox="1"/>
          <p:nvPr/>
        </p:nvSpPr>
        <p:spPr>
          <a:xfrm>
            <a:off x="502920" y="256032"/>
            <a:ext cx="4572000" cy="201168"/>
          </a:xfrm>
          <a:prstGeom prst="rect">
            <a:avLst/>
          </a:prstGeom>
          <a:noFill/>
        </p:spPr>
        <p:txBody>
          <a:bodyPr wrap="square" lIns="0" rIns="0" tIns="0" bIns="0">
            <a:spAutoFit/>
          </a:bodyPr>
          <a:lstStyle/>
          <a:p>
            <a:pPr>
              <a:lnSpc>
                <a:spcPct val="112000"/>
              </a:lnSpc>
              <a:spcBef>
                <a:spcPts val="0"/>
              </a:spcBef>
              <a:spcAft>
                <a:spcPts val="108"/>
              </a:spcAft>
              <a:defRPr sz="900" b="1">
                <a:solidFill>
                  <a:srgbClr val="A6C7B8"/>
                </a:solidFill>
                <a:latin typeface="Arial"/>
              </a:defRPr>
            </a:pPr>
            <a:r>
              <a:t>CAREERHUB  /  RECRUITMENT SYSTEM</a:t>
            </a:r>
          </a:p>
        </p:txBody>
      </p:sp>
      <p:sp>
        <p:nvSpPr>
          <p:cNvPr id="3" name="TextBox 2"/>
          <p:cNvSpPr txBox="1"/>
          <p:nvPr/>
        </p:nvSpPr>
        <p:spPr>
          <a:xfrm>
            <a:off x="8321040" y="256032"/>
            <a:ext cx="3364992" cy="201168"/>
          </a:xfrm>
          <a:prstGeom prst="rect">
            <a:avLst/>
          </a:prstGeom>
          <a:noFill/>
        </p:spPr>
        <p:txBody>
          <a:bodyPr wrap="square" lIns="0" rIns="0" tIns="0" bIns="0">
            <a:spAutoFit/>
          </a:bodyPr>
          <a:lstStyle/>
          <a:p>
            <a:pPr algn="r">
              <a:lnSpc>
                <a:spcPct val="112000"/>
              </a:lnSpc>
              <a:spcBef>
                <a:spcPts val="0"/>
              </a:spcBef>
              <a:spcAft>
                <a:spcPts val="108"/>
              </a:spcAft>
              <a:defRPr sz="900" b="0">
                <a:solidFill>
                  <a:srgbClr val="A6C7B8"/>
                </a:solidFill>
                <a:latin typeface="Arial"/>
              </a:defRPr>
            </a:pPr>
            <a:r>
              <a:t>BÁO CÁO SƠ BỘ</a:t>
            </a:r>
          </a:p>
        </p:txBody>
      </p:sp>
      <p:cxnSp>
        <p:nvCxnSpPr>
          <p:cNvPr id="4" name="Connector 3"/>
          <p:cNvCxnSpPr/>
          <p:nvPr/>
        </p:nvCxnSpPr>
        <p:spPr>
          <a:xfrm>
            <a:off x="502920" y="6437376"/>
            <a:ext cx="11183112" cy="0"/>
          </a:xfrm>
          <a:prstGeom prst="line">
            <a:avLst/>
          </a:prstGeom>
          <a:ln w="8890">
            <a:solidFill>
              <a:srgbClr val="64776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12064" y="6537960"/>
            <a:ext cx="10287000" cy="173736"/>
          </a:xfrm>
          <a:prstGeom prst="rect">
            <a:avLst/>
          </a:prstGeom>
          <a:noFill/>
        </p:spPr>
        <p:txBody>
          <a:bodyPr wrap="square" lIns="0" rIns="0" tIns="0" bIns="0">
            <a:spAutoFit/>
          </a:bodyPr>
          <a:lstStyle/>
          <a:p>
            <a:pPr>
              <a:lnSpc>
                <a:spcPct val="112000"/>
              </a:lnSpc>
              <a:spcBef>
                <a:spcPts val="0"/>
              </a:spcBef>
              <a:spcAft>
                <a:spcPts val="96"/>
              </a:spcAft>
              <a:defRPr sz="800" b="0">
                <a:solidFill>
                  <a:srgbClr val="A6C7B8"/>
                </a:solidFill>
                <a:latin typeface="Arial"/>
              </a:defRPr>
            </a:pPr>
            <a:r>
              <a:t>Tổng hợp đến 23/10/2026 (GMT+7) · Tài liệu dự án và bằng chứng kiểm thử 16–23/10/2026</a:t>
            </a:r>
          </a:p>
        </p:txBody>
      </p:sp>
      <p:sp>
        <p:nvSpPr>
          <p:cNvPr id="6" name="TextBox 5"/>
          <p:cNvSpPr txBox="1"/>
          <p:nvPr/>
        </p:nvSpPr>
        <p:spPr>
          <a:xfrm>
            <a:off x="10881360" y="6510528"/>
            <a:ext cx="795528" cy="210312"/>
          </a:xfrm>
          <a:prstGeom prst="rect">
            <a:avLst/>
          </a:prstGeom>
          <a:noFill/>
        </p:spPr>
        <p:txBody>
          <a:bodyPr wrap="square" lIns="0" rIns="0" tIns="0" bIns="0">
            <a:spAutoFit/>
          </a:bodyPr>
          <a:lstStyle/>
          <a:p>
            <a:pPr algn="r">
              <a:lnSpc>
                <a:spcPct val="112000"/>
              </a:lnSpc>
              <a:spcBef>
                <a:spcPts val="0"/>
              </a:spcBef>
              <a:spcAft>
                <a:spcPts val="108"/>
              </a:spcAft>
              <a:defRPr sz="900" b="0">
                <a:solidFill>
                  <a:srgbClr val="A6C7B8"/>
                </a:solidFill>
                <a:latin typeface="Arial"/>
              </a:defRPr>
            </a:pPr>
            <a:r>
              <a:t>01 / 16</a:t>
            </a:r>
          </a:p>
        </p:txBody>
      </p:sp>
      <p:sp>
        <p:nvSpPr>
          <p:cNvPr id="7" name="Rounded Rectangle 6"/>
          <p:cNvSpPr/>
          <p:nvPr/>
        </p:nvSpPr>
        <p:spPr>
          <a:xfrm>
            <a:off x="594360" y="1097280"/>
            <a:ext cx="2331720" cy="265176"/>
          </a:xfrm>
          <a:prstGeom prst="roundRect">
            <a:avLst>
              <a:gd name="adj" fmla="val 12000"/>
            </a:avLst>
          </a:prstGeom>
          <a:solidFill>
            <a:srgbClr val="078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 y="1143000"/>
            <a:ext cx="2221991" cy="182880"/>
          </a:xfrm>
          <a:prstGeom prst="rect">
            <a:avLst/>
          </a:prstGeom>
          <a:noFill/>
        </p:spPr>
        <p:txBody>
          <a:bodyPr wrap="square" lIns="0" rIns="0" tIns="0" bIns="0">
            <a:spAutoFit/>
          </a:bodyPr>
          <a:lstStyle/>
          <a:p>
            <a:pPr algn="ctr">
              <a:lnSpc>
                <a:spcPct val="112000"/>
              </a:lnSpc>
              <a:spcBef>
                <a:spcPts val="0"/>
              </a:spcBef>
              <a:spcAft>
                <a:spcPts val="120"/>
              </a:spcAft>
              <a:defRPr sz="1000" b="1">
                <a:solidFill>
                  <a:srgbClr val="FFFFFF"/>
                </a:solidFill>
                <a:latin typeface="Arial"/>
              </a:defRPr>
            </a:pPr>
            <a:r>
              <a:t>BÁO CÁO SƠ BỘ  /  2026</a:t>
            </a:r>
          </a:p>
        </p:txBody>
      </p:sp>
      <p:sp>
        <p:nvSpPr>
          <p:cNvPr id="9" name="TextBox 8"/>
          <p:cNvSpPr txBox="1"/>
          <p:nvPr/>
        </p:nvSpPr>
        <p:spPr>
          <a:xfrm>
            <a:off x="594360" y="1673352"/>
            <a:ext cx="6812280" cy="1938528"/>
          </a:xfrm>
          <a:prstGeom prst="rect">
            <a:avLst/>
          </a:prstGeom>
          <a:noFill/>
        </p:spPr>
        <p:txBody>
          <a:bodyPr wrap="square" lIns="0" rIns="0" tIns="0" bIns="0">
            <a:spAutoFit/>
          </a:bodyPr>
          <a:lstStyle/>
          <a:p>
            <a:pPr>
              <a:lnSpc>
                <a:spcPct val="112000"/>
              </a:lnSpc>
              <a:spcBef>
                <a:spcPts val="0"/>
              </a:spcBef>
              <a:spcAft>
                <a:spcPts val="660"/>
              </a:spcAft>
              <a:defRPr sz="5500" b="1">
                <a:solidFill>
                  <a:srgbClr val="FFFFFF"/>
                </a:solidFill>
                <a:latin typeface="Arial"/>
              </a:defRPr>
            </a:pPr>
            <a:r>
              <a:t>Recruitment</a:t>
            </a:r>
          </a:p>
          <a:p>
            <a:pPr>
              <a:lnSpc>
                <a:spcPct val="112000"/>
              </a:lnSpc>
              <a:spcBef>
                <a:spcPts val="0"/>
              </a:spcBef>
              <a:spcAft>
                <a:spcPts val="660"/>
              </a:spcAft>
              <a:defRPr sz="5500" b="1">
                <a:solidFill>
                  <a:srgbClr val="FFFFFF"/>
                </a:solidFill>
                <a:latin typeface="Arial"/>
              </a:defRPr>
            </a:pPr>
            <a:r>
              <a:t>System</a:t>
            </a:r>
          </a:p>
        </p:txBody>
      </p:sp>
      <p:sp>
        <p:nvSpPr>
          <p:cNvPr id="10" name="TextBox 9"/>
          <p:cNvSpPr txBox="1"/>
          <p:nvPr/>
        </p:nvSpPr>
        <p:spPr>
          <a:xfrm>
            <a:off x="621792" y="3648456"/>
            <a:ext cx="6080760" cy="530352"/>
          </a:xfrm>
          <a:prstGeom prst="rect">
            <a:avLst/>
          </a:prstGeom>
          <a:noFill/>
        </p:spPr>
        <p:txBody>
          <a:bodyPr wrap="square" lIns="0" rIns="0" tIns="0" bIns="0">
            <a:spAutoFit/>
          </a:bodyPr>
          <a:lstStyle/>
          <a:p>
            <a:pPr>
              <a:lnSpc>
                <a:spcPct val="112000"/>
              </a:lnSpc>
              <a:spcBef>
                <a:spcPts val="0"/>
              </a:spcBef>
              <a:spcAft>
                <a:spcPts val="252"/>
              </a:spcAft>
              <a:defRPr sz="2100" b="0">
                <a:solidFill>
                  <a:srgbClr val="A6C7B8"/>
                </a:solidFill>
                <a:latin typeface="Arial"/>
              </a:defRPr>
            </a:pPr>
            <a:r>
              <a:t>Nền tảng tuyển dụng trực tuyến CareerHub</a:t>
            </a:r>
          </a:p>
        </p:txBody>
      </p:sp>
      <p:sp>
        <p:nvSpPr>
          <p:cNvPr id="11" name="TextBox 10"/>
          <p:cNvSpPr txBox="1"/>
          <p:nvPr/>
        </p:nvSpPr>
        <p:spPr>
          <a:xfrm>
            <a:off x="621792" y="4251960"/>
            <a:ext cx="5852160" cy="804672"/>
          </a:xfrm>
          <a:prstGeom prst="rect">
            <a:avLst/>
          </a:prstGeom>
          <a:noFill/>
        </p:spPr>
        <p:txBody>
          <a:bodyPr wrap="square" lIns="0" rIns="0" tIns="0" bIns="0">
            <a:spAutoFit/>
          </a:bodyPr>
          <a:lstStyle/>
          <a:p>
            <a:pPr>
              <a:lnSpc>
                <a:spcPct val="112000"/>
              </a:lnSpc>
              <a:spcBef>
                <a:spcPts val="0"/>
              </a:spcBef>
              <a:spcAft>
                <a:spcPts val="252"/>
              </a:spcAft>
              <a:defRPr sz="2100" b="0">
                <a:solidFill>
                  <a:srgbClr val="FFFFFF"/>
                </a:solidFill>
                <a:latin typeface="Arial"/>
              </a:defRPr>
            </a:pPr>
            <a:r>
              <a:t>Kết nối ứng viên và nhà tuyển dụng</a:t>
            </a:r>
          </a:p>
          <a:p>
            <a:pPr>
              <a:lnSpc>
                <a:spcPct val="112000"/>
              </a:lnSpc>
              <a:spcBef>
                <a:spcPts val="0"/>
              </a:spcBef>
              <a:spcAft>
                <a:spcPts val="252"/>
              </a:spcAft>
              <a:defRPr sz="2100" b="0">
                <a:solidFill>
                  <a:srgbClr val="FFFFFF"/>
                </a:solidFill>
                <a:latin typeface="Arial"/>
              </a:defRPr>
            </a:pPr>
            <a:r>
              <a:t>trên một quy trình quản trị thống nhất.</a:t>
            </a:r>
          </a:p>
        </p:txBody>
      </p:sp>
      <p:sp>
        <p:nvSpPr>
          <p:cNvPr id="12" name="TextBox 11"/>
          <p:cNvSpPr txBox="1"/>
          <p:nvPr/>
        </p:nvSpPr>
        <p:spPr>
          <a:xfrm>
            <a:off x="621792" y="5806440"/>
            <a:ext cx="5852160" cy="274320"/>
          </a:xfrm>
          <a:prstGeom prst="rect">
            <a:avLst/>
          </a:prstGeom>
          <a:noFill/>
        </p:spPr>
        <p:txBody>
          <a:bodyPr wrap="square" lIns="0" rIns="0" tIns="0" bIns="0">
            <a:spAutoFit/>
          </a:bodyPr>
          <a:lstStyle/>
          <a:p>
            <a:pPr>
              <a:lnSpc>
                <a:spcPct val="112000"/>
              </a:lnSpc>
              <a:spcBef>
                <a:spcPts val="0"/>
              </a:spcBef>
              <a:spcAft>
                <a:spcPts val="120"/>
              </a:spcAft>
              <a:defRPr sz="1000" b="1">
                <a:solidFill>
                  <a:srgbClr val="A6C7B8"/>
                </a:solidFill>
                <a:latin typeface="Arial"/>
              </a:defRPr>
            </a:pPr>
            <a:r>
              <a:t>HIỆN TRẠNG • KIẾN TRÚC • KẾT QUẢ • KẾ HOẠCH</a:t>
            </a:r>
          </a:p>
        </p:txBody>
      </p:sp>
      <p:sp>
        <p:nvSpPr>
          <p:cNvPr id="13" name="Rounded Rectangle 12"/>
          <p:cNvSpPr/>
          <p:nvPr/>
        </p:nvSpPr>
        <p:spPr>
          <a:xfrm>
            <a:off x="7498079" y="1691640"/>
            <a:ext cx="4069080" cy="1033271"/>
          </a:xfrm>
          <a:prstGeom prst="roundRect">
            <a:avLst>
              <a:gd name="adj" fmla="val 12000"/>
            </a:avLst>
          </a:prstGeom>
          <a:solidFill>
            <a:srgbClr val="173C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26679" y="1892808"/>
            <a:ext cx="530352" cy="329184"/>
          </a:xfrm>
          <a:prstGeom prst="rect">
            <a:avLst/>
          </a:prstGeom>
          <a:noFill/>
        </p:spPr>
        <p:txBody>
          <a:bodyPr wrap="square" lIns="0" rIns="0" tIns="0" bIns="0">
            <a:spAutoFit/>
          </a:bodyPr>
          <a:lstStyle/>
          <a:p>
            <a:pPr>
              <a:lnSpc>
                <a:spcPct val="112000"/>
              </a:lnSpc>
              <a:spcBef>
                <a:spcPts val="0"/>
              </a:spcBef>
              <a:spcAft>
                <a:spcPts val="240"/>
              </a:spcAft>
              <a:defRPr sz="2000" b="1">
                <a:solidFill>
                  <a:srgbClr val="7CD4AB"/>
                </a:solidFill>
                <a:latin typeface="Arial"/>
              </a:defRPr>
            </a:pPr>
            <a:r>
              <a:t>01</a:t>
            </a:r>
          </a:p>
        </p:txBody>
      </p:sp>
      <p:sp>
        <p:nvSpPr>
          <p:cNvPr id="15" name="TextBox 14"/>
          <p:cNvSpPr txBox="1"/>
          <p:nvPr/>
        </p:nvSpPr>
        <p:spPr>
          <a:xfrm>
            <a:off x="8348472" y="1856232"/>
            <a:ext cx="2834640" cy="310896"/>
          </a:xfrm>
          <a:prstGeom prst="rect">
            <a:avLst/>
          </a:prstGeom>
          <a:noFill/>
        </p:spPr>
        <p:txBody>
          <a:bodyPr wrap="square" lIns="0" rIns="0" tIns="0" bIns="0">
            <a:spAutoFit/>
          </a:bodyPr>
          <a:lstStyle/>
          <a:p>
            <a:pPr>
              <a:lnSpc>
                <a:spcPct val="112000"/>
              </a:lnSpc>
              <a:spcBef>
                <a:spcPts val="0"/>
              </a:spcBef>
              <a:spcAft>
                <a:spcPts val="227"/>
              </a:spcAft>
              <a:defRPr sz="1900" b="1">
                <a:solidFill>
                  <a:srgbClr val="FFFFFF"/>
                </a:solidFill>
                <a:latin typeface="Arial"/>
              </a:defRPr>
            </a:pPr>
            <a:r>
              <a:t>Ứng viên</a:t>
            </a:r>
          </a:p>
        </p:txBody>
      </p:sp>
      <p:sp>
        <p:nvSpPr>
          <p:cNvPr id="16" name="TextBox 15"/>
          <p:cNvSpPr txBox="1"/>
          <p:nvPr/>
        </p:nvSpPr>
        <p:spPr>
          <a:xfrm>
            <a:off x="8348472" y="2295144"/>
            <a:ext cx="2880360" cy="274320"/>
          </a:xfrm>
          <a:prstGeom prst="rect">
            <a:avLst/>
          </a:prstGeom>
          <a:noFill/>
        </p:spPr>
        <p:txBody>
          <a:bodyPr wrap="square" lIns="0" rIns="0" tIns="0" bIns="0">
            <a:spAutoFit/>
          </a:bodyPr>
          <a:lstStyle/>
          <a:p>
            <a:pPr>
              <a:lnSpc>
                <a:spcPct val="112000"/>
              </a:lnSpc>
              <a:spcBef>
                <a:spcPts val="0"/>
              </a:spcBef>
              <a:spcAft>
                <a:spcPts val="131"/>
              </a:spcAft>
              <a:defRPr sz="1100" b="0">
                <a:solidFill>
                  <a:srgbClr val="A6C7B8"/>
                </a:solidFill>
                <a:latin typeface="Arial"/>
              </a:defRPr>
            </a:pPr>
            <a:r>
              <a:t>Hồ sơ • CV • Tìm việc • Ứng tuyển</a:t>
            </a:r>
          </a:p>
        </p:txBody>
      </p:sp>
      <p:sp>
        <p:nvSpPr>
          <p:cNvPr id="17" name="Rounded Rectangle 16"/>
          <p:cNvSpPr/>
          <p:nvPr/>
        </p:nvSpPr>
        <p:spPr>
          <a:xfrm>
            <a:off x="7498079" y="2898648"/>
            <a:ext cx="4069080" cy="1033271"/>
          </a:xfrm>
          <a:prstGeom prst="roundRect">
            <a:avLst>
              <a:gd name="adj" fmla="val 12000"/>
            </a:avLst>
          </a:prstGeom>
          <a:solidFill>
            <a:srgbClr val="173C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26679" y="3099816"/>
            <a:ext cx="530352" cy="329184"/>
          </a:xfrm>
          <a:prstGeom prst="rect">
            <a:avLst/>
          </a:prstGeom>
          <a:noFill/>
        </p:spPr>
        <p:txBody>
          <a:bodyPr wrap="square" lIns="0" rIns="0" tIns="0" bIns="0">
            <a:spAutoFit/>
          </a:bodyPr>
          <a:lstStyle/>
          <a:p>
            <a:pPr>
              <a:lnSpc>
                <a:spcPct val="112000"/>
              </a:lnSpc>
              <a:spcBef>
                <a:spcPts val="0"/>
              </a:spcBef>
              <a:spcAft>
                <a:spcPts val="240"/>
              </a:spcAft>
              <a:defRPr sz="2000" b="1">
                <a:solidFill>
                  <a:srgbClr val="7CD4AB"/>
                </a:solidFill>
                <a:latin typeface="Arial"/>
              </a:defRPr>
            </a:pPr>
            <a:r>
              <a:t>02</a:t>
            </a:r>
          </a:p>
        </p:txBody>
      </p:sp>
      <p:sp>
        <p:nvSpPr>
          <p:cNvPr id="19" name="TextBox 18"/>
          <p:cNvSpPr txBox="1"/>
          <p:nvPr/>
        </p:nvSpPr>
        <p:spPr>
          <a:xfrm>
            <a:off x="8348472" y="3063240"/>
            <a:ext cx="2834640" cy="310896"/>
          </a:xfrm>
          <a:prstGeom prst="rect">
            <a:avLst/>
          </a:prstGeom>
          <a:noFill/>
        </p:spPr>
        <p:txBody>
          <a:bodyPr wrap="square" lIns="0" rIns="0" tIns="0" bIns="0">
            <a:spAutoFit/>
          </a:bodyPr>
          <a:lstStyle/>
          <a:p>
            <a:pPr>
              <a:lnSpc>
                <a:spcPct val="112000"/>
              </a:lnSpc>
              <a:spcBef>
                <a:spcPts val="0"/>
              </a:spcBef>
              <a:spcAft>
                <a:spcPts val="227"/>
              </a:spcAft>
              <a:defRPr sz="1900" b="1">
                <a:solidFill>
                  <a:srgbClr val="FFFFFF"/>
                </a:solidFill>
                <a:latin typeface="Arial"/>
              </a:defRPr>
            </a:pPr>
            <a:r>
              <a:t>Nhà tuyển dụng</a:t>
            </a:r>
          </a:p>
        </p:txBody>
      </p:sp>
      <p:sp>
        <p:nvSpPr>
          <p:cNvPr id="20" name="TextBox 19"/>
          <p:cNvSpPr txBox="1"/>
          <p:nvPr/>
        </p:nvSpPr>
        <p:spPr>
          <a:xfrm>
            <a:off x="8348472" y="3502152"/>
            <a:ext cx="2880360" cy="274320"/>
          </a:xfrm>
          <a:prstGeom prst="rect">
            <a:avLst/>
          </a:prstGeom>
          <a:noFill/>
        </p:spPr>
        <p:txBody>
          <a:bodyPr wrap="square" lIns="0" rIns="0" tIns="0" bIns="0">
            <a:spAutoFit/>
          </a:bodyPr>
          <a:lstStyle/>
          <a:p>
            <a:pPr>
              <a:lnSpc>
                <a:spcPct val="112000"/>
              </a:lnSpc>
              <a:spcBef>
                <a:spcPts val="0"/>
              </a:spcBef>
              <a:spcAft>
                <a:spcPts val="131"/>
              </a:spcAft>
              <a:defRPr sz="1100" b="0">
                <a:solidFill>
                  <a:srgbClr val="A6C7B8"/>
                </a:solidFill>
                <a:latin typeface="Arial"/>
              </a:defRPr>
            </a:pPr>
            <a:r>
              <a:t>Công ty • Đăng tin • Pipeline • Offer</a:t>
            </a:r>
          </a:p>
        </p:txBody>
      </p:sp>
      <p:sp>
        <p:nvSpPr>
          <p:cNvPr id="21" name="Rounded Rectangle 20"/>
          <p:cNvSpPr/>
          <p:nvPr/>
        </p:nvSpPr>
        <p:spPr>
          <a:xfrm>
            <a:off x="7498079" y="4105656"/>
            <a:ext cx="4069080" cy="1033271"/>
          </a:xfrm>
          <a:prstGeom prst="roundRect">
            <a:avLst>
              <a:gd name="adj" fmla="val 12000"/>
            </a:avLst>
          </a:prstGeom>
          <a:solidFill>
            <a:srgbClr val="173C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26679" y="4306824"/>
            <a:ext cx="530352" cy="329184"/>
          </a:xfrm>
          <a:prstGeom prst="rect">
            <a:avLst/>
          </a:prstGeom>
          <a:noFill/>
        </p:spPr>
        <p:txBody>
          <a:bodyPr wrap="square" lIns="0" rIns="0" tIns="0" bIns="0">
            <a:spAutoFit/>
          </a:bodyPr>
          <a:lstStyle/>
          <a:p>
            <a:pPr>
              <a:lnSpc>
                <a:spcPct val="112000"/>
              </a:lnSpc>
              <a:spcBef>
                <a:spcPts val="0"/>
              </a:spcBef>
              <a:spcAft>
                <a:spcPts val="240"/>
              </a:spcAft>
              <a:defRPr sz="2000" b="1">
                <a:solidFill>
                  <a:srgbClr val="7CD4AB"/>
                </a:solidFill>
                <a:latin typeface="Arial"/>
              </a:defRPr>
            </a:pPr>
            <a:r>
              <a:t>03</a:t>
            </a:r>
          </a:p>
        </p:txBody>
      </p:sp>
      <p:sp>
        <p:nvSpPr>
          <p:cNvPr id="23" name="TextBox 22"/>
          <p:cNvSpPr txBox="1"/>
          <p:nvPr/>
        </p:nvSpPr>
        <p:spPr>
          <a:xfrm>
            <a:off x="8348472" y="4270248"/>
            <a:ext cx="2834640" cy="310896"/>
          </a:xfrm>
          <a:prstGeom prst="rect">
            <a:avLst/>
          </a:prstGeom>
          <a:noFill/>
        </p:spPr>
        <p:txBody>
          <a:bodyPr wrap="square" lIns="0" rIns="0" tIns="0" bIns="0">
            <a:spAutoFit/>
          </a:bodyPr>
          <a:lstStyle/>
          <a:p>
            <a:pPr>
              <a:lnSpc>
                <a:spcPct val="112000"/>
              </a:lnSpc>
              <a:spcBef>
                <a:spcPts val="0"/>
              </a:spcBef>
              <a:spcAft>
                <a:spcPts val="227"/>
              </a:spcAft>
              <a:defRPr sz="1900" b="1">
                <a:solidFill>
                  <a:srgbClr val="FFFFFF"/>
                </a:solidFill>
                <a:latin typeface="Arial"/>
              </a:defRPr>
            </a:pPr>
            <a:r>
              <a:t>Quản trị viên</a:t>
            </a:r>
          </a:p>
        </p:txBody>
      </p:sp>
      <p:sp>
        <p:nvSpPr>
          <p:cNvPr id="24" name="TextBox 23"/>
          <p:cNvSpPr txBox="1"/>
          <p:nvPr/>
        </p:nvSpPr>
        <p:spPr>
          <a:xfrm>
            <a:off x="8348472" y="4709160"/>
            <a:ext cx="2880360" cy="274320"/>
          </a:xfrm>
          <a:prstGeom prst="rect">
            <a:avLst/>
          </a:prstGeom>
          <a:noFill/>
        </p:spPr>
        <p:txBody>
          <a:bodyPr wrap="square" lIns="0" rIns="0" tIns="0" bIns="0">
            <a:spAutoFit/>
          </a:bodyPr>
          <a:lstStyle/>
          <a:p>
            <a:pPr>
              <a:lnSpc>
                <a:spcPct val="112000"/>
              </a:lnSpc>
              <a:spcBef>
                <a:spcPts val="0"/>
              </a:spcBef>
              <a:spcAft>
                <a:spcPts val="131"/>
              </a:spcAft>
              <a:defRPr sz="1100" b="0">
                <a:solidFill>
                  <a:srgbClr val="A6C7B8"/>
                </a:solidFill>
                <a:latin typeface="Arial"/>
              </a:defRPr>
            </a:pPr>
            <a:r>
              <a:t>Duyệt nội dung • Người dùng • Báo cáo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5"/>
        </a:solidFill>
        <a:effectLst/>
      </p:bgPr>
    </p:bg>
    <p:spTree>
      <p:nvGrpSpPr>
        <p:cNvPr id="1" name=""/>
        <p:cNvGrpSpPr/>
        <p:nvPr/>
      </p:nvGrpSpPr>
      <p:grpSpPr/>
      <p:sp>
        <p:nvSpPr>
          <p:cNvPr id="2" name="TextBox 1"/>
          <p:cNvSpPr txBox="1"/>
          <p:nvPr/>
        </p:nvSpPr>
        <p:spPr>
          <a:xfrm>
            <a:off x="502920" y="256032"/>
            <a:ext cx="4572000" cy="201168"/>
          </a:xfrm>
          <a:prstGeom prst="rect">
            <a:avLst/>
          </a:prstGeom>
          <a:noFill/>
        </p:spPr>
        <p:txBody>
          <a:bodyPr wrap="square" lIns="0" rIns="0" tIns="0" bIns="0">
            <a:spAutoFit/>
          </a:bodyPr>
          <a:lstStyle/>
          <a:p>
            <a:pPr>
              <a:lnSpc>
                <a:spcPct val="112000"/>
              </a:lnSpc>
              <a:spcBef>
                <a:spcPts val="0"/>
              </a:spcBef>
              <a:spcAft>
                <a:spcPts val="108"/>
              </a:spcAft>
              <a:defRPr sz="900" b="1">
                <a:solidFill>
                  <a:srgbClr val="07824D"/>
                </a:solidFill>
                <a:latin typeface="Arial"/>
              </a:defRPr>
            </a:pPr>
            <a:r>
              <a:t>CAREERHUB  /  RECRUITMENT SYSTEM</a:t>
            </a:r>
          </a:p>
        </p:txBody>
      </p:sp>
      <p:sp>
        <p:nvSpPr>
          <p:cNvPr id="3" name="TextBox 2"/>
          <p:cNvSpPr txBox="1"/>
          <p:nvPr/>
        </p:nvSpPr>
        <p:spPr>
          <a:xfrm>
            <a:off x="8321040" y="256032"/>
            <a:ext cx="3364992" cy="201168"/>
          </a:xfrm>
          <a:prstGeom prst="rect">
            <a:avLst/>
          </a:prstGeom>
          <a:noFill/>
        </p:spPr>
        <p:txBody>
          <a:bodyPr wrap="square" lIns="0" rIns="0" tIns="0" bIns="0">
            <a:spAutoFit/>
          </a:bodyPr>
          <a:lstStyle/>
          <a:p>
            <a:pPr algn="r">
              <a:lnSpc>
                <a:spcPct val="112000"/>
              </a:lnSpc>
              <a:spcBef>
                <a:spcPts val="0"/>
              </a:spcBef>
              <a:spcAft>
                <a:spcPts val="108"/>
              </a:spcAft>
              <a:defRPr sz="900" b="0">
                <a:solidFill>
                  <a:srgbClr val="64776F"/>
                </a:solidFill>
                <a:latin typeface="Arial"/>
              </a:defRPr>
            </a:pPr>
            <a:r>
              <a:t>BÀI TOÁN &amp; MỤC TIÊU</a:t>
            </a:r>
          </a:p>
        </p:txBody>
      </p:sp>
      <p:sp>
        <p:nvSpPr>
          <p:cNvPr id="4" name="TextBox 3"/>
          <p:cNvSpPr txBox="1"/>
          <p:nvPr/>
        </p:nvSpPr>
        <p:spPr>
          <a:xfrm>
            <a:off x="502920" y="749808"/>
            <a:ext cx="11109960" cy="621792"/>
          </a:xfrm>
          <a:prstGeom prst="rect">
            <a:avLst/>
          </a:prstGeom>
          <a:noFill/>
        </p:spPr>
        <p:txBody>
          <a:bodyPr wrap="square" lIns="0" rIns="0" tIns="0" bIns="0">
            <a:spAutoFit/>
          </a:bodyPr>
          <a:lstStyle/>
          <a:p>
            <a:pPr>
              <a:lnSpc>
                <a:spcPct val="112000"/>
              </a:lnSpc>
              <a:spcBef>
                <a:spcPts val="0"/>
              </a:spcBef>
              <a:spcAft>
                <a:spcPts val="359"/>
              </a:spcAft>
              <a:defRPr sz="3000" b="1">
                <a:solidFill>
                  <a:srgbClr val="142F2B"/>
                </a:solidFill>
                <a:latin typeface="Arial"/>
              </a:defRPr>
            </a:pPr>
            <a:r>
              <a:t>Từ nhu cầu tuyển dụng đến một quy trình thống nhất</a:t>
            </a:r>
          </a:p>
        </p:txBody>
      </p:sp>
      <p:sp>
        <p:nvSpPr>
          <p:cNvPr id="5" name="TextBox 4"/>
          <p:cNvSpPr txBox="1"/>
          <p:nvPr/>
        </p:nvSpPr>
        <p:spPr>
          <a:xfrm>
            <a:off x="530352" y="1444752"/>
            <a:ext cx="11018520" cy="484632"/>
          </a:xfrm>
          <a:prstGeom prst="rect">
            <a:avLst/>
          </a:prstGeom>
          <a:noFill/>
        </p:spPr>
        <p:txBody>
          <a:bodyPr wrap="square" lIns="0" rIns="0" tIns="0" bIns="0">
            <a:spAutoFit/>
          </a:bodyPr>
          <a:lstStyle/>
          <a:p>
            <a:pPr>
              <a:lnSpc>
                <a:spcPct val="112000"/>
              </a:lnSpc>
              <a:spcBef>
                <a:spcPts val="0"/>
              </a:spcBef>
              <a:spcAft>
                <a:spcPts val="168"/>
              </a:spcAft>
              <a:defRPr sz="1400" b="0">
                <a:solidFill>
                  <a:srgbClr val="64776F"/>
                </a:solidFill>
                <a:latin typeface="Arial"/>
              </a:defRPr>
            </a:pPr>
            <a:r>
              <a:t>Bài toán định hướng: quản lý tập trung hồ sơ, cơ hội việc làm và tương tác tuyển dụng.</a:t>
            </a:r>
          </a:p>
        </p:txBody>
      </p:sp>
      <p:cxnSp>
        <p:nvCxnSpPr>
          <p:cNvPr id="6" name="Connector 5"/>
          <p:cNvCxnSpPr/>
          <p:nvPr/>
        </p:nvCxnSpPr>
        <p:spPr>
          <a:xfrm>
            <a:off x="502920" y="6437376"/>
            <a:ext cx="11183112" cy="0"/>
          </a:xfrm>
          <a:prstGeom prst="line">
            <a:avLst/>
          </a:prstGeom>
          <a:ln w="8890">
            <a:solidFill>
              <a:srgbClr val="D6E2D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12064" y="6537960"/>
            <a:ext cx="10287000" cy="173736"/>
          </a:xfrm>
          <a:prstGeom prst="rect">
            <a:avLst/>
          </a:prstGeom>
          <a:noFill/>
        </p:spPr>
        <p:txBody>
          <a:bodyPr wrap="square" lIns="0" rIns="0" tIns="0" bIns="0">
            <a:spAutoFit/>
          </a:bodyPr>
          <a:lstStyle/>
          <a:p>
            <a:pPr>
              <a:lnSpc>
                <a:spcPct val="112000"/>
              </a:lnSpc>
              <a:spcBef>
                <a:spcPts val="0"/>
              </a:spcBef>
              <a:spcAft>
                <a:spcPts val="96"/>
              </a:spcAft>
              <a:defRPr sz="800" b="0">
                <a:solidFill>
                  <a:srgbClr val="64776F"/>
                </a:solidFill>
                <a:latin typeface="Arial"/>
              </a:defRPr>
            </a:pPr>
            <a:r>
              <a:t>Căn cứ: phạm vi nghiệp vụ, README.md và các luồng hiện có; không sử dụng số liệu thị trường.</a:t>
            </a:r>
          </a:p>
        </p:txBody>
      </p:sp>
      <p:sp>
        <p:nvSpPr>
          <p:cNvPr id="8" name="TextBox 7"/>
          <p:cNvSpPr txBox="1"/>
          <p:nvPr/>
        </p:nvSpPr>
        <p:spPr>
          <a:xfrm>
            <a:off x="10881360" y="6510528"/>
            <a:ext cx="795528" cy="210312"/>
          </a:xfrm>
          <a:prstGeom prst="rect">
            <a:avLst/>
          </a:prstGeom>
          <a:noFill/>
        </p:spPr>
        <p:txBody>
          <a:bodyPr wrap="square" lIns="0" rIns="0" tIns="0" bIns="0">
            <a:spAutoFit/>
          </a:bodyPr>
          <a:lstStyle/>
          <a:p>
            <a:pPr algn="r">
              <a:lnSpc>
                <a:spcPct val="112000"/>
              </a:lnSpc>
              <a:spcBef>
                <a:spcPts val="0"/>
              </a:spcBef>
              <a:spcAft>
                <a:spcPts val="108"/>
              </a:spcAft>
              <a:defRPr sz="900" b="0">
                <a:solidFill>
                  <a:srgbClr val="64776F"/>
                </a:solidFill>
                <a:latin typeface="Arial"/>
              </a:defRPr>
            </a:pPr>
            <a:r>
              <a:t>02 / 16</a:t>
            </a:r>
          </a:p>
        </p:txBody>
      </p:sp>
      <p:sp>
        <p:nvSpPr>
          <p:cNvPr id="9" name="Rounded Rectangle 8"/>
          <p:cNvSpPr/>
          <p:nvPr/>
        </p:nvSpPr>
        <p:spPr>
          <a:xfrm>
            <a:off x="548640" y="2194560"/>
            <a:ext cx="3547872" cy="2697480"/>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2423160"/>
            <a:ext cx="548640" cy="365760"/>
          </a:xfrm>
          <a:prstGeom prst="rect">
            <a:avLst/>
          </a:prstGeom>
          <a:noFill/>
        </p:spPr>
        <p:txBody>
          <a:bodyPr wrap="square" lIns="0" rIns="0" tIns="0" bIns="0">
            <a:spAutoFit/>
          </a:bodyPr>
          <a:lstStyle/>
          <a:p>
            <a:pPr>
              <a:lnSpc>
                <a:spcPct val="112000"/>
              </a:lnSpc>
              <a:spcBef>
                <a:spcPts val="0"/>
              </a:spcBef>
              <a:spcAft>
                <a:spcPts val="288"/>
              </a:spcAft>
              <a:defRPr sz="2400" b="1">
                <a:solidFill>
                  <a:srgbClr val="07824D"/>
                </a:solidFill>
                <a:latin typeface="Arial"/>
              </a:defRPr>
            </a:pPr>
            <a:r>
              <a:t>01</a:t>
            </a:r>
          </a:p>
        </p:txBody>
      </p:sp>
      <p:sp>
        <p:nvSpPr>
          <p:cNvPr id="11" name="TextBox 10"/>
          <p:cNvSpPr txBox="1"/>
          <p:nvPr/>
        </p:nvSpPr>
        <p:spPr>
          <a:xfrm>
            <a:off x="768096" y="2999232"/>
            <a:ext cx="3108960" cy="731520"/>
          </a:xfrm>
          <a:prstGeom prst="rect">
            <a:avLst/>
          </a:prstGeom>
          <a:noFill/>
        </p:spPr>
        <p:txBody>
          <a:bodyPr wrap="square" lIns="0" rIns="0" tIns="0" bIns="0">
            <a:spAutoFit/>
          </a:bodyPr>
          <a:lstStyle/>
          <a:p>
            <a:pPr>
              <a:lnSpc>
                <a:spcPct val="112000"/>
              </a:lnSpc>
              <a:spcBef>
                <a:spcPts val="0"/>
              </a:spcBef>
              <a:spcAft>
                <a:spcPts val="227"/>
              </a:spcAft>
              <a:defRPr sz="1900" b="1">
                <a:solidFill>
                  <a:srgbClr val="142F2B"/>
                </a:solidFill>
                <a:latin typeface="Arial"/>
              </a:defRPr>
            </a:pPr>
            <a:r>
              <a:t>Hồ sơ và cơ hội phân tán</a:t>
            </a:r>
          </a:p>
        </p:txBody>
      </p:sp>
      <p:sp>
        <p:nvSpPr>
          <p:cNvPr id="12" name="TextBox 11"/>
          <p:cNvSpPr txBox="1"/>
          <p:nvPr/>
        </p:nvSpPr>
        <p:spPr>
          <a:xfrm>
            <a:off x="768096" y="3858768"/>
            <a:ext cx="3108960" cy="914400"/>
          </a:xfrm>
          <a:prstGeom prst="rect">
            <a:avLst/>
          </a:prstGeom>
          <a:noFill/>
        </p:spPr>
        <p:txBody>
          <a:bodyPr wrap="square" lIns="0" rIns="0" tIns="0" bIns="0">
            <a:spAutoFit/>
          </a:bodyPr>
          <a:lstStyle/>
          <a:p>
            <a:pPr>
              <a:lnSpc>
                <a:spcPct val="112000"/>
              </a:lnSpc>
              <a:spcBef>
                <a:spcPts val="0"/>
              </a:spcBef>
              <a:spcAft>
                <a:spcPts val="192"/>
              </a:spcAft>
              <a:defRPr sz="1600" b="0">
                <a:solidFill>
                  <a:srgbClr val="64776F"/>
                </a:solidFill>
                <a:latin typeface="Arial"/>
              </a:defRPr>
            </a:pPr>
            <a:r>
              <a:t>Ứng viên tìm việc, quản lý CV</a:t>
            </a:r>
          </a:p>
          <a:p>
            <a:pPr>
              <a:lnSpc>
                <a:spcPct val="112000"/>
              </a:lnSpc>
              <a:spcBef>
                <a:spcPts val="0"/>
              </a:spcBef>
              <a:spcAft>
                <a:spcPts val="192"/>
              </a:spcAft>
              <a:defRPr sz="1600" b="0">
                <a:solidFill>
                  <a:srgbClr val="64776F"/>
                </a:solidFill>
                <a:latin typeface="Arial"/>
              </a:defRPr>
            </a:pPr>
            <a:r>
              <a:t>và theo dõi đơn tại một nơi.</a:t>
            </a:r>
          </a:p>
        </p:txBody>
      </p:sp>
      <p:sp>
        <p:nvSpPr>
          <p:cNvPr id="13" name="Rounded Rectangle 12"/>
          <p:cNvSpPr/>
          <p:nvPr/>
        </p:nvSpPr>
        <p:spPr>
          <a:xfrm>
            <a:off x="4325112" y="2194560"/>
            <a:ext cx="3547872" cy="2697480"/>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4568" y="2423160"/>
            <a:ext cx="548640" cy="365760"/>
          </a:xfrm>
          <a:prstGeom prst="rect">
            <a:avLst/>
          </a:prstGeom>
          <a:noFill/>
        </p:spPr>
        <p:txBody>
          <a:bodyPr wrap="square" lIns="0" rIns="0" tIns="0" bIns="0">
            <a:spAutoFit/>
          </a:bodyPr>
          <a:lstStyle/>
          <a:p>
            <a:pPr>
              <a:lnSpc>
                <a:spcPct val="112000"/>
              </a:lnSpc>
              <a:spcBef>
                <a:spcPts val="0"/>
              </a:spcBef>
              <a:spcAft>
                <a:spcPts val="288"/>
              </a:spcAft>
              <a:defRPr sz="2400" b="1">
                <a:solidFill>
                  <a:srgbClr val="07824D"/>
                </a:solidFill>
                <a:latin typeface="Arial"/>
              </a:defRPr>
            </a:pPr>
            <a:r>
              <a:t>02</a:t>
            </a:r>
          </a:p>
        </p:txBody>
      </p:sp>
      <p:sp>
        <p:nvSpPr>
          <p:cNvPr id="15" name="TextBox 14"/>
          <p:cNvSpPr txBox="1"/>
          <p:nvPr/>
        </p:nvSpPr>
        <p:spPr>
          <a:xfrm>
            <a:off x="4544568" y="2999232"/>
            <a:ext cx="3108960" cy="731520"/>
          </a:xfrm>
          <a:prstGeom prst="rect">
            <a:avLst/>
          </a:prstGeom>
          <a:noFill/>
        </p:spPr>
        <p:txBody>
          <a:bodyPr wrap="square" lIns="0" rIns="0" tIns="0" bIns="0">
            <a:spAutoFit/>
          </a:bodyPr>
          <a:lstStyle/>
          <a:p>
            <a:pPr>
              <a:lnSpc>
                <a:spcPct val="112000"/>
              </a:lnSpc>
              <a:spcBef>
                <a:spcPts val="0"/>
              </a:spcBef>
              <a:spcAft>
                <a:spcPts val="227"/>
              </a:spcAft>
              <a:defRPr sz="1900" b="1">
                <a:solidFill>
                  <a:srgbClr val="142F2B"/>
                </a:solidFill>
                <a:latin typeface="Arial"/>
              </a:defRPr>
            </a:pPr>
            <a:r>
              <a:t>Quy trình tuyển dụng nhiều bước</a:t>
            </a:r>
          </a:p>
        </p:txBody>
      </p:sp>
      <p:sp>
        <p:nvSpPr>
          <p:cNvPr id="16" name="TextBox 15"/>
          <p:cNvSpPr txBox="1"/>
          <p:nvPr/>
        </p:nvSpPr>
        <p:spPr>
          <a:xfrm>
            <a:off x="4544568" y="3858768"/>
            <a:ext cx="3108960" cy="914400"/>
          </a:xfrm>
          <a:prstGeom prst="rect">
            <a:avLst/>
          </a:prstGeom>
          <a:noFill/>
        </p:spPr>
        <p:txBody>
          <a:bodyPr wrap="square" lIns="0" rIns="0" tIns="0" bIns="0">
            <a:spAutoFit/>
          </a:bodyPr>
          <a:lstStyle/>
          <a:p>
            <a:pPr>
              <a:lnSpc>
                <a:spcPct val="112000"/>
              </a:lnSpc>
              <a:spcBef>
                <a:spcPts val="0"/>
              </a:spcBef>
              <a:spcAft>
                <a:spcPts val="192"/>
              </a:spcAft>
              <a:defRPr sz="1600" b="0">
                <a:solidFill>
                  <a:srgbClr val="64776F"/>
                </a:solidFill>
                <a:latin typeface="Arial"/>
              </a:defRPr>
            </a:pPr>
            <a:r>
              <a:t>Nhà tuyển dụng cần quản lý tin, sàng lọc hồ sơ, lịch hẹn và offer có trạng thái.</a:t>
            </a:r>
          </a:p>
        </p:txBody>
      </p:sp>
      <p:sp>
        <p:nvSpPr>
          <p:cNvPr id="17" name="Rounded Rectangle 16"/>
          <p:cNvSpPr/>
          <p:nvPr/>
        </p:nvSpPr>
        <p:spPr>
          <a:xfrm>
            <a:off x="8101583" y="2194560"/>
            <a:ext cx="3547872" cy="2697480"/>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2423160"/>
            <a:ext cx="548640" cy="365760"/>
          </a:xfrm>
          <a:prstGeom prst="rect">
            <a:avLst/>
          </a:prstGeom>
          <a:noFill/>
        </p:spPr>
        <p:txBody>
          <a:bodyPr wrap="square" lIns="0" rIns="0" tIns="0" bIns="0">
            <a:spAutoFit/>
          </a:bodyPr>
          <a:lstStyle/>
          <a:p>
            <a:pPr>
              <a:lnSpc>
                <a:spcPct val="112000"/>
              </a:lnSpc>
              <a:spcBef>
                <a:spcPts val="0"/>
              </a:spcBef>
              <a:spcAft>
                <a:spcPts val="288"/>
              </a:spcAft>
              <a:defRPr sz="2400" b="1">
                <a:solidFill>
                  <a:srgbClr val="07824D"/>
                </a:solidFill>
                <a:latin typeface="Arial"/>
              </a:defRPr>
            </a:pPr>
            <a:r>
              <a:t>03</a:t>
            </a:r>
          </a:p>
        </p:txBody>
      </p:sp>
      <p:sp>
        <p:nvSpPr>
          <p:cNvPr id="19" name="TextBox 18"/>
          <p:cNvSpPr txBox="1"/>
          <p:nvPr/>
        </p:nvSpPr>
        <p:spPr>
          <a:xfrm>
            <a:off x="8321040" y="2999232"/>
            <a:ext cx="3108960" cy="731520"/>
          </a:xfrm>
          <a:prstGeom prst="rect">
            <a:avLst/>
          </a:prstGeom>
          <a:noFill/>
        </p:spPr>
        <p:txBody>
          <a:bodyPr wrap="square" lIns="0" rIns="0" tIns="0" bIns="0">
            <a:spAutoFit/>
          </a:bodyPr>
          <a:lstStyle/>
          <a:p>
            <a:pPr>
              <a:lnSpc>
                <a:spcPct val="112000"/>
              </a:lnSpc>
              <a:spcBef>
                <a:spcPts val="0"/>
              </a:spcBef>
              <a:spcAft>
                <a:spcPts val="227"/>
              </a:spcAft>
              <a:defRPr sz="1900" b="1">
                <a:solidFill>
                  <a:srgbClr val="142F2B"/>
                </a:solidFill>
                <a:latin typeface="Arial"/>
              </a:defRPr>
            </a:pPr>
            <a:r>
              <a:t>Nhu cầu kiểm soát chất lượng</a:t>
            </a:r>
          </a:p>
        </p:txBody>
      </p:sp>
      <p:sp>
        <p:nvSpPr>
          <p:cNvPr id="20" name="TextBox 19"/>
          <p:cNvSpPr txBox="1"/>
          <p:nvPr/>
        </p:nvSpPr>
        <p:spPr>
          <a:xfrm>
            <a:off x="8321040" y="3858768"/>
            <a:ext cx="3108960" cy="914400"/>
          </a:xfrm>
          <a:prstGeom prst="rect">
            <a:avLst/>
          </a:prstGeom>
          <a:noFill/>
        </p:spPr>
        <p:txBody>
          <a:bodyPr wrap="square" lIns="0" rIns="0" tIns="0" bIns="0">
            <a:spAutoFit/>
          </a:bodyPr>
          <a:lstStyle/>
          <a:p>
            <a:pPr>
              <a:lnSpc>
                <a:spcPct val="112000"/>
              </a:lnSpc>
              <a:spcBef>
                <a:spcPts val="0"/>
              </a:spcBef>
              <a:spcAft>
                <a:spcPts val="192"/>
              </a:spcAft>
              <a:defRPr sz="1600" b="0">
                <a:solidFill>
                  <a:srgbClr val="64776F"/>
                </a:solidFill>
                <a:latin typeface="Arial"/>
              </a:defRPr>
            </a:pPr>
            <a:r>
              <a:t>Quản trị viên cần duyệt công ty/tin, xử lý báo cáo và theo dõi hoạt động.</a:t>
            </a:r>
          </a:p>
        </p:txBody>
      </p:sp>
      <p:sp>
        <p:nvSpPr>
          <p:cNvPr id="21" name="Rounded Rectangle 20"/>
          <p:cNvSpPr/>
          <p:nvPr/>
        </p:nvSpPr>
        <p:spPr>
          <a:xfrm>
            <a:off x="548640" y="5193792"/>
            <a:ext cx="11109960" cy="859536"/>
          </a:xfrm>
          <a:prstGeom prst="roundRect">
            <a:avLst>
              <a:gd name="adj" fmla="val 12000"/>
            </a:avLst>
          </a:prstGeom>
          <a:solidFill>
            <a:srgbClr val="E0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5528" y="5431536"/>
            <a:ext cx="10607040" cy="411480"/>
          </a:xfrm>
          <a:prstGeom prst="rect">
            <a:avLst/>
          </a:prstGeom>
          <a:noFill/>
        </p:spPr>
        <p:txBody>
          <a:bodyPr wrap="square" lIns="0" rIns="0" tIns="0" bIns="0">
            <a:spAutoFit/>
          </a:bodyPr>
          <a:lstStyle/>
          <a:p>
            <a:pPr>
              <a:lnSpc>
                <a:spcPct val="112000"/>
              </a:lnSpc>
              <a:spcBef>
                <a:spcPts val="0"/>
              </a:spcBef>
              <a:spcAft>
                <a:spcPts val="252"/>
              </a:spcAft>
              <a:defRPr sz="2100" b="1">
                <a:solidFill>
                  <a:srgbClr val="07824D"/>
                </a:solidFill>
                <a:latin typeface="Arial"/>
              </a:defRPr>
            </a:pPr>
            <a:r>
              <a:t>Mục tiêu: số hóa quy trình, phân quyền rõ ràng và hỗ trợ kết nối bằng gợi ý 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5"/>
        </a:solidFill>
        <a:effectLst/>
      </p:bgPr>
    </p:bg>
    <p:spTree>
      <p:nvGrpSpPr>
        <p:cNvPr id="1" name=""/>
        <p:cNvGrpSpPr/>
        <p:nvPr/>
      </p:nvGrpSpPr>
      <p:grpSpPr/>
      <p:sp>
        <p:nvSpPr>
          <p:cNvPr id="2" name="TextBox 1"/>
          <p:cNvSpPr txBox="1"/>
          <p:nvPr/>
        </p:nvSpPr>
        <p:spPr>
          <a:xfrm>
            <a:off x="502920" y="256032"/>
            <a:ext cx="4572000" cy="201168"/>
          </a:xfrm>
          <a:prstGeom prst="rect">
            <a:avLst/>
          </a:prstGeom>
          <a:noFill/>
        </p:spPr>
        <p:txBody>
          <a:bodyPr wrap="square" lIns="0" rIns="0" tIns="0" bIns="0">
            <a:spAutoFit/>
          </a:bodyPr>
          <a:lstStyle/>
          <a:p>
            <a:pPr>
              <a:lnSpc>
                <a:spcPct val="112000"/>
              </a:lnSpc>
              <a:spcBef>
                <a:spcPts val="0"/>
              </a:spcBef>
              <a:spcAft>
                <a:spcPts val="108"/>
              </a:spcAft>
              <a:defRPr sz="900" b="1">
                <a:solidFill>
                  <a:srgbClr val="07824D"/>
                </a:solidFill>
                <a:latin typeface="Arial"/>
              </a:defRPr>
            </a:pPr>
            <a:r>
              <a:t>CAREERHUB  /  RECRUITMENT SYSTEM</a:t>
            </a:r>
          </a:p>
        </p:txBody>
      </p:sp>
      <p:sp>
        <p:nvSpPr>
          <p:cNvPr id="3" name="TextBox 2"/>
          <p:cNvSpPr txBox="1"/>
          <p:nvPr/>
        </p:nvSpPr>
        <p:spPr>
          <a:xfrm>
            <a:off x="8321040" y="256032"/>
            <a:ext cx="3364992" cy="201168"/>
          </a:xfrm>
          <a:prstGeom prst="rect">
            <a:avLst/>
          </a:prstGeom>
          <a:noFill/>
        </p:spPr>
        <p:txBody>
          <a:bodyPr wrap="square" lIns="0" rIns="0" tIns="0" bIns="0">
            <a:spAutoFit/>
          </a:bodyPr>
          <a:lstStyle/>
          <a:p>
            <a:pPr algn="r">
              <a:lnSpc>
                <a:spcPct val="112000"/>
              </a:lnSpc>
              <a:spcBef>
                <a:spcPts val="0"/>
              </a:spcBef>
              <a:spcAft>
                <a:spcPts val="108"/>
              </a:spcAft>
              <a:defRPr sz="900" b="0">
                <a:solidFill>
                  <a:srgbClr val="64776F"/>
                </a:solidFill>
                <a:latin typeface="Arial"/>
              </a:defRPr>
            </a:pPr>
            <a:r>
              <a:t>PHẠM VI HỆ THỐNG</a:t>
            </a:r>
          </a:p>
        </p:txBody>
      </p:sp>
      <p:sp>
        <p:nvSpPr>
          <p:cNvPr id="4" name="TextBox 3"/>
          <p:cNvSpPr txBox="1"/>
          <p:nvPr/>
        </p:nvSpPr>
        <p:spPr>
          <a:xfrm>
            <a:off x="502920" y="749808"/>
            <a:ext cx="11109960" cy="621792"/>
          </a:xfrm>
          <a:prstGeom prst="rect">
            <a:avLst/>
          </a:prstGeom>
          <a:noFill/>
        </p:spPr>
        <p:txBody>
          <a:bodyPr wrap="square" lIns="0" rIns="0" tIns="0" bIns="0">
            <a:spAutoFit/>
          </a:bodyPr>
          <a:lstStyle/>
          <a:p>
            <a:pPr>
              <a:lnSpc>
                <a:spcPct val="112000"/>
              </a:lnSpc>
              <a:spcBef>
                <a:spcPts val="0"/>
              </a:spcBef>
              <a:spcAft>
                <a:spcPts val="359"/>
              </a:spcAft>
              <a:defRPr sz="3000" b="1">
                <a:solidFill>
                  <a:srgbClr val="142F2B"/>
                </a:solidFill>
                <a:latin typeface="Arial"/>
              </a:defRPr>
            </a:pPr>
            <a:r>
              <a:t>Ba vai trò, ba không gian làm việc</a:t>
            </a:r>
          </a:p>
        </p:txBody>
      </p:sp>
      <p:sp>
        <p:nvSpPr>
          <p:cNvPr id="5" name="TextBox 4"/>
          <p:cNvSpPr txBox="1"/>
          <p:nvPr/>
        </p:nvSpPr>
        <p:spPr>
          <a:xfrm>
            <a:off x="530352" y="1444752"/>
            <a:ext cx="11018520" cy="484632"/>
          </a:xfrm>
          <a:prstGeom prst="rect">
            <a:avLst/>
          </a:prstGeom>
          <a:noFill/>
        </p:spPr>
        <p:txBody>
          <a:bodyPr wrap="square" lIns="0" rIns="0" tIns="0" bIns="0">
            <a:spAutoFit/>
          </a:bodyPr>
          <a:lstStyle/>
          <a:p>
            <a:pPr>
              <a:lnSpc>
                <a:spcPct val="112000"/>
              </a:lnSpc>
              <a:spcBef>
                <a:spcPts val="0"/>
              </a:spcBef>
              <a:spcAft>
                <a:spcPts val="168"/>
              </a:spcAft>
              <a:defRPr sz="1400" b="0">
                <a:solidFill>
                  <a:srgbClr val="64776F"/>
                </a:solidFill>
                <a:latin typeface="Arial"/>
              </a:defRPr>
            </a:pPr>
            <a:r>
              <a:t>Mỗi vai trò có điều hướng, phạm vi dữ liệu và tác vụ riêng.</a:t>
            </a:r>
          </a:p>
        </p:txBody>
      </p:sp>
      <p:cxnSp>
        <p:nvCxnSpPr>
          <p:cNvPr id="6" name="Connector 5"/>
          <p:cNvCxnSpPr/>
          <p:nvPr/>
        </p:nvCxnSpPr>
        <p:spPr>
          <a:xfrm>
            <a:off x="502920" y="6437376"/>
            <a:ext cx="11183112" cy="0"/>
          </a:xfrm>
          <a:prstGeom prst="line">
            <a:avLst/>
          </a:prstGeom>
          <a:ln w="8890">
            <a:solidFill>
              <a:srgbClr val="D6E2D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12064" y="6537960"/>
            <a:ext cx="10287000" cy="173736"/>
          </a:xfrm>
          <a:prstGeom prst="rect">
            <a:avLst/>
          </a:prstGeom>
          <a:noFill/>
        </p:spPr>
        <p:txBody>
          <a:bodyPr wrap="square" lIns="0" rIns="0" tIns="0" bIns="0">
            <a:spAutoFit/>
          </a:bodyPr>
          <a:lstStyle/>
          <a:p>
            <a:pPr>
              <a:lnSpc>
                <a:spcPct val="112000"/>
              </a:lnSpc>
              <a:spcBef>
                <a:spcPts val="0"/>
              </a:spcBef>
              <a:spcAft>
                <a:spcPts val="96"/>
              </a:spcAft>
              <a:defRPr sz="800" b="0">
                <a:solidFill>
                  <a:srgbClr val="64776F"/>
                </a:solidFill>
                <a:latin typeface="Arial"/>
              </a:defRPr>
            </a:pPr>
            <a:r>
              <a:t>Nguồn: docs/frontend-portals-2026-10-22.md · README.md</a:t>
            </a:r>
          </a:p>
        </p:txBody>
      </p:sp>
      <p:sp>
        <p:nvSpPr>
          <p:cNvPr id="8" name="TextBox 7"/>
          <p:cNvSpPr txBox="1"/>
          <p:nvPr/>
        </p:nvSpPr>
        <p:spPr>
          <a:xfrm>
            <a:off x="10881360" y="6510528"/>
            <a:ext cx="795528" cy="210312"/>
          </a:xfrm>
          <a:prstGeom prst="rect">
            <a:avLst/>
          </a:prstGeom>
          <a:noFill/>
        </p:spPr>
        <p:txBody>
          <a:bodyPr wrap="square" lIns="0" rIns="0" tIns="0" bIns="0">
            <a:spAutoFit/>
          </a:bodyPr>
          <a:lstStyle/>
          <a:p>
            <a:pPr algn="r">
              <a:lnSpc>
                <a:spcPct val="112000"/>
              </a:lnSpc>
              <a:spcBef>
                <a:spcPts val="0"/>
              </a:spcBef>
              <a:spcAft>
                <a:spcPts val="108"/>
              </a:spcAft>
              <a:defRPr sz="900" b="0">
                <a:solidFill>
                  <a:srgbClr val="64776F"/>
                </a:solidFill>
                <a:latin typeface="Arial"/>
              </a:defRPr>
            </a:pPr>
            <a:r>
              <a:t>03 / 16</a:t>
            </a:r>
          </a:p>
        </p:txBody>
      </p:sp>
      <p:sp>
        <p:nvSpPr>
          <p:cNvPr id="9" name="Rounded Rectangle 8"/>
          <p:cNvSpPr/>
          <p:nvPr/>
        </p:nvSpPr>
        <p:spPr>
          <a:xfrm>
            <a:off x="548640" y="2148840"/>
            <a:ext cx="3547872" cy="3776472"/>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77240" y="2395728"/>
            <a:ext cx="365760" cy="365760"/>
          </a:xfrm>
          <a:prstGeom prst="roundRect">
            <a:avLst>
              <a:gd name="adj" fmla="val 12000"/>
            </a:avLst>
          </a:prstGeom>
          <a:solidFill>
            <a:srgbClr val="078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464308"/>
            <a:ext cx="365760" cy="228600"/>
          </a:xfrm>
          <a:prstGeom prst="rect">
            <a:avLst/>
          </a:prstGeom>
          <a:noFill/>
        </p:spPr>
        <p:txBody>
          <a:bodyPr wrap="square" lIns="0" rIns="0" tIns="0" bIns="0">
            <a:spAutoFit/>
          </a:bodyPr>
          <a:lstStyle/>
          <a:p>
            <a:pPr algn="ctr">
              <a:lnSpc>
                <a:spcPct val="112000"/>
              </a:lnSpc>
              <a:spcBef>
                <a:spcPts val="0"/>
              </a:spcBef>
              <a:spcAft>
                <a:spcPts val="156"/>
              </a:spcAft>
              <a:defRPr sz="1300" b="1">
                <a:solidFill>
                  <a:srgbClr val="FFFFFF"/>
                </a:solidFill>
                <a:latin typeface="Arial"/>
              </a:defRPr>
            </a:pPr>
            <a:r>
              <a:t>C</a:t>
            </a:r>
          </a:p>
        </p:txBody>
      </p:sp>
      <p:sp>
        <p:nvSpPr>
          <p:cNvPr id="12" name="TextBox 11"/>
          <p:cNvSpPr txBox="1"/>
          <p:nvPr/>
        </p:nvSpPr>
        <p:spPr>
          <a:xfrm>
            <a:off x="1298448" y="2414016"/>
            <a:ext cx="2560320" cy="365760"/>
          </a:xfrm>
          <a:prstGeom prst="rect">
            <a:avLst/>
          </a:prstGeom>
          <a:noFill/>
        </p:spPr>
        <p:txBody>
          <a:bodyPr wrap="square" lIns="0" rIns="0" tIns="0" bIns="0">
            <a:spAutoFit/>
          </a:bodyPr>
          <a:lstStyle/>
          <a:p>
            <a:pPr>
              <a:lnSpc>
                <a:spcPct val="112000"/>
              </a:lnSpc>
              <a:spcBef>
                <a:spcPts val="0"/>
              </a:spcBef>
              <a:spcAft>
                <a:spcPts val="263"/>
              </a:spcAft>
              <a:defRPr sz="2200" b="1">
                <a:solidFill>
                  <a:srgbClr val="142F2B"/>
                </a:solidFill>
                <a:latin typeface="Arial"/>
              </a:defRPr>
            </a:pPr>
            <a:r>
              <a:t>Ứng viên</a:t>
            </a:r>
          </a:p>
        </p:txBody>
      </p:sp>
      <p:sp>
        <p:nvSpPr>
          <p:cNvPr id="13" name="TextBox 12"/>
          <p:cNvSpPr txBox="1"/>
          <p:nvPr/>
        </p:nvSpPr>
        <p:spPr>
          <a:xfrm>
            <a:off x="777240" y="2971800"/>
            <a:ext cx="3063240" cy="274320"/>
          </a:xfrm>
          <a:prstGeom prst="rect">
            <a:avLst/>
          </a:prstGeom>
          <a:noFill/>
        </p:spPr>
        <p:txBody>
          <a:bodyPr wrap="square" lIns="0" rIns="0" tIns="0" bIns="0">
            <a:spAutoFit/>
          </a:bodyPr>
          <a:lstStyle/>
          <a:p>
            <a:pPr>
              <a:lnSpc>
                <a:spcPct val="112000"/>
              </a:lnSpc>
              <a:spcBef>
                <a:spcPts val="0"/>
              </a:spcBef>
              <a:spcAft>
                <a:spcPts val="131"/>
              </a:spcAft>
              <a:defRPr sz="1100" b="1">
                <a:solidFill>
                  <a:srgbClr val="07824D"/>
                </a:solidFill>
                <a:latin typeface="Arial"/>
              </a:defRPr>
            </a:pPr>
            <a:r>
              <a:t>CANDIDATE</a:t>
            </a:r>
          </a:p>
        </p:txBody>
      </p:sp>
      <p:sp>
        <p:nvSpPr>
          <p:cNvPr id="14" name="TextBox 13"/>
          <p:cNvSpPr txBox="1"/>
          <p:nvPr/>
        </p:nvSpPr>
        <p:spPr>
          <a:xfrm>
            <a:off x="777240" y="3547872"/>
            <a:ext cx="3081528" cy="393192"/>
          </a:xfrm>
          <a:prstGeom prst="rect">
            <a:avLst/>
          </a:prstGeom>
          <a:noFill/>
        </p:spPr>
        <p:txBody>
          <a:bodyPr wrap="square" lIns="0" rIns="0" tIns="0" bIns="0">
            <a:spAutoFit/>
          </a:bodyPr>
          <a:lstStyle/>
          <a:p>
            <a:pPr>
              <a:lnSpc>
                <a:spcPct val="112000"/>
              </a:lnSpc>
              <a:spcBef>
                <a:spcPts val="0"/>
              </a:spcBef>
              <a:spcAft>
                <a:spcPts val="179"/>
              </a:spcAft>
              <a:defRPr sz="1500" b="0">
                <a:solidFill>
                  <a:srgbClr val="142F2B"/>
                </a:solidFill>
                <a:latin typeface="Arial"/>
              </a:defRPr>
            </a:pPr>
            <a:r>
              <a:t>• Hồ sơ cá nhân và quản lý CV</a:t>
            </a:r>
          </a:p>
        </p:txBody>
      </p:sp>
      <p:sp>
        <p:nvSpPr>
          <p:cNvPr id="15" name="TextBox 14"/>
          <p:cNvSpPr txBox="1"/>
          <p:nvPr/>
        </p:nvSpPr>
        <p:spPr>
          <a:xfrm>
            <a:off x="777240" y="3986783"/>
            <a:ext cx="3081528" cy="393192"/>
          </a:xfrm>
          <a:prstGeom prst="rect">
            <a:avLst/>
          </a:prstGeom>
          <a:noFill/>
        </p:spPr>
        <p:txBody>
          <a:bodyPr wrap="square" lIns="0" rIns="0" tIns="0" bIns="0">
            <a:spAutoFit/>
          </a:bodyPr>
          <a:lstStyle/>
          <a:p>
            <a:pPr>
              <a:lnSpc>
                <a:spcPct val="112000"/>
              </a:lnSpc>
              <a:spcBef>
                <a:spcPts val="0"/>
              </a:spcBef>
              <a:spcAft>
                <a:spcPts val="179"/>
              </a:spcAft>
              <a:defRPr sz="1500" b="0">
                <a:solidFill>
                  <a:srgbClr val="142F2B"/>
                </a:solidFill>
                <a:latin typeface="Arial"/>
              </a:defRPr>
            </a:pPr>
            <a:r>
              <a:t>• Tìm việc, xem công ty, lưu việc</a:t>
            </a:r>
          </a:p>
        </p:txBody>
      </p:sp>
      <p:sp>
        <p:nvSpPr>
          <p:cNvPr id="16" name="TextBox 15"/>
          <p:cNvSpPr txBox="1"/>
          <p:nvPr/>
        </p:nvSpPr>
        <p:spPr>
          <a:xfrm>
            <a:off x="777240" y="4425696"/>
            <a:ext cx="3081528" cy="393192"/>
          </a:xfrm>
          <a:prstGeom prst="rect">
            <a:avLst/>
          </a:prstGeom>
          <a:noFill/>
        </p:spPr>
        <p:txBody>
          <a:bodyPr wrap="square" lIns="0" rIns="0" tIns="0" bIns="0">
            <a:spAutoFit/>
          </a:bodyPr>
          <a:lstStyle/>
          <a:p>
            <a:pPr>
              <a:lnSpc>
                <a:spcPct val="112000"/>
              </a:lnSpc>
              <a:spcBef>
                <a:spcPts val="0"/>
              </a:spcBef>
              <a:spcAft>
                <a:spcPts val="179"/>
              </a:spcAft>
              <a:defRPr sz="1500" b="0">
                <a:solidFill>
                  <a:srgbClr val="142F2B"/>
                </a:solidFill>
                <a:latin typeface="Arial"/>
              </a:defRPr>
            </a:pPr>
            <a:r>
              <a:t>• Ứng tuyển và theo dõi offer</a:t>
            </a:r>
          </a:p>
        </p:txBody>
      </p:sp>
      <p:sp>
        <p:nvSpPr>
          <p:cNvPr id="17" name="TextBox 16"/>
          <p:cNvSpPr txBox="1"/>
          <p:nvPr/>
        </p:nvSpPr>
        <p:spPr>
          <a:xfrm>
            <a:off x="777240" y="4864608"/>
            <a:ext cx="3081528" cy="393192"/>
          </a:xfrm>
          <a:prstGeom prst="rect">
            <a:avLst/>
          </a:prstGeom>
          <a:noFill/>
        </p:spPr>
        <p:txBody>
          <a:bodyPr wrap="square" lIns="0" rIns="0" tIns="0" bIns="0">
            <a:spAutoFit/>
          </a:bodyPr>
          <a:lstStyle/>
          <a:p>
            <a:pPr>
              <a:lnSpc>
                <a:spcPct val="112000"/>
              </a:lnSpc>
              <a:spcBef>
                <a:spcPts val="0"/>
              </a:spcBef>
              <a:spcAft>
                <a:spcPts val="179"/>
              </a:spcAft>
              <a:defRPr sz="1500" b="0">
                <a:solidFill>
                  <a:srgbClr val="142F2B"/>
                </a:solidFill>
                <a:latin typeface="Arial"/>
              </a:defRPr>
            </a:pPr>
            <a:r>
              <a:t>• Lịch hẹn, tin nhắn, thông báo</a:t>
            </a:r>
          </a:p>
        </p:txBody>
      </p:sp>
      <p:sp>
        <p:nvSpPr>
          <p:cNvPr id="18" name="Rounded Rectangle 17"/>
          <p:cNvSpPr/>
          <p:nvPr/>
        </p:nvSpPr>
        <p:spPr>
          <a:xfrm>
            <a:off x="731520" y="5376672"/>
            <a:ext cx="3182112" cy="265176"/>
          </a:xfrm>
          <a:prstGeom prst="roundRect">
            <a:avLst>
              <a:gd name="adj" fmla="val 12000"/>
            </a:avLst>
          </a:prstGeom>
          <a:solidFill>
            <a:srgbClr val="E0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 y="5422392"/>
            <a:ext cx="3072384" cy="182880"/>
          </a:xfrm>
          <a:prstGeom prst="rect">
            <a:avLst/>
          </a:prstGeom>
          <a:noFill/>
        </p:spPr>
        <p:txBody>
          <a:bodyPr wrap="square" lIns="0" rIns="0" tIns="0" bIns="0">
            <a:spAutoFit/>
          </a:bodyPr>
          <a:lstStyle/>
          <a:p>
            <a:pPr algn="ctr">
              <a:lnSpc>
                <a:spcPct val="112000"/>
              </a:lnSpc>
              <a:spcBef>
                <a:spcPts val="0"/>
              </a:spcBef>
              <a:spcAft>
                <a:spcPts val="131"/>
              </a:spcAft>
              <a:defRPr sz="1100" b="1">
                <a:solidFill>
                  <a:srgbClr val="07824D"/>
                </a:solidFill>
                <a:latin typeface="Arial"/>
              </a:defRPr>
            </a:pPr>
            <a:r>
              <a:t>/candidate/dashboard</a:t>
            </a:r>
          </a:p>
        </p:txBody>
      </p:sp>
      <p:sp>
        <p:nvSpPr>
          <p:cNvPr id="20" name="Rounded Rectangle 19"/>
          <p:cNvSpPr/>
          <p:nvPr/>
        </p:nvSpPr>
        <p:spPr>
          <a:xfrm>
            <a:off x="4325112" y="2148840"/>
            <a:ext cx="3547872" cy="3776472"/>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553712" y="2395728"/>
            <a:ext cx="365760" cy="365760"/>
          </a:xfrm>
          <a:prstGeom prst="roundRect">
            <a:avLst>
              <a:gd name="adj" fmla="val 12000"/>
            </a:avLst>
          </a:prstGeom>
          <a:solidFill>
            <a:srgbClr val="078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53712" y="2464308"/>
            <a:ext cx="365760" cy="228600"/>
          </a:xfrm>
          <a:prstGeom prst="rect">
            <a:avLst/>
          </a:prstGeom>
          <a:noFill/>
        </p:spPr>
        <p:txBody>
          <a:bodyPr wrap="square" lIns="0" rIns="0" tIns="0" bIns="0">
            <a:spAutoFit/>
          </a:bodyPr>
          <a:lstStyle/>
          <a:p>
            <a:pPr algn="ctr">
              <a:lnSpc>
                <a:spcPct val="112000"/>
              </a:lnSpc>
              <a:spcBef>
                <a:spcPts val="0"/>
              </a:spcBef>
              <a:spcAft>
                <a:spcPts val="156"/>
              </a:spcAft>
              <a:defRPr sz="1300" b="1">
                <a:solidFill>
                  <a:srgbClr val="FFFFFF"/>
                </a:solidFill>
                <a:latin typeface="Arial"/>
              </a:defRPr>
            </a:pPr>
            <a:r>
              <a:t>R</a:t>
            </a:r>
          </a:p>
        </p:txBody>
      </p:sp>
      <p:sp>
        <p:nvSpPr>
          <p:cNvPr id="23" name="TextBox 22"/>
          <p:cNvSpPr txBox="1"/>
          <p:nvPr/>
        </p:nvSpPr>
        <p:spPr>
          <a:xfrm>
            <a:off x="5074920" y="2414016"/>
            <a:ext cx="2560320" cy="365760"/>
          </a:xfrm>
          <a:prstGeom prst="rect">
            <a:avLst/>
          </a:prstGeom>
          <a:noFill/>
        </p:spPr>
        <p:txBody>
          <a:bodyPr wrap="square" lIns="0" rIns="0" tIns="0" bIns="0">
            <a:spAutoFit/>
          </a:bodyPr>
          <a:lstStyle/>
          <a:p>
            <a:pPr>
              <a:lnSpc>
                <a:spcPct val="112000"/>
              </a:lnSpc>
              <a:spcBef>
                <a:spcPts val="0"/>
              </a:spcBef>
              <a:spcAft>
                <a:spcPts val="263"/>
              </a:spcAft>
              <a:defRPr sz="2200" b="1">
                <a:solidFill>
                  <a:srgbClr val="142F2B"/>
                </a:solidFill>
                <a:latin typeface="Arial"/>
              </a:defRPr>
            </a:pPr>
            <a:r>
              <a:t>Nhà tuyển dụng</a:t>
            </a:r>
          </a:p>
        </p:txBody>
      </p:sp>
      <p:sp>
        <p:nvSpPr>
          <p:cNvPr id="24" name="TextBox 23"/>
          <p:cNvSpPr txBox="1"/>
          <p:nvPr/>
        </p:nvSpPr>
        <p:spPr>
          <a:xfrm>
            <a:off x="4553712" y="2971800"/>
            <a:ext cx="3063240" cy="274320"/>
          </a:xfrm>
          <a:prstGeom prst="rect">
            <a:avLst/>
          </a:prstGeom>
          <a:noFill/>
        </p:spPr>
        <p:txBody>
          <a:bodyPr wrap="square" lIns="0" rIns="0" tIns="0" bIns="0">
            <a:spAutoFit/>
          </a:bodyPr>
          <a:lstStyle/>
          <a:p>
            <a:pPr>
              <a:lnSpc>
                <a:spcPct val="112000"/>
              </a:lnSpc>
              <a:spcBef>
                <a:spcPts val="0"/>
              </a:spcBef>
              <a:spcAft>
                <a:spcPts val="131"/>
              </a:spcAft>
              <a:defRPr sz="1100" b="1">
                <a:solidFill>
                  <a:srgbClr val="07824D"/>
                </a:solidFill>
                <a:latin typeface="Arial"/>
              </a:defRPr>
            </a:pPr>
            <a:r>
              <a:t>RECRUITER</a:t>
            </a:r>
          </a:p>
        </p:txBody>
      </p:sp>
      <p:sp>
        <p:nvSpPr>
          <p:cNvPr id="25" name="TextBox 24"/>
          <p:cNvSpPr txBox="1"/>
          <p:nvPr/>
        </p:nvSpPr>
        <p:spPr>
          <a:xfrm>
            <a:off x="4553712" y="3547872"/>
            <a:ext cx="3081528" cy="393192"/>
          </a:xfrm>
          <a:prstGeom prst="rect">
            <a:avLst/>
          </a:prstGeom>
          <a:noFill/>
        </p:spPr>
        <p:txBody>
          <a:bodyPr wrap="square" lIns="0" rIns="0" tIns="0" bIns="0">
            <a:spAutoFit/>
          </a:bodyPr>
          <a:lstStyle/>
          <a:p>
            <a:pPr>
              <a:lnSpc>
                <a:spcPct val="112000"/>
              </a:lnSpc>
              <a:spcBef>
                <a:spcPts val="0"/>
              </a:spcBef>
              <a:spcAft>
                <a:spcPts val="179"/>
              </a:spcAft>
              <a:defRPr sz="1500" b="0">
                <a:solidFill>
                  <a:srgbClr val="142F2B"/>
                </a:solidFill>
                <a:latin typeface="Arial"/>
              </a:defRPr>
            </a:pPr>
            <a:r>
              <a:t>• Hồ sơ công ty và quản lý tin</a:t>
            </a:r>
          </a:p>
        </p:txBody>
      </p:sp>
      <p:sp>
        <p:nvSpPr>
          <p:cNvPr id="26" name="TextBox 25"/>
          <p:cNvSpPr txBox="1"/>
          <p:nvPr/>
        </p:nvSpPr>
        <p:spPr>
          <a:xfrm>
            <a:off x="4553712" y="3986783"/>
            <a:ext cx="3081528" cy="393192"/>
          </a:xfrm>
          <a:prstGeom prst="rect">
            <a:avLst/>
          </a:prstGeom>
          <a:noFill/>
        </p:spPr>
        <p:txBody>
          <a:bodyPr wrap="square" lIns="0" rIns="0" tIns="0" bIns="0">
            <a:spAutoFit/>
          </a:bodyPr>
          <a:lstStyle/>
          <a:p>
            <a:pPr>
              <a:lnSpc>
                <a:spcPct val="112000"/>
              </a:lnSpc>
              <a:spcBef>
                <a:spcPts val="0"/>
              </a:spcBef>
              <a:spcAft>
                <a:spcPts val="179"/>
              </a:spcAft>
              <a:defRPr sz="1500" b="0">
                <a:solidFill>
                  <a:srgbClr val="142F2B"/>
                </a:solidFill>
                <a:latin typeface="Arial"/>
              </a:defRPr>
            </a:pPr>
            <a:r>
              <a:t>• Pipeline hồ sơ ứng tuyển</a:t>
            </a:r>
          </a:p>
        </p:txBody>
      </p:sp>
      <p:sp>
        <p:nvSpPr>
          <p:cNvPr id="27" name="TextBox 26"/>
          <p:cNvSpPr txBox="1"/>
          <p:nvPr/>
        </p:nvSpPr>
        <p:spPr>
          <a:xfrm>
            <a:off x="4553712" y="4425696"/>
            <a:ext cx="3081528" cy="393192"/>
          </a:xfrm>
          <a:prstGeom prst="rect">
            <a:avLst/>
          </a:prstGeom>
          <a:noFill/>
        </p:spPr>
        <p:txBody>
          <a:bodyPr wrap="square" lIns="0" rIns="0" tIns="0" bIns="0">
            <a:spAutoFit/>
          </a:bodyPr>
          <a:lstStyle/>
          <a:p>
            <a:pPr>
              <a:lnSpc>
                <a:spcPct val="112000"/>
              </a:lnSpc>
              <a:spcBef>
                <a:spcPts val="0"/>
              </a:spcBef>
              <a:spcAft>
                <a:spcPts val="179"/>
              </a:spcAft>
              <a:defRPr sz="1500" b="0">
                <a:solidFill>
                  <a:srgbClr val="142F2B"/>
                </a:solidFill>
                <a:latin typeface="Arial"/>
              </a:defRPr>
            </a:pPr>
            <a:r>
              <a:t>• Gợi ý ứng viên có đồng ý chia sẻ</a:t>
            </a:r>
          </a:p>
        </p:txBody>
      </p:sp>
      <p:sp>
        <p:nvSpPr>
          <p:cNvPr id="28" name="TextBox 27"/>
          <p:cNvSpPr txBox="1"/>
          <p:nvPr/>
        </p:nvSpPr>
        <p:spPr>
          <a:xfrm>
            <a:off x="4553712" y="4864608"/>
            <a:ext cx="3081528" cy="393192"/>
          </a:xfrm>
          <a:prstGeom prst="rect">
            <a:avLst/>
          </a:prstGeom>
          <a:noFill/>
        </p:spPr>
        <p:txBody>
          <a:bodyPr wrap="square" lIns="0" rIns="0" tIns="0" bIns="0">
            <a:spAutoFit/>
          </a:bodyPr>
          <a:lstStyle/>
          <a:p>
            <a:pPr>
              <a:lnSpc>
                <a:spcPct val="112000"/>
              </a:lnSpc>
              <a:spcBef>
                <a:spcPts val="0"/>
              </a:spcBef>
              <a:spcAft>
                <a:spcPts val="179"/>
              </a:spcAft>
              <a:defRPr sz="1500" b="0">
                <a:solidFill>
                  <a:srgbClr val="142F2B"/>
                </a:solidFill>
                <a:latin typeface="Arial"/>
              </a:defRPr>
            </a:pPr>
            <a:r>
              <a:t>• Lịch phỏng vấn và gửi offer</a:t>
            </a:r>
          </a:p>
        </p:txBody>
      </p:sp>
      <p:sp>
        <p:nvSpPr>
          <p:cNvPr id="29" name="Rounded Rectangle 28"/>
          <p:cNvSpPr/>
          <p:nvPr/>
        </p:nvSpPr>
        <p:spPr>
          <a:xfrm>
            <a:off x="4507992" y="5376672"/>
            <a:ext cx="3182112" cy="265176"/>
          </a:xfrm>
          <a:prstGeom prst="roundRect">
            <a:avLst>
              <a:gd name="adj" fmla="val 12000"/>
            </a:avLst>
          </a:prstGeom>
          <a:solidFill>
            <a:srgbClr val="E0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62855" y="5422392"/>
            <a:ext cx="3072384" cy="182880"/>
          </a:xfrm>
          <a:prstGeom prst="rect">
            <a:avLst/>
          </a:prstGeom>
          <a:noFill/>
        </p:spPr>
        <p:txBody>
          <a:bodyPr wrap="square" lIns="0" rIns="0" tIns="0" bIns="0">
            <a:spAutoFit/>
          </a:bodyPr>
          <a:lstStyle/>
          <a:p>
            <a:pPr algn="ctr">
              <a:lnSpc>
                <a:spcPct val="112000"/>
              </a:lnSpc>
              <a:spcBef>
                <a:spcPts val="0"/>
              </a:spcBef>
              <a:spcAft>
                <a:spcPts val="131"/>
              </a:spcAft>
              <a:defRPr sz="1100" b="1">
                <a:solidFill>
                  <a:srgbClr val="07824D"/>
                </a:solidFill>
                <a:latin typeface="Arial"/>
              </a:defRPr>
            </a:pPr>
            <a:r>
              <a:t>/recruiter/dashboard</a:t>
            </a:r>
          </a:p>
        </p:txBody>
      </p:sp>
      <p:sp>
        <p:nvSpPr>
          <p:cNvPr id="31" name="Rounded Rectangle 30"/>
          <p:cNvSpPr/>
          <p:nvPr/>
        </p:nvSpPr>
        <p:spPr>
          <a:xfrm>
            <a:off x="8101583" y="2148840"/>
            <a:ext cx="3547872" cy="3776472"/>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330183" y="2395728"/>
            <a:ext cx="365760" cy="365760"/>
          </a:xfrm>
          <a:prstGeom prst="roundRect">
            <a:avLst>
              <a:gd name="adj" fmla="val 12000"/>
            </a:avLst>
          </a:prstGeom>
          <a:solidFill>
            <a:srgbClr val="405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2464308"/>
            <a:ext cx="365760" cy="228600"/>
          </a:xfrm>
          <a:prstGeom prst="rect">
            <a:avLst/>
          </a:prstGeom>
          <a:noFill/>
        </p:spPr>
        <p:txBody>
          <a:bodyPr wrap="square" lIns="0" rIns="0" tIns="0" bIns="0">
            <a:spAutoFit/>
          </a:bodyPr>
          <a:lstStyle/>
          <a:p>
            <a:pPr algn="ctr">
              <a:lnSpc>
                <a:spcPct val="112000"/>
              </a:lnSpc>
              <a:spcBef>
                <a:spcPts val="0"/>
              </a:spcBef>
              <a:spcAft>
                <a:spcPts val="156"/>
              </a:spcAft>
              <a:defRPr sz="1300" b="1">
                <a:solidFill>
                  <a:srgbClr val="FFFFFF"/>
                </a:solidFill>
                <a:latin typeface="Arial"/>
              </a:defRPr>
            </a:pPr>
            <a:r>
              <a:t>A</a:t>
            </a:r>
          </a:p>
        </p:txBody>
      </p:sp>
      <p:sp>
        <p:nvSpPr>
          <p:cNvPr id="34" name="TextBox 33"/>
          <p:cNvSpPr txBox="1"/>
          <p:nvPr/>
        </p:nvSpPr>
        <p:spPr>
          <a:xfrm>
            <a:off x="8851392" y="2414016"/>
            <a:ext cx="2560320" cy="365760"/>
          </a:xfrm>
          <a:prstGeom prst="rect">
            <a:avLst/>
          </a:prstGeom>
          <a:noFill/>
        </p:spPr>
        <p:txBody>
          <a:bodyPr wrap="square" lIns="0" rIns="0" tIns="0" bIns="0">
            <a:spAutoFit/>
          </a:bodyPr>
          <a:lstStyle/>
          <a:p>
            <a:pPr>
              <a:lnSpc>
                <a:spcPct val="112000"/>
              </a:lnSpc>
              <a:spcBef>
                <a:spcPts val="0"/>
              </a:spcBef>
              <a:spcAft>
                <a:spcPts val="263"/>
              </a:spcAft>
              <a:defRPr sz="2200" b="1">
                <a:solidFill>
                  <a:srgbClr val="142F2B"/>
                </a:solidFill>
                <a:latin typeface="Arial"/>
              </a:defRPr>
            </a:pPr>
            <a:r>
              <a:t>Quản trị viên</a:t>
            </a:r>
          </a:p>
        </p:txBody>
      </p:sp>
      <p:sp>
        <p:nvSpPr>
          <p:cNvPr id="35" name="TextBox 34"/>
          <p:cNvSpPr txBox="1"/>
          <p:nvPr/>
        </p:nvSpPr>
        <p:spPr>
          <a:xfrm>
            <a:off x="8330183" y="2971800"/>
            <a:ext cx="3063240" cy="274320"/>
          </a:xfrm>
          <a:prstGeom prst="rect">
            <a:avLst/>
          </a:prstGeom>
          <a:noFill/>
        </p:spPr>
        <p:txBody>
          <a:bodyPr wrap="square" lIns="0" rIns="0" tIns="0" bIns="0">
            <a:spAutoFit/>
          </a:bodyPr>
          <a:lstStyle/>
          <a:p>
            <a:pPr>
              <a:lnSpc>
                <a:spcPct val="112000"/>
              </a:lnSpc>
              <a:spcBef>
                <a:spcPts val="0"/>
              </a:spcBef>
              <a:spcAft>
                <a:spcPts val="131"/>
              </a:spcAft>
              <a:defRPr sz="1100" b="1">
                <a:solidFill>
                  <a:srgbClr val="405CC5"/>
                </a:solidFill>
                <a:latin typeface="Arial"/>
              </a:defRPr>
            </a:pPr>
            <a:r>
              <a:t>ADMIN</a:t>
            </a:r>
          </a:p>
        </p:txBody>
      </p:sp>
      <p:sp>
        <p:nvSpPr>
          <p:cNvPr id="36" name="TextBox 35"/>
          <p:cNvSpPr txBox="1"/>
          <p:nvPr/>
        </p:nvSpPr>
        <p:spPr>
          <a:xfrm>
            <a:off x="8330183" y="3547872"/>
            <a:ext cx="3081528" cy="393192"/>
          </a:xfrm>
          <a:prstGeom prst="rect">
            <a:avLst/>
          </a:prstGeom>
          <a:noFill/>
        </p:spPr>
        <p:txBody>
          <a:bodyPr wrap="square" lIns="0" rIns="0" tIns="0" bIns="0">
            <a:spAutoFit/>
          </a:bodyPr>
          <a:lstStyle/>
          <a:p>
            <a:pPr>
              <a:lnSpc>
                <a:spcPct val="112000"/>
              </a:lnSpc>
              <a:spcBef>
                <a:spcPts val="0"/>
              </a:spcBef>
              <a:spcAft>
                <a:spcPts val="179"/>
              </a:spcAft>
              <a:defRPr sz="1500" b="0">
                <a:solidFill>
                  <a:srgbClr val="142F2B"/>
                </a:solidFill>
                <a:latin typeface="Arial"/>
              </a:defRPr>
            </a:pPr>
            <a:r>
              <a:t>• Quản lý người dùng</a:t>
            </a:r>
          </a:p>
        </p:txBody>
      </p:sp>
      <p:sp>
        <p:nvSpPr>
          <p:cNvPr id="37" name="TextBox 36"/>
          <p:cNvSpPr txBox="1"/>
          <p:nvPr/>
        </p:nvSpPr>
        <p:spPr>
          <a:xfrm>
            <a:off x="8330183" y="3986783"/>
            <a:ext cx="3081528" cy="393192"/>
          </a:xfrm>
          <a:prstGeom prst="rect">
            <a:avLst/>
          </a:prstGeom>
          <a:noFill/>
        </p:spPr>
        <p:txBody>
          <a:bodyPr wrap="square" lIns="0" rIns="0" tIns="0" bIns="0">
            <a:spAutoFit/>
          </a:bodyPr>
          <a:lstStyle/>
          <a:p>
            <a:pPr>
              <a:lnSpc>
                <a:spcPct val="112000"/>
              </a:lnSpc>
              <a:spcBef>
                <a:spcPts val="0"/>
              </a:spcBef>
              <a:spcAft>
                <a:spcPts val="179"/>
              </a:spcAft>
              <a:defRPr sz="1500" b="0">
                <a:solidFill>
                  <a:srgbClr val="142F2B"/>
                </a:solidFill>
                <a:latin typeface="Arial"/>
              </a:defRPr>
            </a:pPr>
            <a:r>
              <a:t>• Duyệt công ty và tin tuyển dụng</a:t>
            </a:r>
          </a:p>
        </p:txBody>
      </p:sp>
      <p:sp>
        <p:nvSpPr>
          <p:cNvPr id="38" name="TextBox 37"/>
          <p:cNvSpPr txBox="1"/>
          <p:nvPr/>
        </p:nvSpPr>
        <p:spPr>
          <a:xfrm>
            <a:off x="8330183" y="4425696"/>
            <a:ext cx="3081528" cy="393192"/>
          </a:xfrm>
          <a:prstGeom prst="rect">
            <a:avLst/>
          </a:prstGeom>
          <a:noFill/>
        </p:spPr>
        <p:txBody>
          <a:bodyPr wrap="square" lIns="0" rIns="0" tIns="0" bIns="0">
            <a:spAutoFit/>
          </a:bodyPr>
          <a:lstStyle/>
          <a:p>
            <a:pPr>
              <a:lnSpc>
                <a:spcPct val="112000"/>
              </a:lnSpc>
              <a:spcBef>
                <a:spcPts val="0"/>
              </a:spcBef>
              <a:spcAft>
                <a:spcPts val="179"/>
              </a:spcAft>
              <a:defRPr sz="1500" b="0">
                <a:solidFill>
                  <a:srgbClr val="142F2B"/>
                </a:solidFill>
                <a:latin typeface="Arial"/>
              </a:defRPr>
            </a:pPr>
            <a:r>
              <a:t>• Báo cáo vi phạm và nhật ký</a:t>
            </a:r>
          </a:p>
        </p:txBody>
      </p:sp>
      <p:sp>
        <p:nvSpPr>
          <p:cNvPr id="39" name="TextBox 38"/>
          <p:cNvSpPr txBox="1"/>
          <p:nvPr/>
        </p:nvSpPr>
        <p:spPr>
          <a:xfrm>
            <a:off x="8330183" y="4864608"/>
            <a:ext cx="3081528" cy="393192"/>
          </a:xfrm>
          <a:prstGeom prst="rect">
            <a:avLst/>
          </a:prstGeom>
          <a:noFill/>
        </p:spPr>
        <p:txBody>
          <a:bodyPr wrap="square" lIns="0" rIns="0" tIns="0" bIns="0">
            <a:spAutoFit/>
          </a:bodyPr>
          <a:lstStyle/>
          <a:p>
            <a:pPr>
              <a:lnSpc>
                <a:spcPct val="112000"/>
              </a:lnSpc>
              <a:spcBef>
                <a:spcPts val="0"/>
              </a:spcBef>
              <a:spcAft>
                <a:spcPts val="179"/>
              </a:spcAft>
              <a:defRPr sz="1500" b="0">
                <a:solidFill>
                  <a:srgbClr val="142F2B"/>
                </a:solidFill>
                <a:latin typeface="Arial"/>
              </a:defRPr>
            </a:pPr>
            <a:r>
              <a:t>• Thống kê, xuất CSV/XLSX</a:t>
            </a:r>
          </a:p>
        </p:txBody>
      </p:sp>
      <p:sp>
        <p:nvSpPr>
          <p:cNvPr id="40" name="Rounded Rectangle 39"/>
          <p:cNvSpPr/>
          <p:nvPr/>
        </p:nvSpPr>
        <p:spPr>
          <a:xfrm>
            <a:off x="8284463" y="5376672"/>
            <a:ext cx="3182112" cy="265176"/>
          </a:xfrm>
          <a:prstGeom prst="roundRect">
            <a:avLst>
              <a:gd name="adj" fmla="val 12000"/>
            </a:avLst>
          </a:prstGeom>
          <a:solidFill>
            <a:srgbClr val="EA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39327" y="5422392"/>
            <a:ext cx="3072384" cy="182880"/>
          </a:xfrm>
          <a:prstGeom prst="rect">
            <a:avLst/>
          </a:prstGeom>
          <a:noFill/>
        </p:spPr>
        <p:txBody>
          <a:bodyPr wrap="square" lIns="0" rIns="0" tIns="0" bIns="0">
            <a:spAutoFit/>
          </a:bodyPr>
          <a:lstStyle/>
          <a:p>
            <a:pPr algn="ctr">
              <a:lnSpc>
                <a:spcPct val="112000"/>
              </a:lnSpc>
              <a:spcBef>
                <a:spcPts val="0"/>
              </a:spcBef>
              <a:spcAft>
                <a:spcPts val="131"/>
              </a:spcAft>
              <a:defRPr sz="1100" b="1">
                <a:solidFill>
                  <a:srgbClr val="405CC5"/>
                </a:solidFill>
                <a:latin typeface="Arial"/>
              </a:defRPr>
            </a:pPr>
            <a:r>
              <a:t>/admin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5"/>
        </a:solidFill>
        <a:effectLst/>
      </p:bgPr>
    </p:bg>
    <p:spTree>
      <p:nvGrpSpPr>
        <p:cNvPr id="1" name=""/>
        <p:cNvGrpSpPr/>
        <p:nvPr/>
      </p:nvGrpSpPr>
      <p:grpSpPr/>
      <p:sp>
        <p:nvSpPr>
          <p:cNvPr id="2" name="TextBox 1"/>
          <p:cNvSpPr txBox="1"/>
          <p:nvPr/>
        </p:nvSpPr>
        <p:spPr>
          <a:xfrm>
            <a:off x="502920" y="256032"/>
            <a:ext cx="4572000" cy="201168"/>
          </a:xfrm>
          <a:prstGeom prst="rect">
            <a:avLst/>
          </a:prstGeom>
          <a:noFill/>
        </p:spPr>
        <p:txBody>
          <a:bodyPr wrap="square" lIns="0" rIns="0" tIns="0" bIns="0">
            <a:spAutoFit/>
          </a:bodyPr>
          <a:lstStyle/>
          <a:p>
            <a:pPr>
              <a:lnSpc>
                <a:spcPct val="112000"/>
              </a:lnSpc>
              <a:spcBef>
                <a:spcPts val="0"/>
              </a:spcBef>
              <a:spcAft>
                <a:spcPts val="108"/>
              </a:spcAft>
              <a:defRPr sz="900" b="1">
                <a:solidFill>
                  <a:srgbClr val="07824D"/>
                </a:solidFill>
                <a:latin typeface="Arial"/>
              </a:defRPr>
            </a:pPr>
            <a:r>
              <a:t>CAREERHUB  /  RECRUITMENT SYSTEM</a:t>
            </a:r>
          </a:p>
        </p:txBody>
      </p:sp>
      <p:sp>
        <p:nvSpPr>
          <p:cNvPr id="3" name="TextBox 2"/>
          <p:cNvSpPr txBox="1"/>
          <p:nvPr/>
        </p:nvSpPr>
        <p:spPr>
          <a:xfrm>
            <a:off x="8321040" y="256032"/>
            <a:ext cx="3364992" cy="201168"/>
          </a:xfrm>
          <a:prstGeom prst="rect">
            <a:avLst/>
          </a:prstGeom>
          <a:noFill/>
        </p:spPr>
        <p:txBody>
          <a:bodyPr wrap="square" lIns="0" rIns="0" tIns="0" bIns="0">
            <a:spAutoFit/>
          </a:bodyPr>
          <a:lstStyle/>
          <a:p>
            <a:pPr algn="r">
              <a:lnSpc>
                <a:spcPct val="112000"/>
              </a:lnSpc>
              <a:spcBef>
                <a:spcPts val="0"/>
              </a:spcBef>
              <a:spcAft>
                <a:spcPts val="108"/>
              </a:spcAft>
              <a:defRPr sz="900" b="0">
                <a:solidFill>
                  <a:srgbClr val="64776F"/>
                </a:solidFill>
                <a:latin typeface="Arial"/>
              </a:defRPr>
            </a:pPr>
            <a:r>
              <a:t>LUỒNG NGHIỆP VỤ</a:t>
            </a:r>
          </a:p>
        </p:txBody>
      </p:sp>
      <p:sp>
        <p:nvSpPr>
          <p:cNvPr id="4" name="TextBox 3"/>
          <p:cNvSpPr txBox="1"/>
          <p:nvPr/>
        </p:nvSpPr>
        <p:spPr>
          <a:xfrm>
            <a:off x="502920" y="749808"/>
            <a:ext cx="11109960" cy="621792"/>
          </a:xfrm>
          <a:prstGeom prst="rect">
            <a:avLst/>
          </a:prstGeom>
          <a:noFill/>
        </p:spPr>
        <p:txBody>
          <a:bodyPr wrap="square" lIns="0" rIns="0" tIns="0" bIns="0">
            <a:spAutoFit/>
          </a:bodyPr>
          <a:lstStyle/>
          <a:p>
            <a:pPr>
              <a:lnSpc>
                <a:spcPct val="112000"/>
              </a:lnSpc>
              <a:spcBef>
                <a:spcPts val="0"/>
              </a:spcBef>
              <a:spcAft>
                <a:spcPts val="359"/>
              </a:spcAft>
              <a:defRPr sz="3000" b="1">
                <a:solidFill>
                  <a:srgbClr val="142F2B"/>
                </a:solidFill>
                <a:latin typeface="Arial"/>
              </a:defRPr>
            </a:pPr>
            <a:r>
              <a:t>Quy trình tuyển dụng xuyên suốt hệ thống</a:t>
            </a:r>
          </a:p>
        </p:txBody>
      </p:sp>
      <p:sp>
        <p:nvSpPr>
          <p:cNvPr id="5" name="TextBox 4"/>
          <p:cNvSpPr txBox="1"/>
          <p:nvPr/>
        </p:nvSpPr>
        <p:spPr>
          <a:xfrm>
            <a:off x="530352" y="1444752"/>
            <a:ext cx="11018520" cy="484632"/>
          </a:xfrm>
          <a:prstGeom prst="rect">
            <a:avLst/>
          </a:prstGeom>
          <a:noFill/>
        </p:spPr>
        <p:txBody>
          <a:bodyPr wrap="square" lIns="0" rIns="0" tIns="0" bIns="0">
            <a:spAutoFit/>
          </a:bodyPr>
          <a:lstStyle/>
          <a:p>
            <a:pPr>
              <a:lnSpc>
                <a:spcPct val="112000"/>
              </a:lnSpc>
              <a:spcBef>
                <a:spcPts val="0"/>
              </a:spcBef>
              <a:spcAft>
                <a:spcPts val="168"/>
              </a:spcAft>
              <a:defRPr sz="1400" b="0">
                <a:solidFill>
                  <a:srgbClr val="64776F"/>
                </a:solidFill>
                <a:latin typeface="Arial"/>
              </a:defRPr>
            </a:pPr>
            <a:r>
              <a:t>Hai bước kiểm duyệt trước khi tin tuyển dụng được công khai.</a:t>
            </a:r>
          </a:p>
        </p:txBody>
      </p:sp>
      <p:cxnSp>
        <p:nvCxnSpPr>
          <p:cNvPr id="6" name="Connector 5"/>
          <p:cNvCxnSpPr/>
          <p:nvPr/>
        </p:nvCxnSpPr>
        <p:spPr>
          <a:xfrm>
            <a:off x="502920" y="6437376"/>
            <a:ext cx="11183112" cy="0"/>
          </a:xfrm>
          <a:prstGeom prst="line">
            <a:avLst/>
          </a:prstGeom>
          <a:ln w="8890">
            <a:solidFill>
              <a:srgbClr val="D6E2D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12064" y="6537960"/>
            <a:ext cx="10287000" cy="173736"/>
          </a:xfrm>
          <a:prstGeom prst="rect">
            <a:avLst/>
          </a:prstGeom>
          <a:noFill/>
        </p:spPr>
        <p:txBody>
          <a:bodyPr wrap="square" lIns="0" rIns="0" tIns="0" bIns="0">
            <a:spAutoFit/>
          </a:bodyPr>
          <a:lstStyle/>
          <a:p>
            <a:pPr>
              <a:lnSpc>
                <a:spcPct val="112000"/>
              </a:lnSpc>
              <a:spcBef>
                <a:spcPts val="0"/>
              </a:spcBef>
              <a:spcAft>
                <a:spcPts val="96"/>
              </a:spcAft>
              <a:defRPr sz="800" b="0">
                <a:solidFill>
                  <a:srgbClr val="64776F"/>
                </a:solidFill>
                <a:latin typeface="Arial"/>
              </a:defRPr>
            </a:pPr>
            <a:r>
              <a:t>Nguồn: docs/system-regression-2026-10-16.md · Luồng thực tế có nhánh từ chối/rút đơn và các quyền theo tài nguyên.</a:t>
            </a:r>
          </a:p>
        </p:txBody>
      </p:sp>
      <p:sp>
        <p:nvSpPr>
          <p:cNvPr id="8" name="TextBox 7"/>
          <p:cNvSpPr txBox="1"/>
          <p:nvPr/>
        </p:nvSpPr>
        <p:spPr>
          <a:xfrm>
            <a:off x="10881360" y="6510528"/>
            <a:ext cx="795528" cy="210312"/>
          </a:xfrm>
          <a:prstGeom prst="rect">
            <a:avLst/>
          </a:prstGeom>
          <a:noFill/>
        </p:spPr>
        <p:txBody>
          <a:bodyPr wrap="square" lIns="0" rIns="0" tIns="0" bIns="0">
            <a:spAutoFit/>
          </a:bodyPr>
          <a:lstStyle/>
          <a:p>
            <a:pPr algn="r">
              <a:lnSpc>
                <a:spcPct val="112000"/>
              </a:lnSpc>
              <a:spcBef>
                <a:spcPts val="0"/>
              </a:spcBef>
              <a:spcAft>
                <a:spcPts val="108"/>
              </a:spcAft>
              <a:defRPr sz="900" b="0">
                <a:solidFill>
                  <a:srgbClr val="64776F"/>
                </a:solidFill>
                <a:latin typeface="Arial"/>
              </a:defRPr>
            </a:pPr>
            <a:r>
              <a:t>04 / 16</a:t>
            </a:r>
          </a:p>
        </p:txBody>
      </p:sp>
      <p:sp>
        <p:nvSpPr>
          <p:cNvPr id="9" name="Rounded Rectangle 8"/>
          <p:cNvSpPr/>
          <p:nvPr/>
        </p:nvSpPr>
        <p:spPr>
          <a:xfrm>
            <a:off x="548640" y="2414016"/>
            <a:ext cx="1664208" cy="1828800"/>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633472"/>
            <a:ext cx="1325880" cy="411480"/>
          </a:xfrm>
          <a:prstGeom prst="rect">
            <a:avLst/>
          </a:prstGeom>
          <a:noFill/>
        </p:spPr>
        <p:txBody>
          <a:bodyPr wrap="square" lIns="0" rIns="0" tIns="0" bIns="0">
            <a:spAutoFit/>
          </a:bodyPr>
          <a:lstStyle/>
          <a:p>
            <a:pPr>
              <a:lnSpc>
                <a:spcPct val="112000"/>
              </a:lnSpc>
              <a:spcBef>
                <a:spcPts val="0"/>
              </a:spcBef>
              <a:spcAft>
                <a:spcPts val="312"/>
              </a:spcAft>
              <a:defRPr sz="2600" b="1">
                <a:solidFill>
                  <a:srgbClr val="07824D"/>
                </a:solidFill>
                <a:latin typeface="Arial"/>
              </a:defRPr>
            </a:pPr>
            <a:r>
              <a:t>01</a:t>
            </a:r>
          </a:p>
        </p:txBody>
      </p:sp>
      <p:sp>
        <p:nvSpPr>
          <p:cNvPr id="11" name="TextBox 10"/>
          <p:cNvSpPr txBox="1"/>
          <p:nvPr/>
        </p:nvSpPr>
        <p:spPr>
          <a:xfrm>
            <a:off x="713232" y="3163824"/>
            <a:ext cx="1371600" cy="594360"/>
          </a:xfrm>
          <a:prstGeom prst="rect">
            <a:avLst/>
          </a:prstGeom>
          <a:noFill/>
        </p:spPr>
        <p:txBody>
          <a:bodyPr wrap="square" lIns="0" rIns="0" tIns="0" bIns="0">
            <a:spAutoFit/>
          </a:bodyPr>
          <a:lstStyle/>
          <a:p>
            <a:pPr>
              <a:lnSpc>
                <a:spcPct val="112000"/>
              </a:lnSpc>
              <a:spcBef>
                <a:spcPts val="0"/>
              </a:spcBef>
              <a:spcAft>
                <a:spcPts val="216"/>
              </a:spcAft>
              <a:defRPr sz="1800" b="1">
                <a:solidFill>
                  <a:srgbClr val="142F2B"/>
                </a:solidFill>
                <a:latin typeface="Arial"/>
              </a:defRPr>
            </a:pPr>
            <a:r>
              <a:t>Tạo công ty</a:t>
            </a:r>
          </a:p>
        </p:txBody>
      </p:sp>
      <p:sp>
        <p:nvSpPr>
          <p:cNvPr id="12" name="TextBox 11"/>
          <p:cNvSpPr txBox="1"/>
          <p:nvPr/>
        </p:nvSpPr>
        <p:spPr>
          <a:xfrm>
            <a:off x="713232" y="3776472"/>
            <a:ext cx="1371600" cy="411480"/>
          </a:xfrm>
          <a:prstGeom prst="rect">
            <a:avLst/>
          </a:prstGeom>
          <a:noFill/>
        </p:spPr>
        <p:txBody>
          <a:bodyPr wrap="square" lIns="0" rIns="0" tIns="0" bIns="0">
            <a:spAutoFit/>
          </a:bodyPr>
          <a:lstStyle/>
          <a:p>
            <a:pPr>
              <a:lnSpc>
                <a:spcPct val="112000"/>
              </a:lnSpc>
              <a:spcBef>
                <a:spcPts val="0"/>
              </a:spcBef>
              <a:spcAft>
                <a:spcPts val="131"/>
              </a:spcAft>
              <a:defRPr sz="1100" b="0">
                <a:solidFill>
                  <a:srgbClr val="64776F"/>
                </a:solidFill>
                <a:latin typeface="Arial"/>
              </a:defRPr>
            </a:pPr>
            <a:r>
              <a:t>Recruiter → Admin duyệt</a:t>
            </a:r>
          </a:p>
        </p:txBody>
      </p:sp>
      <p:sp>
        <p:nvSpPr>
          <p:cNvPr id="13" name="Right Arrow 12"/>
          <p:cNvSpPr/>
          <p:nvPr/>
        </p:nvSpPr>
        <p:spPr>
          <a:xfrm>
            <a:off x="2249424" y="3200400"/>
            <a:ext cx="155448" cy="137160"/>
          </a:xfrm>
          <a:prstGeom prst="rightArrow">
            <a:avLst/>
          </a:prstGeom>
          <a:solidFill>
            <a:srgbClr val="078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441448" y="2414016"/>
            <a:ext cx="1664208" cy="1828800"/>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06040" y="2633472"/>
            <a:ext cx="1325880" cy="411480"/>
          </a:xfrm>
          <a:prstGeom prst="rect">
            <a:avLst/>
          </a:prstGeom>
          <a:noFill/>
        </p:spPr>
        <p:txBody>
          <a:bodyPr wrap="square" lIns="0" rIns="0" tIns="0" bIns="0">
            <a:spAutoFit/>
          </a:bodyPr>
          <a:lstStyle/>
          <a:p>
            <a:pPr>
              <a:lnSpc>
                <a:spcPct val="112000"/>
              </a:lnSpc>
              <a:spcBef>
                <a:spcPts val="0"/>
              </a:spcBef>
              <a:spcAft>
                <a:spcPts val="312"/>
              </a:spcAft>
              <a:defRPr sz="2600" b="1">
                <a:solidFill>
                  <a:srgbClr val="07824D"/>
                </a:solidFill>
                <a:latin typeface="Arial"/>
              </a:defRPr>
            </a:pPr>
            <a:r>
              <a:t>02</a:t>
            </a:r>
          </a:p>
        </p:txBody>
      </p:sp>
      <p:sp>
        <p:nvSpPr>
          <p:cNvPr id="16" name="TextBox 15"/>
          <p:cNvSpPr txBox="1"/>
          <p:nvPr/>
        </p:nvSpPr>
        <p:spPr>
          <a:xfrm>
            <a:off x="2606040" y="3163824"/>
            <a:ext cx="1371600" cy="594360"/>
          </a:xfrm>
          <a:prstGeom prst="rect">
            <a:avLst/>
          </a:prstGeom>
          <a:noFill/>
        </p:spPr>
        <p:txBody>
          <a:bodyPr wrap="square" lIns="0" rIns="0" tIns="0" bIns="0">
            <a:spAutoFit/>
          </a:bodyPr>
          <a:lstStyle/>
          <a:p>
            <a:pPr>
              <a:lnSpc>
                <a:spcPct val="112000"/>
              </a:lnSpc>
              <a:spcBef>
                <a:spcPts val="0"/>
              </a:spcBef>
              <a:spcAft>
                <a:spcPts val="216"/>
              </a:spcAft>
              <a:defRPr sz="1800" b="1">
                <a:solidFill>
                  <a:srgbClr val="142F2B"/>
                </a:solidFill>
                <a:latin typeface="Arial"/>
              </a:defRPr>
            </a:pPr>
            <a:r>
              <a:t>Đăng tin</a:t>
            </a:r>
          </a:p>
        </p:txBody>
      </p:sp>
      <p:sp>
        <p:nvSpPr>
          <p:cNvPr id="17" name="TextBox 16"/>
          <p:cNvSpPr txBox="1"/>
          <p:nvPr/>
        </p:nvSpPr>
        <p:spPr>
          <a:xfrm>
            <a:off x="2606040" y="3776472"/>
            <a:ext cx="1371600" cy="411480"/>
          </a:xfrm>
          <a:prstGeom prst="rect">
            <a:avLst/>
          </a:prstGeom>
          <a:noFill/>
        </p:spPr>
        <p:txBody>
          <a:bodyPr wrap="square" lIns="0" rIns="0" tIns="0" bIns="0">
            <a:spAutoFit/>
          </a:bodyPr>
          <a:lstStyle/>
          <a:p>
            <a:pPr>
              <a:lnSpc>
                <a:spcPct val="112000"/>
              </a:lnSpc>
              <a:spcBef>
                <a:spcPts val="0"/>
              </a:spcBef>
              <a:spcAft>
                <a:spcPts val="131"/>
              </a:spcAft>
              <a:defRPr sz="1100" b="0">
                <a:solidFill>
                  <a:srgbClr val="64776F"/>
                </a:solidFill>
                <a:latin typeface="Arial"/>
              </a:defRPr>
            </a:pPr>
            <a:r>
              <a:t>Recruiter → Admin duyệt</a:t>
            </a:r>
          </a:p>
        </p:txBody>
      </p:sp>
      <p:sp>
        <p:nvSpPr>
          <p:cNvPr id="18" name="Right Arrow 17"/>
          <p:cNvSpPr/>
          <p:nvPr/>
        </p:nvSpPr>
        <p:spPr>
          <a:xfrm>
            <a:off x="4142232" y="3200400"/>
            <a:ext cx="155448" cy="137160"/>
          </a:xfrm>
          <a:prstGeom prst="rightArrow">
            <a:avLst/>
          </a:prstGeom>
          <a:solidFill>
            <a:srgbClr val="078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334255" y="2414016"/>
            <a:ext cx="1664208" cy="1828800"/>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98847" y="2633472"/>
            <a:ext cx="1325880" cy="411480"/>
          </a:xfrm>
          <a:prstGeom prst="rect">
            <a:avLst/>
          </a:prstGeom>
          <a:noFill/>
        </p:spPr>
        <p:txBody>
          <a:bodyPr wrap="square" lIns="0" rIns="0" tIns="0" bIns="0">
            <a:spAutoFit/>
          </a:bodyPr>
          <a:lstStyle/>
          <a:p>
            <a:pPr>
              <a:lnSpc>
                <a:spcPct val="112000"/>
              </a:lnSpc>
              <a:spcBef>
                <a:spcPts val="0"/>
              </a:spcBef>
              <a:spcAft>
                <a:spcPts val="312"/>
              </a:spcAft>
              <a:defRPr sz="2600" b="1">
                <a:solidFill>
                  <a:srgbClr val="07824D"/>
                </a:solidFill>
                <a:latin typeface="Arial"/>
              </a:defRPr>
            </a:pPr>
            <a:r>
              <a:t>03</a:t>
            </a:r>
          </a:p>
        </p:txBody>
      </p:sp>
      <p:sp>
        <p:nvSpPr>
          <p:cNvPr id="21" name="TextBox 20"/>
          <p:cNvSpPr txBox="1"/>
          <p:nvPr/>
        </p:nvSpPr>
        <p:spPr>
          <a:xfrm>
            <a:off x="4498847" y="3163824"/>
            <a:ext cx="1371600" cy="594360"/>
          </a:xfrm>
          <a:prstGeom prst="rect">
            <a:avLst/>
          </a:prstGeom>
          <a:noFill/>
        </p:spPr>
        <p:txBody>
          <a:bodyPr wrap="square" lIns="0" rIns="0" tIns="0" bIns="0">
            <a:spAutoFit/>
          </a:bodyPr>
          <a:lstStyle/>
          <a:p>
            <a:pPr>
              <a:lnSpc>
                <a:spcPct val="112000"/>
              </a:lnSpc>
              <a:spcBef>
                <a:spcPts val="0"/>
              </a:spcBef>
              <a:spcAft>
                <a:spcPts val="216"/>
              </a:spcAft>
              <a:defRPr sz="1800" b="1">
                <a:solidFill>
                  <a:srgbClr val="142F2B"/>
                </a:solidFill>
                <a:latin typeface="Arial"/>
              </a:defRPr>
            </a:pPr>
            <a:r>
              <a:t>Nộp hồ sơ</a:t>
            </a:r>
          </a:p>
        </p:txBody>
      </p:sp>
      <p:sp>
        <p:nvSpPr>
          <p:cNvPr id="22" name="TextBox 21"/>
          <p:cNvSpPr txBox="1"/>
          <p:nvPr/>
        </p:nvSpPr>
        <p:spPr>
          <a:xfrm>
            <a:off x="4498847" y="3776472"/>
            <a:ext cx="1371600" cy="411480"/>
          </a:xfrm>
          <a:prstGeom prst="rect">
            <a:avLst/>
          </a:prstGeom>
          <a:noFill/>
        </p:spPr>
        <p:txBody>
          <a:bodyPr wrap="square" lIns="0" rIns="0" tIns="0" bIns="0">
            <a:spAutoFit/>
          </a:bodyPr>
          <a:lstStyle/>
          <a:p>
            <a:pPr>
              <a:lnSpc>
                <a:spcPct val="112000"/>
              </a:lnSpc>
              <a:spcBef>
                <a:spcPts val="0"/>
              </a:spcBef>
              <a:spcAft>
                <a:spcPts val="131"/>
              </a:spcAft>
              <a:defRPr sz="1100" b="0">
                <a:solidFill>
                  <a:srgbClr val="64776F"/>
                </a:solidFill>
                <a:latin typeface="Arial"/>
              </a:defRPr>
            </a:pPr>
            <a:r>
              <a:t>Candidate chọn CV</a:t>
            </a:r>
          </a:p>
        </p:txBody>
      </p:sp>
      <p:sp>
        <p:nvSpPr>
          <p:cNvPr id="23" name="Right Arrow 22"/>
          <p:cNvSpPr/>
          <p:nvPr/>
        </p:nvSpPr>
        <p:spPr>
          <a:xfrm>
            <a:off x="6035040" y="3200400"/>
            <a:ext cx="155448" cy="137160"/>
          </a:xfrm>
          <a:prstGeom prst="rightArrow">
            <a:avLst/>
          </a:prstGeom>
          <a:solidFill>
            <a:srgbClr val="078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227063" y="2414016"/>
            <a:ext cx="1664208" cy="1828800"/>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91655" y="2633472"/>
            <a:ext cx="1325880" cy="411480"/>
          </a:xfrm>
          <a:prstGeom prst="rect">
            <a:avLst/>
          </a:prstGeom>
          <a:noFill/>
        </p:spPr>
        <p:txBody>
          <a:bodyPr wrap="square" lIns="0" rIns="0" tIns="0" bIns="0">
            <a:spAutoFit/>
          </a:bodyPr>
          <a:lstStyle/>
          <a:p>
            <a:pPr>
              <a:lnSpc>
                <a:spcPct val="112000"/>
              </a:lnSpc>
              <a:spcBef>
                <a:spcPts val="0"/>
              </a:spcBef>
              <a:spcAft>
                <a:spcPts val="312"/>
              </a:spcAft>
              <a:defRPr sz="2600" b="1">
                <a:solidFill>
                  <a:srgbClr val="07824D"/>
                </a:solidFill>
                <a:latin typeface="Arial"/>
              </a:defRPr>
            </a:pPr>
            <a:r>
              <a:t>04</a:t>
            </a:r>
          </a:p>
        </p:txBody>
      </p:sp>
      <p:sp>
        <p:nvSpPr>
          <p:cNvPr id="26" name="TextBox 25"/>
          <p:cNvSpPr txBox="1"/>
          <p:nvPr/>
        </p:nvSpPr>
        <p:spPr>
          <a:xfrm>
            <a:off x="6391655" y="3163824"/>
            <a:ext cx="1371600" cy="594360"/>
          </a:xfrm>
          <a:prstGeom prst="rect">
            <a:avLst/>
          </a:prstGeom>
          <a:noFill/>
        </p:spPr>
        <p:txBody>
          <a:bodyPr wrap="square" lIns="0" rIns="0" tIns="0" bIns="0">
            <a:spAutoFit/>
          </a:bodyPr>
          <a:lstStyle/>
          <a:p>
            <a:pPr>
              <a:lnSpc>
                <a:spcPct val="112000"/>
              </a:lnSpc>
              <a:spcBef>
                <a:spcPts val="0"/>
              </a:spcBef>
              <a:spcAft>
                <a:spcPts val="216"/>
              </a:spcAft>
              <a:defRPr sz="1800" b="1">
                <a:solidFill>
                  <a:srgbClr val="142F2B"/>
                </a:solidFill>
                <a:latin typeface="Arial"/>
              </a:defRPr>
            </a:pPr>
            <a:r>
              <a:t>Sàng lọc</a:t>
            </a:r>
          </a:p>
        </p:txBody>
      </p:sp>
      <p:sp>
        <p:nvSpPr>
          <p:cNvPr id="27" name="TextBox 26"/>
          <p:cNvSpPr txBox="1"/>
          <p:nvPr/>
        </p:nvSpPr>
        <p:spPr>
          <a:xfrm>
            <a:off x="6391655" y="3776472"/>
            <a:ext cx="1371600" cy="411480"/>
          </a:xfrm>
          <a:prstGeom prst="rect">
            <a:avLst/>
          </a:prstGeom>
          <a:noFill/>
        </p:spPr>
        <p:txBody>
          <a:bodyPr wrap="square" lIns="0" rIns="0" tIns="0" bIns="0">
            <a:spAutoFit/>
          </a:bodyPr>
          <a:lstStyle/>
          <a:p>
            <a:pPr>
              <a:lnSpc>
                <a:spcPct val="112000"/>
              </a:lnSpc>
              <a:spcBef>
                <a:spcPts val="0"/>
              </a:spcBef>
              <a:spcAft>
                <a:spcPts val="131"/>
              </a:spcAft>
              <a:defRPr sz="1100" b="0">
                <a:solidFill>
                  <a:srgbClr val="64776F"/>
                </a:solidFill>
                <a:latin typeface="Arial"/>
              </a:defRPr>
            </a:pPr>
            <a:r>
              <a:t>Recruiter xử lý pipeline</a:t>
            </a:r>
          </a:p>
        </p:txBody>
      </p:sp>
      <p:sp>
        <p:nvSpPr>
          <p:cNvPr id="28" name="Right Arrow 27"/>
          <p:cNvSpPr/>
          <p:nvPr/>
        </p:nvSpPr>
        <p:spPr>
          <a:xfrm>
            <a:off x="7927847" y="3200400"/>
            <a:ext cx="155448" cy="137160"/>
          </a:xfrm>
          <a:prstGeom prst="rightArrow">
            <a:avLst/>
          </a:prstGeom>
          <a:solidFill>
            <a:srgbClr val="078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119871" y="2414016"/>
            <a:ext cx="1664208" cy="1828800"/>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84463" y="2633472"/>
            <a:ext cx="1325880" cy="411480"/>
          </a:xfrm>
          <a:prstGeom prst="rect">
            <a:avLst/>
          </a:prstGeom>
          <a:noFill/>
        </p:spPr>
        <p:txBody>
          <a:bodyPr wrap="square" lIns="0" rIns="0" tIns="0" bIns="0">
            <a:spAutoFit/>
          </a:bodyPr>
          <a:lstStyle/>
          <a:p>
            <a:pPr>
              <a:lnSpc>
                <a:spcPct val="112000"/>
              </a:lnSpc>
              <a:spcBef>
                <a:spcPts val="0"/>
              </a:spcBef>
              <a:spcAft>
                <a:spcPts val="312"/>
              </a:spcAft>
              <a:defRPr sz="2600" b="1">
                <a:solidFill>
                  <a:srgbClr val="07824D"/>
                </a:solidFill>
                <a:latin typeface="Arial"/>
              </a:defRPr>
            </a:pPr>
            <a:r>
              <a:t>05</a:t>
            </a:r>
          </a:p>
        </p:txBody>
      </p:sp>
      <p:sp>
        <p:nvSpPr>
          <p:cNvPr id="31" name="TextBox 30"/>
          <p:cNvSpPr txBox="1"/>
          <p:nvPr/>
        </p:nvSpPr>
        <p:spPr>
          <a:xfrm>
            <a:off x="8284463" y="3163824"/>
            <a:ext cx="1371600" cy="594360"/>
          </a:xfrm>
          <a:prstGeom prst="rect">
            <a:avLst/>
          </a:prstGeom>
          <a:noFill/>
        </p:spPr>
        <p:txBody>
          <a:bodyPr wrap="square" lIns="0" rIns="0" tIns="0" bIns="0">
            <a:spAutoFit/>
          </a:bodyPr>
          <a:lstStyle/>
          <a:p>
            <a:pPr>
              <a:lnSpc>
                <a:spcPct val="112000"/>
              </a:lnSpc>
              <a:spcBef>
                <a:spcPts val="0"/>
              </a:spcBef>
              <a:spcAft>
                <a:spcPts val="216"/>
              </a:spcAft>
              <a:defRPr sz="1800" b="1">
                <a:solidFill>
                  <a:srgbClr val="142F2B"/>
                </a:solidFill>
                <a:latin typeface="Arial"/>
              </a:defRPr>
            </a:pPr>
            <a:r>
              <a:t>Phỏng vấn</a:t>
            </a:r>
          </a:p>
        </p:txBody>
      </p:sp>
      <p:sp>
        <p:nvSpPr>
          <p:cNvPr id="32" name="TextBox 31"/>
          <p:cNvSpPr txBox="1"/>
          <p:nvPr/>
        </p:nvSpPr>
        <p:spPr>
          <a:xfrm>
            <a:off x="8284463" y="3776472"/>
            <a:ext cx="1371600" cy="411480"/>
          </a:xfrm>
          <a:prstGeom prst="rect">
            <a:avLst/>
          </a:prstGeom>
          <a:noFill/>
        </p:spPr>
        <p:txBody>
          <a:bodyPr wrap="square" lIns="0" rIns="0" tIns="0" bIns="0">
            <a:spAutoFit/>
          </a:bodyPr>
          <a:lstStyle/>
          <a:p>
            <a:pPr>
              <a:lnSpc>
                <a:spcPct val="112000"/>
              </a:lnSpc>
              <a:spcBef>
                <a:spcPts val="0"/>
              </a:spcBef>
              <a:spcAft>
                <a:spcPts val="131"/>
              </a:spcAft>
              <a:defRPr sz="1100" b="0">
                <a:solidFill>
                  <a:srgbClr val="64776F"/>
                </a:solidFill>
                <a:latin typeface="Arial"/>
              </a:defRPr>
            </a:pPr>
            <a:r>
              <a:t>Đặt lịch trực tiếp</a:t>
            </a:r>
          </a:p>
        </p:txBody>
      </p:sp>
      <p:sp>
        <p:nvSpPr>
          <p:cNvPr id="33" name="Right Arrow 32"/>
          <p:cNvSpPr/>
          <p:nvPr/>
        </p:nvSpPr>
        <p:spPr>
          <a:xfrm>
            <a:off x="9820655" y="3200400"/>
            <a:ext cx="155448" cy="137160"/>
          </a:xfrm>
          <a:prstGeom prst="rightArrow">
            <a:avLst/>
          </a:prstGeom>
          <a:solidFill>
            <a:srgbClr val="078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0012680" y="2414016"/>
            <a:ext cx="1664208" cy="1828800"/>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77272" y="2633472"/>
            <a:ext cx="1325880" cy="411480"/>
          </a:xfrm>
          <a:prstGeom prst="rect">
            <a:avLst/>
          </a:prstGeom>
          <a:noFill/>
        </p:spPr>
        <p:txBody>
          <a:bodyPr wrap="square" lIns="0" rIns="0" tIns="0" bIns="0">
            <a:spAutoFit/>
          </a:bodyPr>
          <a:lstStyle/>
          <a:p>
            <a:pPr>
              <a:lnSpc>
                <a:spcPct val="112000"/>
              </a:lnSpc>
              <a:spcBef>
                <a:spcPts val="0"/>
              </a:spcBef>
              <a:spcAft>
                <a:spcPts val="312"/>
              </a:spcAft>
              <a:defRPr sz="2600" b="1">
                <a:solidFill>
                  <a:srgbClr val="07824D"/>
                </a:solidFill>
                <a:latin typeface="Arial"/>
              </a:defRPr>
            </a:pPr>
            <a:r>
              <a:t>06</a:t>
            </a:r>
          </a:p>
        </p:txBody>
      </p:sp>
      <p:sp>
        <p:nvSpPr>
          <p:cNvPr id="36" name="TextBox 35"/>
          <p:cNvSpPr txBox="1"/>
          <p:nvPr/>
        </p:nvSpPr>
        <p:spPr>
          <a:xfrm>
            <a:off x="10177272" y="3163824"/>
            <a:ext cx="1371600" cy="594360"/>
          </a:xfrm>
          <a:prstGeom prst="rect">
            <a:avLst/>
          </a:prstGeom>
          <a:noFill/>
        </p:spPr>
        <p:txBody>
          <a:bodyPr wrap="square" lIns="0" rIns="0" tIns="0" bIns="0">
            <a:spAutoFit/>
          </a:bodyPr>
          <a:lstStyle/>
          <a:p>
            <a:pPr>
              <a:lnSpc>
                <a:spcPct val="112000"/>
              </a:lnSpc>
              <a:spcBef>
                <a:spcPts val="0"/>
              </a:spcBef>
              <a:spcAft>
                <a:spcPts val="216"/>
              </a:spcAft>
              <a:defRPr sz="1800" b="1">
                <a:solidFill>
                  <a:srgbClr val="142F2B"/>
                </a:solidFill>
                <a:latin typeface="Arial"/>
              </a:defRPr>
            </a:pPr>
            <a:r>
              <a:t>Offer &amp; nhận việc</a:t>
            </a:r>
          </a:p>
        </p:txBody>
      </p:sp>
      <p:sp>
        <p:nvSpPr>
          <p:cNvPr id="37" name="TextBox 36"/>
          <p:cNvSpPr txBox="1"/>
          <p:nvPr/>
        </p:nvSpPr>
        <p:spPr>
          <a:xfrm>
            <a:off x="10177272" y="3776472"/>
            <a:ext cx="1371600" cy="411480"/>
          </a:xfrm>
          <a:prstGeom prst="rect">
            <a:avLst/>
          </a:prstGeom>
          <a:noFill/>
        </p:spPr>
        <p:txBody>
          <a:bodyPr wrap="square" lIns="0" rIns="0" tIns="0" bIns="0">
            <a:spAutoFit/>
          </a:bodyPr>
          <a:lstStyle/>
          <a:p>
            <a:pPr>
              <a:lnSpc>
                <a:spcPct val="112000"/>
              </a:lnSpc>
              <a:spcBef>
                <a:spcPts val="0"/>
              </a:spcBef>
              <a:spcAft>
                <a:spcPts val="131"/>
              </a:spcAft>
              <a:defRPr sz="1100" b="0">
                <a:solidFill>
                  <a:srgbClr val="64776F"/>
                </a:solidFill>
                <a:latin typeface="Arial"/>
              </a:defRPr>
            </a:pPr>
            <a:r>
              <a:t>Candidate chấp nhận</a:t>
            </a:r>
          </a:p>
        </p:txBody>
      </p:sp>
      <p:sp>
        <p:nvSpPr>
          <p:cNvPr id="38" name="Rounded Rectangle 37"/>
          <p:cNvSpPr/>
          <p:nvPr/>
        </p:nvSpPr>
        <p:spPr>
          <a:xfrm>
            <a:off x="548640" y="4636008"/>
            <a:ext cx="11128248" cy="621792"/>
          </a:xfrm>
          <a:prstGeom prst="roundRect">
            <a:avLst>
              <a:gd name="adj" fmla="val 12000"/>
            </a:avLst>
          </a:prstGeom>
          <a:solidFill>
            <a:srgbClr val="E0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 y="4818888"/>
            <a:ext cx="10762488" cy="274320"/>
          </a:xfrm>
          <a:prstGeom prst="rect">
            <a:avLst/>
          </a:prstGeom>
          <a:noFill/>
        </p:spPr>
        <p:txBody>
          <a:bodyPr wrap="square" lIns="0" rIns="0" tIns="0" bIns="0">
            <a:spAutoFit/>
          </a:bodyPr>
          <a:lstStyle/>
          <a:p>
            <a:pPr algn="ctr">
              <a:lnSpc>
                <a:spcPct val="112000"/>
              </a:lnSpc>
              <a:spcBef>
                <a:spcPts val="0"/>
              </a:spcBef>
              <a:spcAft>
                <a:spcPts val="192"/>
              </a:spcAft>
              <a:defRPr sz="1600" b="1">
                <a:solidFill>
                  <a:srgbClr val="07824D"/>
                </a:solidFill>
                <a:latin typeface="Arial"/>
              </a:defRPr>
            </a:pPr>
            <a:r>
              <a:t>XUYÊN SUỐT:  xác thực &amp; phân quyền   /   thông báo   /   chat   /   cuộc gọi từ tin nhắn</a:t>
            </a:r>
          </a:p>
        </p:txBody>
      </p:sp>
      <p:sp>
        <p:nvSpPr>
          <p:cNvPr id="40" name="TextBox 39"/>
          <p:cNvSpPr txBox="1"/>
          <p:nvPr/>
        </p:nvSpPr>
        <p:spPr>
          <a:xfrm>
            <a:off x="640080" y="5596128"/>
            <a:ext cx="10881360" cy="411480"/>
          </a:xfrm>
          <a:prstGeom prst="rect">
            <a:avLst/>
          </a:prstGeom>
          <a:noFill/>
        </p:spPr>
        <p:txBody>
          <a:bodyPr wrap="square" lIns="0" rIns="0" tIns="0" bIns="0">
            <a:spAutoFit/>
          </a:bodyPr>
          <a:lstStyle/>
          <a:p>
            <a:pPr algn="ctr">
              <a:lnSpc>
                <a:spcPct val="112000"/>
              </a:lnSpc>
              <a:spcBef>
                <a:spcPts val="0"/>
              </a:spcBef>
              <a:spcAft>
                <a:spcPts val="192"/>
              </a:spcAft>
              <a:defRPr sz="1600" b="0">
                <a:solidFill>
                  <a:srgbClr val="64776F"/>
                </a:solidFill>
                <a:latin typeface="Arial"/>
              </a:defRPr>
            </a:pPr>
            <a:r>
              <a:t>Đơn lưu snapshot CV đã nộp; lịch hẹn hiện hỗ trợ OFFLINE; offer được kiểm tra phiên bản.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5"/>
        </a:solidFill>
        <a:effectLst/>
      </p:bgPr>
    </p:bg>
    <p:spTree>
      <p:nvGrpSpPr>
        <p:cNvPr id="1" name=""/>
        <p:cNvGrpSpPr/>
        <p:nvPr/>
      </p:nvGrpSpPr>
      <p:grpSpPr/>
      <p:sp>
        <p:nvSpPr>
          <p:cNvPr id="2" name="TextBox 1"/>
          <p:cNvSpPr txBox="1"/>
          <p:nvPr/>
        </p:nvSpPr>
        <p:spPr>
          <a:xfrm>
            <a:off x="502920" y="256032"/>
            <a:ext cx="4572000" cy="201168"/>
          </a:xfrm>
          <a:prstGeom prst="rect">
            <a:avLst/>
          </a:prstGeom>
          <a:noFill/>
        </p:spPr>
        <p:txBody>
          <a:bodyPr wrap="square" lIns="0" rIns="0" tIns="0" bIns="0">
            <a:spAutoFit/>
          </a:bodyPr>
          <a:lstStyle/>
          <a:p>
            <a:pPr>
              <a:lnSpc>
                <a:spcPct val="112000"/>
              </a:lnSpc>
              <a:spcBef>
                <a:spcPts val="0"/>
              </a:spcBef>
              <a:spcAft>
                <a:spcPts val="108"/>
              </a:spcAft>
              <a:defRPr sz="900" b="1">
                <a:solidFill>
                  <a:srgbClr val="07824D"/>
                </a:solidFill>
                <a:latin typeface="Arial"/>
              </a:defRPr>
            </a:pPr>
            <a:r>
              <a:t>CAREERHUB  /  RECRUITMENT SYSTEM</a:t>
            </a:r>
          </a:p>
        </p:txBody>
      </p:sp>
      <p:sp>
        <p:nvSpPr>
          <p:cNvPr id="3" name="TextBox 2"/>
          <p:cNvSpPr txBox="1"/>
          <p:nvPr/>
        </p:nvSpPr>
        <p:spPr>
          <a:xfrm>
            <a:off x="8321040" y="256032"/>
            <a:ext cx="3364992" cy="201168"/>
          </a:xfrm>
          <a:prstGeom prst="rect">
            <a:avLst/>
          </a:prstGeom>
          <a:noFill/>
        </p:spPr>
        <p:txBody>
          <a:bodyPr wrap="square" lIns="0" rIns="0" tIns="0" bIns="0">
            <a:spAutoFit/>
          </a:bodyPr>
          <a:lstStyle/>
          <a:p>
            <a:pPr algn="r">
              <a:lnSpc>
                <a:spcPct val="112000"/>
              </a:lnSpc>
              <a:spcBef>
                <a:spcPts val="0"/>
              </a:spcBef>
              <a:spcAft>
                <a:spcPts val="108"/>
              </a:spcAft>
              <a:defRPr sz="900" b="0">
                <a:solidFill>
                  <a:srgbClr val="64776F"/>
                </a:solidFill>
                <a:latin typeface="Arial"/>
              </a:defRPr>
            </a:pPr>
            <a:r>
              <a:t>CHỨC NĂNG CHÍNH</a:t>
            </a:r>
          </a:p>
        </p:txBody>
      </p:sp>
      <p:sp>
        <p:nvSpPr>
          <p:cNvPr id="4" name="TextBox 3"/>
          <p:cNvSpPr txBox="1"/>
          <p:nvPr/>
        </p:nvSpPr>
        <p:spPr>
          <a:xfrm>
            <a:off x="502920" y="749808"/>
            <a:ext cx="11109960" cy="621792"/>
          </a:xfrm>
          <a:prstGeom prst="rect">
            <a:avLst/>
          </a:prstGeom>
          <a:noFill/>
        </p:spPr>
        <p:txBody>
          <a:bodyPr wrap="square" lIns="0" rIns="0" tIns="0" bIns="0">
            <a:spAutoFit/>
          </a:bodyPr>
          <a:lstStyle/>
          <a:p>
            <a:pPr>
              <a:lnSpc>
                <a:spcPct val="112000"/>
              </a:lnSpc>
              <a:spcBef>
                <a:spcPts val="0"/>
              </a:spcBef>
              <a:spcAft>
                <a:spcPts val="359"/>
              </a:spcAft>
              <a:defRPr sz="3000" b="1">
                <a:solidFill>
                  <a:srgbClr val="142F2B"/>
                </a:solidFill>
                <a:latin typeface="Arial"/>
              </a:defRPr>
            </a:pPr>
            <a:r>
              <a:t>Các nhóm chức năng đã có bằng chứng chạy thật</a:t>
            </a:r>
          </a:p>
        </p:txBody>
      </p:sp>
      <p:sp>
        <p:nvSpPr>
          <p:cNvPr id="5" name="TextBox 4"/>
          <p:cNvSpPr txBox="1"/>
          <p:nvPr/>
        </p:nvSpPr>
        <p:spPr>
          <a:xfrm>
            <a:off x="530352" y="1444752"/>
            <a:ext cx="11018520" cy="484632"/>
          </a:xfrm>
          <a:prstGeom prst="rect">
            <a:avLst/>
          </a:prstGeom>
          <a:noFill/>
        </p:spPr>
        <p:txBody>
          <a:bodyPr wrap="square" lIns="0" rIns="0" tIns="0" bIns="0">
            <a:spAutoFit/>
          </a:bodyPr>
          <a:lstStyle/>
          <a:p>
            <a:pPr>
              <a:lnSpc>
                <a:spcPct val="112000"/>
              </a:lnSpc>
              <a:spcBef>
                <a:spcPts val="0"/>
              </a:spcBef>
              <a:spcAft>
                <a:spcPts val="168"/>
              </a:spcAft>
              <a:defRPr sz="1400" b="0">
                <a:solidFill>
                  <a:srgbClr val="64776F"/>
                </a:solidFill>
                <a:latin typeface="Arial"/>
              </a:defRPr>
            </a:pPr>
            <a:r>
              <a:t>Kết quả chức năng trên Docker local theo báo cáo hệ thống ngày 16/10/2026.</a:t>
            </a:r>
          </a:p>
        </p:txBody>
      </p:sp>
      <p:cxnSp>
        <p:nvCxnSpPr>
          <p:cNvPr id="6" name="Connector 5"/>
          <p:cNvCxnSpPr/>
          <p:nvPr/>
        </p:nvCxnSpPr>
        <p:spPr>
          <a:xfrm>
            <a:off x="502920" y="6437376"/>
            <a:ext cx="11183112" cy="0"/>
          </a:xfrm>
          <a:prstGeom prst="line">
            <a:avLst/>
          </a:prstGeom>
          <a:ln w="8890">
            <a:solidFill>
              <a:srgbClr val="D6E2D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12064" y="6537960"/>
            <a:ext cx="10287000" cy="173736"/>
          </a:xfrm>
          <a:prstGeom prst="rect">
            <a:avLst/>
          </a:prstGeom>
          <a:noFill/>
        </p:spPr>
        <p:txBody>
          <a:bodyPr wrap="square" lIns="0" rIns="0" tIns="0" bIns="0">
            <a:spAutoFit/>
          </a:bodyPr>
          <a:lstStyle/>
          <a:p>
            <a:pPr>
              <a:lnSpc>
                <a:spcPct val="112000"/>
              </a:lnSpc>
              <a:spcBef>
                <a:spcPts val="0"/>
              </a:spcBef>
              <a:spcAft>
                <a:spcPts val="96"/>
              </a:spcAft>
              <a:defRPr sz="800" b="0">
                <a:solidFill>
                  <a:srgbClr val="64776F"/>
                </a:solidFill>
                <a:latin typeface="Arial"/>
              </a:defRPr>
            </a:pPr>
            <a:r>
              <a:t>Nguồn: docs/system-regression-2026-10-16.md · Phạm vi đã kiểm chứng theo từng luồng, không phải hoàn tất mọi yêu cầu.</a:t>
            </a:r>
          </a:p>
        </p:txBody>
      </p:sp>
      <p:sp>
        <p:nvSpPr>
          <p:cNvPr id="8" name="TextBox 7"/>
          <p:cNvSpPr txBox="1"/>
          <p:nvPr/>
        </p:nvSpPr>
        <p:spPr>
          <a:xfrm>
            <a:off x="10881360" y="6510528"/>
            <a:ext cx="795528" cy="210312"/>
          </a:xfrm>
          <a:prstGeom prst="rect">
            <a:avLst/>
          </a:prstGeom>
          <a:noFill/>
        </p:spPr>
        <p:txBody>
          <a:bodyPr wrap="square" lIns="0" rIns="0" tIns="0" bIns="0">
            <a:spAutoFit/>
          </a:bodyPr>
          <a:lstStyle/>
          <a:p>
            <a:pPr algn="r">
              <a:lnSpc>
                <a:spcPct val="112000"/>
              </a:lnSpc>
              <a:spcBef>
                <a:spcPts val="0"/>
              </a:spcBef>
              <a:spcAft>
                <a:spcPts val="108"/>
              </a:spcAft>
              <a:defRPr sz="900" b="0">
                <a:solidFill>
                  <a:srgbClr val="64776F"/>
                </a:solidFill>
                <a:latin typeface="Arial"/>
              </a:defRPr>
            </a:pPr>
            <a:r>
              <a:t>05 / 16</a:t>
            </a:r>
          </a:p>
        </p:txBody>
      </p:sp>
      <p:sp>
        <p:nvSpPr>
          <p:cNvPr id="9" name="Rounded Rectangle 8"/>
          <p:cNvSpPr/>
          <p:nvPr/>
        </p:nvSpPr>
        <p:spPr>
          <a:xfrm>
            <a:off x="548640" y="2121408"/>
            <a:ext cx="5440680" cy="1709928"/>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21408"/>
            <a:ext cx="64008" cy="1709928"/>
          </a:xfrm>
          <a:prstGeom prst="rect">
            <a:avLst/>
          </a:prstGeom>
          <a:solidFill>
            <a:srgbClr val="078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322576"/>
            <a:ext cx="4901184" cy="356616"/>
          </a:xfrm>
          <a:prstGeom prst="rect">
            <a:avLst/>
          </a:prstGeom>
          <a:noFill/>
        </p:spPr>
        <p:txBody>
          <a:bodyPr wrap="square" lIns="0" rIns="0" tIns="0" bIns="0">
            <a:spAutoFit/>
          </a:bodyPr>
          <a:lstStyle/>
          <a:p>
            <a:pPr>
              <a:lnSpc>
                <a:spcPct val="112000"/>
              </a:lnSpc>
              <a:spcBef>
                <a:spcPts val="0"/>
              </a:spcBef>
              <a:spcAft>
                <a:spcPts val="252"/>
              </a:spcAft>
              <a:defRPr sz="2100" b="1">
                <a:solidFill>
                  <a:srgbClr val="142F2B"/>
                </a:solidFill>
                <a:latin typeface="Arial"/>
              </a:defRPr>
            </a:pPr>
            <a:r>
              <a:t>Danh tính &amp; hồ sơ</a:t>
            </a:r>
          </a:p>
        </p:txBody>
      </p:sp>
      <p:sp>
        <p:nvSpPr>
          <p:cNvPr id="12" name="TextBox 11"/>
          <p:cNvSpPr txBox="1"/>
          <p:nvPr/>
        </p:nvSpPr>
        <p:spPr>
          <a:xfrm>
            <a:off x="804672" y="2843784"/>
            <a:ext cx="4901184" cy="877824"/>
          </a:xfrm>
          <a:prstGeom prst="rect">
            <a:avLst/>
          </a:prstGeom>
          <a:noFill/>
        </p:spPr>
        <p:txBody>
          <a:bodyPr wrap="square" lIns="0" rIns="0" tIns="0" bIns="0">
            <a:spAutoFit/>
          </a:bodyPr>
          <a:lstStyle/>
          <a:p>
            <a:pPr>
              <a:lnSpc>
                <a:spcPct val="112000"/>
              </a:lnSpc>
              <a:spcBef>
                <a:spcPts val="0"/>
              </a:spcBef>
              <a:spcAft>
                <a:spcPts val="192"/>
              </a:spcAft>
              <a:defRPr sz="1600" b="0">
                <a:solidFill>
                  <a:srgbClr val="64776F"/>
                </a:solidFill>
                <a:latin typeface="Arial"/>
              </a:defRPr>
            </a:pPr>
            <a:r>
              <a:t>Đăng nhập 3 vai trò, OTP/Google</a:t>
            </a:r>
          </a:p>
          <a:p>
            <a:pPr>
              <a:lnSpc>
                <a:spcPct val="112000"/>
              </a:lnSpc>
              <a:spcBef>
                <a:spcPts val="0"/>
              </a:spcBef>
              <a:spcAft>
                <a:spcPts val="192"/>
              </a:spcAft>
              <a:defRPr sz="1600" b="0">
                <a:solidFill>
                  <a:srgbClr val="64776F"/>
                </a:solidFill>
                <a:latin typeface="Arial"/>
              </a:defRPr>
            </a:pPr>
            <a:r>
              <a:t>Hồ sơ ứng viên, CV riêng tư</a:t>
            </a:r>
          </a:p>
          <a:p>
            <a:pPr>
              <a:lnSpc>
                <a:spcPct val="112000"/>
              </a:lnSpc>
              <a:spcBef>
                <a:spcPts val="0"/>
              </a:spcBef>
              <a:spcAft>
                <a:spcPts val="192"/>
              </a:spcAft>
              <a:defRPr sz="1600" b="0">
                <a:solidFill>
                  <a:srgbClr val="64776F"/>
                </a:solidFill>
                <a:latin typeface="Arial"/>
              </a:defRPr>
            </a:pPr>
            <a:r>
              <a:t>Upload và tải file qua Cloudinary</a:t>
            </a:r>
          </a:p>
        </p:txBody>
      </p:sp>
      <p:sp>
        <p:nvSpPr>
          <p:cNvPr id="13" name="Rounded Rectangle 12"/>
          <p:cNvSpPr/>
          <p:nvPr/>
        </p:nvSpPr>
        <p:spPr>
          <a:xfrm>
            <a:off x="6227064" y="2121408"/>
            <a:ext cx="5440680" cy="1709928"/>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27064" y="2121408"/>
            <a:ext cx="64008" cy="1709928"/>
          </a:xfrm>
          <a:prstGeom prst="rect">
            <a:avLst/>
          </a:prstGeom>
          <a:solidFill>
            <a:srgbClr val="078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3096" y="2322576"/>
            <a:ext cx="4901184" cy="356616"/>
          </a:xfrm>
          <a:prstGeom prst="rect">
            <a:avLst/>
          </a:prstGeom>
          <a:noFill/>
        </p:spPr>
        <p:txBody>
          <a:bodyPr wrap="square" lIns="0" rIns="0" tIns="0" bIns="0">
            <a:spAutoFit/>
          </a:bodyPr>
          <a:lstStyle/>
          <a:p>
            <a:pPr>
              <a:lnSpc>
                <a:spcPct val="112000"/>
              </a:lnSpc>
              <a:spcBef>
                <a:spcPts val="0"/>
              </a:spcBef>
              <a:spcAft>
                <a:spcPts val="252"/>
              </a:spcAft>
              <a:defRPr sz="2100" b="1">
                <a:solidFill>
                  <a:srgbClr val="142F2B"/>
                </a:solidFill>
                <a:latin typeface="Arial"/>
              </a:defRPr>
            </a:pPr>
            <a:r>
              <a:t>Tuyển dụng &amp; ứng tuyển</a:t>
            </a:r>
          </a:p>
        </p:txBody>
      </p:sp>
      <p:sp>
        <p:nvSpPr>
          <p:cNvPr id="16" name="TextBox 15"/>
          <p:cNvSpPr txBox="1"/>
          <p:nvPr/>
        </p:nvSpPr>
        <p:spPr>
          <a:xfrm>
            <a:off x="6483096" y="2843784"/>
            <a:ext cx="4901184" cy="877824"/>
          </a:xfrm>
          <a:prstGeom prst="rect">
            <a:avLst/>
          </a:prstGeom>
          <a:noFill/>
        </p:spPr>
        <p:txBody>
          <a:bodyPr wrap="square" lIns="0" rIns="0" tIns="0" bIns="0">
            <a:spAutoFit/>
          </a:bodyPr>
          <a:lstStyle/>
          <a:p>
            <a:pPr>
              <a:lnSpc>
                <a:spcPct val="112000"/>
              </a:lnSpc>
              <a:spcBef>
                <a:spcPts val="0"/>
              </a:spcBef>
              <a:spcAft>
                <a:spcPts val="192"/>
              </a:spcAft>
              <a:defRPr sz="1600" b="0">
                <a:solidFill>
                  <a:srgbClr val="64776F"/>
                </a:solidFill>
                <a:latin typeface="Arial"/>
              </a:defRPr>
            </a:pPr>
            <a:r>
              <a:t>Công ty, đăng tin và tìm kiếm</a:t>
            </a:r>
          </a:p>
          <a:p>
            <a:pPr>
              <a:lnSpc>
                <a:spcPct val="112000"/>
              </a:lnSpc>
              <a:spcBef>
                <a:spcPts val="0"/>
              </a:spcBef>
              <a:spcAft>
                <a:spcPts val="192"/>
              </a:spcAft>
              <a:defRPr sz="1600" b="0">
                <a:solidFill>
                  <a:srgbClr val="64776F"/>
                </a:solidFill>
                <a:latin typeface="Arial"/>
              </a:defRPr>
            </a:pPr>
            <a:r>
              <a:t>Nộp đơn, pipeline, đánh giá hồ sơ</a:t>
            </a:r>
          </a:p>
          <a:p>
            <a:pPr>
              <a:lnSpc>
                <a:spcPct val="112000"/>
              </a:lnSpc>
              <a:spcBef>
                <a:spcPts val="0"/>
              </a:spcBef>
              <a:spcAft>
                <a:spcPts val="192"/>
              </a:spcAft>
              <a:defRPr sz="1600" b="0">
                <a:solidFill>
                  <a:srgbClr val="64776F"/>
                </a:solidFill>
                <a:latin typeface="Arial"/>
              </a:defRPr>
            </a:pPr>
            <a:r>
              <a:t>Offer và chuyển trạng thái HIRED</a:t>
            </a:r>
          </a:p>
        </p:txBody>
      </p:sp>
      <p:sp>
        <p:nvSpPr>
          <p:cNvPr id="17" name="Rounded Rectangle 16"/>
          <p:cNvSpPr/>
          <p:nvPr/>
        </p:nvSpPr>
        <p:spPr>
          <a:xfrm>
            <a:off x="548640" y="4041648"/>
            <a:ext cx="5440680" cy="1709928"/>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041648"/>
            <a:ext cx="64008" cy="1709928"/>
          </a:xfrm>
          <a:prstGeom prst="rect">
            <a:avLst/>
          </a:prstGeom>
          <a:solidFill>
            <a:srgbClr val="078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4242816"/>
            <a:ext cx="4901184" cy="356616"/>
          </a:xfrm>
          <a:prstGeom prst="rect">
            <a:avLst/>
          </a:prstGeom>
          <a:noFill/>
        </p:spPr>
        <p:txBody>
          <a:bodyPr wrap="square" lIns="0" rIns="0" tIns="0" bIns="0">
            <a:spAutoFit/>
          </a:bodyPr>
          <a:lstStyle/>
          <a:p>
            <a:pPr>
              <a:lnSpc>
                <a:spcPct val="112000"/>
              </a:lnSpc>
              <a:spcBef>
                <a:spcPts val="0"/>
              </a:spcBef>
              <a:spcAft>
                <a:spcPts val="252"/>
              </a:spcAft>
              <a:defRPr sz="2100" b="1">
                <a:solidFill>
                  <a:srgbClr val="142F2B"/>
                </a:solidFill>
                <a:latin typeface="Arial"/>
              </a:defRPr>
            </a:pPr>
            <a:r>
              <a:t>Giao tiếp &amp; lịch hẹn</a:t>
            </a:r>
          </a:p>
        </p:txBody>
      </p:sp>
      <p:sp>
        <p:nvSpPr>
          <p:cNvPr id="20" name="TextBox 19"/>
          <p:cNvSpPr txBox="1"/>
          <p:nvPr/>
        </p:nvSpPr>
        <p:spPr>
          <a:xfrm>
            <a:off x="804672" y="4764024"/>
            <a:ext cx="4901184" cy="877824"/>
          </a:xfrm>
          <a:prstGeom prst="rect">
            <a:avLst/>
          </a:prstGeom>
          <a:noFill/>
        </p:spPr>
        <p:txBody>
          <a:bodyPr wrap="square" lIns="0" rIns="0" tIns="0" bIns="0">
            <a:spAutoFit/>
          </a:bodyPr>
          <a:lstStyle/>
          <a:p>
            <a:pPr>
              <a:lnSpc>
                <a:spcPct val="112000"/>
              </a:lnSpc>
              <a:spcBef>
                <a:spcPts val="0"/>
              </a:spcBef>
              <a:spcAft>
                <a:spcPts val="192"/>
              </a:spcAft>
              <a:defRPr sz="1600" b="0">
                <a:solidFill>
                  <a:srgbClr val="64776F"/>
                </a:solidFill>
                <a:latin typeface="Arial"/>
              </a:defRPr>
            </a:pPr>
            <a:r>
              <a:t>Chat lưu DB, nhận qua WebSocket</a:t>
            </a:r>
          </a:p>
          <a:p>
            <a:pPr>
              <a:lnSpc>
                <a:spcPct val="112000"/>
              </a:lnSpc>
              <a:spcBef>
                <a:spcPts val="0"/>
              </a:spcBef>
              <a:spcAft>
                <a:spcPts val="192"/>
              </a:spcAft>
              <a:defRPr sz="1600" b="0">
                <a:solidFill>
                  <a:srgbClr val="64776F"/>
                </a:solidFill>
                <a:latin typeface="Arial"/>
              </a:defRPr>
            </a:pPr>
            <a:r>
              <a:t>Thông báo Kafka → inbox/SSE</a:t>
            </a:r>
          </a:p>
          <a:p>
            <a:pPr>
              <a:lnSpc>
                <a:spcPct val="112000"/>
              </a:lnSpc>
              <a:spcBef>
                <a:spcPts val="0"/>
              </a:spcBef>
              <a:spcAft>
                <a:spcPts val="192"/>
              </a:spcAft>
              <a:defRPr sz="1600" b="0">
                <a:solidFill>
                  <a:srgbClr val="64776F"/>
                </a:solidFill>
                <a:latin typeface="Arial"/>
              </a:defRPr>
            </a:pPr>
            <a:r>
              <a:t>Lịch OFFLINE; gọi LiveKit từ chat</a:t>
            </a:r>
          </a:p>
        </p:txBody>
      </p:sp>
      <p:sp>
        <p:nvSpPr>
          <p:cNvPr id="21" name="Rounded Rectangle 20"/>
          <p:cNvSpPr/>
          <p:nvPr/>
        </p:nvSpPr>
        <p:spPr>
          <a:xfrm>
            <a:off x="6227064" y="4041648"/>
            <a:ext cx="5440680" cy="1709928"/>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27064" y="4041648"/>
            <a:ext cx="64008" cy="1709928"/>
          </a:xfrm>
          <a:prstGeom prst="rect">
            <a:avLst/>
          </a:prstGeom>
          <a:solidFill>
            <a:srgbClr val="078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83096" y="4242816"/>
            <a:ext cx="4901184" cy="356616"/>
          </a:xfrm>
          <a:prstGeom prst="rect">
            <a:avLst/>
          </a:prstGeom>
          <a:noFill/>
        </p:spPr>
        <p:txBody>
          <a:bodyPr wrap="square" lIns="0" rIns="0" tIns="0" bIns="0">
            <a:spAutoFit/>
          </a:bodyPr>
          <a:lstStyle/>
          <a:p>
            <a:pPr>
              <a:lnSpc>
                <a:spcPct val="112000"/>
              </a:lnSpc>
              <a:spcBef>
                <a:spcPts val="0"/>
              </a:spcBef>
              <a:spcAft>
                <a:spcPts val="252"/>
              </a:spcAft>
              <a:defRPr sz="2100" b="1">
                <a:solidFill>
                  <a:srgbClr val="142F2B"/>
                </a:solidFill>
                <a:latin typeface="Arial"/>
              </a:defRPr>
            </a:pPr>
            <a:r>
              <a:t>Quản trị &amp; gợi ý</a:t>
            </a:r>
          </a:p>
        </p:txBody>
      </p:sp>
      <p:sp>
        <p:nvSpPr>
          <p:cNvPr id="24" name="TextBox 23"/>
          <p:cNvSpPr txBox="1"/>
          <p:nvPr/>
        </p:nvSpPr>
        <p:spPr>
          <a:xfrm>
            <a:off x="6483096" y="4764024"/>
            <a:ext cx="4901184" cy="877824"/>
          </a:xfrm>
          <a:prstGeom prst="rect">
            <a:avLst/>
          </a:prstGeom>
          <a:noFill/>
        </p:spPr>
        <p:txBody>
          <a:bodyPr wrap="square" lIns="0" rIns="0" tIns="0" bIns="0">
            <a:spAutoFit/>
          </a:bodyPr>
          <a:lstStyle/>
          <a:p>
            <a:pPr>
              <a:lnSpc>
                <a:spcPct val="112000"/>
              </a:lnSpc>
              <a:spcBef>
                <a:spcPts val="0"/>
              </a:spcBef>
              <a:spcAft>
                <a:spcPts val="192"/>
              </a:spcAft>
              <a:defRPr sz="1600" b="0">
                <a:solidFill>
                  <a:srgbClr val="64776F"/>
                </a:solidFill>
                <a:latin typeface="Arial"/>
              </a:defRPr>
            </a:pPr>
            <a:r>
              <a:t>Duyệt công ty/tin, khóa/mở tài khoản</a:t>
            </a:r>
          </a:p>
          <a:p>
            <a:pPr>
              <a:lnSpc>
                <a:spcPct val="112000"/>
              </a:lnSpc>
              <a:spcBef>
                <a:spcPts val="0"/>
              </a:spcBef>
              <a:spcAft>
                <a:spcPts val="192"/>
              </a:spcAft>
              <a:defRPr sz="1600" b="0">
                <a:solidFill>
                  <a:srgbClr val="64776F"/>
                </a:solidFill>
                <a:latin typeface="Arial"/>
              </a:defRPr>
            </a:pPr>
            <a:r>
              <a:t>Audit và xuất CSV/XLSX</a:t>
            </a:r>
          </a:p>
          <a:p>
            <a:pPr>
              <a:lnSpc>
                <a:spcPct val="112000"/>
              </a:lnSpc>
              <a:spcBef>
                <a:spcPts val="0"/>
              </a:spcBef>
              <a:spcAft>
                <a:spcPts val="192"/>
              </a:spcAft>
              <a:defRPr sz="1600" b="0">
                <a:solidFill>
                  <a:srgbClr val="64776F"/>
                </a:solidFill>
                <a:latin typeface="Arial"/>
              </a:defRPr>
            </a:pPr>
            <a:r>
              <a:t>Gợi ý việc làm, ứng viên và matching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5"/>
        </a:solidFill>
        <a:effectLst/>
      </p:bgPr>
    </p:bg>
    <p:spTree>
      <p:nvGrpSpPr>
        <p:cNvPr id="1" name=""/>
        <p:cNvGrpSpPr/>
        <p:nvPr/>
      </p:nvGrpSpPr>
      <p:grpSpPr/>
      <p:sp>
        <p:nvSpPr>
          <p:cNvPr id="2" name="TextBox 1"/>
          <p:cNvSpPr txBox="1"/>
          <p:nvPr/>
        </p:nvSpPr>
        <p:spPr>
          <a:xfrm>
            <a:off x="502920" y="256032"/>
            <a:ext cx="4572000" cy="201168"/>
          </a:xfrm>
          <a:prstGeom prst="rect">
            <a:avLst/>
          </a:prstGeom>
          <a:noFill/>
        </p:spPr>
        <p:txBody>
          <a:bodyPr wrap="square" lIns="0" rIns="0" tIns="0" bIns="0">
            <a:spAutoFit/>
          </a:bodyPr>
          <a:lstStyle/>
          <a:p>
            <a:pPr>
              <a:lnSpc>
                <a:spcPct val="112000"/>
              </a:lnSpc>
              <a:spcBef>
                <a:spcPts val="0"/>
              </a:spcBef>
              <a:spcAft>
                <a:spcPts val="108"/>
              </a:spcAft>
              <a:defRPr sz="900" b="1">
                <a:solidFill>
                  <a:srgbClr val="07824D"/>
                </a:solidFill>
                <a:latin typeface="Arial"/>
              </a:defRPr>
            </a:pPr>
            <a:r>
              <a:t>CAREERHUB  /  RECRUITMENT SYSTEM</a:t>
            </a:r>
          </a:p>
        </p:txBody>
      </p:sp>
      <p:sp>
        <p:nvSpPr>
          <p:cNvPr id="3" name="TextBox 2"/>
          <p:cNvSpPr txBox="1"/>
          <p:nvPr/>
        </p:nvSpPr>
        <p:spPr>
          <a:xfrm>
            <a:off x="8321040" y="256032"/>
            <a:ext cx="3364992" cy="201168"/>
          </a:xfrm>
          <a:prstGeom prst="rect">
            <a:avLst/>
          </a:prstGeom>
          <a:noFill/>
        </p:spPr>
        <p:txBody>
          <a:bodyPr wrap="square" lIns="0" rIns="0" tIns="0" bIns="0">
            <a:spAutoFit/>
          </a:bodyPr>
          <a:lstStyle/>
          <a:p>
            <a:pPr algn="r">
              <a:lnSpc>
                <a:spcPct val="112000"/>
              </a:lnSpc>
              <a:spcBef>
                <a:spcPts val="0"/>
              </a:spcBef>
              <a:spcAft>
                <a:spcPts val="108"/>
              </a:spcAft>
              <a:defRPr sz="900" b="0">
                <a:solidFill>
                  <a:srgbClr val="64776F"/>
                </a:solidFill>
                <a:latin typeface="Arial"/>
              </a:defRPr>
            </a:pPr>
            <a:r>
              <a:t>KIẾN TRÚC TỔNG THỂ</a:t>
            </a:r>
          </a:p>
        </p:txBody>
      </p:sp>
      <p:sp>
        <p:nvSpPr>
          <p:cNvPr id="4" name="TextBox 3"/>
          <p:cNvSpPr txBox="1"/>
          <p:nvPr/>
        </p:nvSpPr>
        <p:spPr>
          <a:xfrm>
            <a:off x="502920" y="749808"/>
            <a:ext cx="11109960" cy="621792"/>
          </a:xfrm>
          <a:prstGeom prst="rect">
            <a:avLst/>
          </a:prstGeom>
          <a:noFill/>
        </p:spPr>
        <p:txBody>
          <a:bodyPr wrap="square" lIns="0" rIns="0" tIns="0" bIns="0">
            <a:spAutoFit/>
          </a:bodyPr>
          <a:lstStyle/>
          <a:p>
            <a:pPr>
              <a:lnSpc>
                <a:spcPct val="112000"/>
              </a:lnSpc>
              <a:spcBef>
                <a:spcPts val="0"/>
              </a:spcBef>
              <a:spcAft>
                <a:spcPts val="359"/>
              </a:spcAft>
              <a:defRPr sz="3000" b="1">
                <a:solidFill>
                  <a:srgbClr val="142F2B"/>
                </a:solidFill>
                <a:latin typeface="Arial"/>
              </a:defRPr>
            </a:pPr>
            <a:r>
              <a:t>Kiến trúc microservice qua một API Gateway</a:t>
            </a:r>
          </a:p>
        </p:txBody>
      </p:sp>
      <p:sp>
        <p:nvSpPr>
          <p:cNvPr id="5" name="TextBox 4"/>
          <p:cNvSpPr txBox="1"/>
          <p:nvPr/>
        </p:nvSpPr>
        <p:spPr>
          <a:xfrm>
            <a:off x="530352" y="1444752"/>
            <a:ext cx="11018520" cy="484632"/>
          </a:xfrm>
          <a:prstGeom prst="rect">
            <a:avLst/>
          </a:prstGeom>
          <a:noFill/>
        </p:spPr>
        <p:txBody>
          <a:bodyPr wrap="square" lIns="0" rIns="0" tIns="0" bIns="0">
            <a:spAutoFit/>
          </a:bodyPr>
          <a:lstStyle/>
          <a:p>
            <a:pPr>
              <a:lnSpc>
                <a:spcPct val="112000"/>
              </a:lnSpc>
              <a:spcBef>
                <a:spcPts val="0"/>
              </a:spcBef>
              <a:spcAft>
                <a:spcPts val="168"/>
              </a:spcAft>
              <a:defRPr sz="1400" b="0">
                <a:solidFill>
                  <a:srgbClr val="64776F"/>
                </a:solidFill>
                <a:latin typeface="Arial"/>
              </a:defRPr>
            </a:pPr>
            <a:r>
              <a:t>Frontend dùng Next.js; 12 API service có mã nguồn và runtime độc lập.</a:t>
            </a:r>
          </a:p>
        </p:txBody>
      </p:sp>
      <p:cxnSp>
        <p:nvCxnSpPr>
          <p:cNvPr id="6" name="Connector 5"/>
          <p:cNvCxnSpPr/>
          <p:nvPr/>
        </p:nvCxnSpPr>
        <p:spPr>
          <a:xfrm>
            <a:off x="502920" y="6437376"/>
            <a:ext cx="11183112" cy="0"/>
          </a:xfrm>
          <a:prstGeom prst="line">
            <a:avLst/>
          </a:prstGeom>
          <a:ln w="8890">
            <a:solidFill>
              <a:srgbClr val="D6E2D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12064" y="6537960"/>
            <a:ext cx="10287000" cy="173736"/>
          </a:xfrm>
          <a:prstGeom prst="rect">
            <a:avLst/>
          </a:prstGeom>
          <a:noFill/>
        </p:spPr>
        <p:txBody>
          <a:bodyPr wrap="square" lIns="0" rIns="0" tIns="0" bIns="0">
            <a:spAutoFit/>
          </a:bodyPr>
          <a:lstStyle/>
          <a:p>
            <a:pPr>
              <a:lnSpc>
                <a:spcPct val="112000"/>
              </a:lnSpc>
              <a:spcBef>
                <a:spcPts val="0"/>
              </a:spcBef>
              <a:spcAft>
                <a:spcPts val="96"/>
              </a:spcAft>
              <a:defRPr sz="800" b="0">
                <a:solidFill>
                  <a:srgbClr val="64776F"/>
                </a:solidFill>
                <a:latin typeface="Arial"/>
              </a:defRPr>
            </a:pPr>
            <a:r>
              <a:t>Nguồn: README.md · docs/architecture.md · PostgreSQL dùng chung cluster/database, dữ liệu do từng service sở hữu.</a:t>
            </a:r>
          </a:p>
        </p:txBody>
      </p:sp>
      <p:sp>
        <p:nvSpPr>
          <p:cNvPr id="8" name="TextBox 7"/>
          <p:cNvSpPr txBox="1"/>
          <p:nvPr/>
        </p:nvSpPr>
        <p:spPr>
          <a:xfrm>
            <a:off x="10881360" y="6510528"/>
            <a:ext cx="795528" cy="210312"/>
          </a:xfrm>
          <a:prstGeom prst="rect">
            <a:avLst/>
          </a:prstGeom>
          <a:noFill/>
        </p:spPr>
        <p:txBody>
          <a:bodyPr wrap="square" lIns="0" rIns="0" tIns="0" bIns="0">
            <a:spAutoFit/>
          </a:bodyPr>
          <a:lstStyle/>
          <a:p>
            <a:pPr algn="r">
              <a:lnSpc>
                <a:spcPct val="112000"/>
              </a:lnSpc>
              <a:spcBef>
                <a:spcPts val="0"/>
              </a:spcBef>
              <a:spcAft>
                <a:spcPts val="108"/>
              </a:spcAft>
              <a:defRPr sz="900" b="0">
                <a:solidFill>
                  <a:srgbClr val="64776F"/>
                </a:solidFill>
                <a:latin typeface="Arial"/>
              </a:defRPr>
            </a:pPr>
            <a:r>
              <a:t>06 / 16</a:t>
            </a:r>
          </a:p>
        </p:txBody>
      </p:sp>
      <p:sp>
        <p:nvSpPr>
          <p:cNvPr id="9" name="Rounded Rectangle 8"/>
          <p:cNvSpPr/>
          <p:nvPr/>
        </p:nvSpPr>
        <p:spPr>
          <a:xfrm>
            <a:off x="2880360" y="2011680"/>
            <a:ext cx="6428232" cy="475488"/>
          </a:xfrm>
          <a:prstGeom prst="roundRect">
            <a:avLst>
              <a:gd name="adj" fmla="val 12000"/>
            </a:avLst>
          </a:prstGeom>
          <a:solidFill>
            <a:srgbClr val="078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99232" y="2130552"/>
            <a:ext cx="6181344" cy="265176"/>
          </a:xfrm>
          <a:prstGeom prst="rect">
            <a:avLst/>
          </a:prstGeom>
          <a:noFill/>
        </p:spPr>
        <p:txBody>
          <a:bodyPr wrap="square" lIns="0" rIns="0" tIns="0" bIns="0">
            <a:spAutoFit/>
          </a:bodyPr>
          <a:lstStyle/>
          <a:p>
            <a:pPr algn="ctr">
              <a:lnSpc>
                <a:spcPct val="112000"/>
              </a:lnSpc>
              <a:spcBef>
                <a:spcPts val="0"/>
              </a:spcBef>
              <a:spcAft>
                <a:spcPts val="192"/>
              </a:spcAft>
              <a:defRPr sz="1600" b="1">
                <a:solidFill>
                  <a:srgbClr val="FFFFFF"/>
                </a:solidFill>
                <a:latin typeface="Arial"/>
              </a:defRPr>
            </a:pPr>
            <a:r>
              <a:t>3 PORTAL  •  NEXT.JS / REACT</a:t>
            </a:r>
          </a:p>
        </p:txBody>
      </p:sp>
      <p:sp>
        <p:nvSpPr>
          <p:cNvPr id="11" name="Down Arrow 10"/>
          <p:cNvSpPr/>
          <p:nvPr/>
        </p:nvSpPr>
        <p:spPr>
          <a:xfrm>
            <a:off x="5943600" y="2542032"/>
            <a:ext cx="201168" cy="201168"/>
          </a:xfrm>
          <a:prstGeom prst="downArrow">
            <a:avLst/>
          </a:prstGeom>
          <a:solidFill>
            <a:srgbClr val="078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880360" y="2779776"/>
            <a:ext cx="6428232" cy="429768"/>
          </a:xfrm>
          <a:prstGeom prst="roundRect">
            <a:avLst>
              <a:gd name="adj" fmla="val 12000"/>
            </a:avLst>
          </a:prstGeom>
          <a:solidFill>
            <a:srgbClr val="142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99232" y="2889504"/>
            <a:ext cx="6181344" cy="219456"/>
          </a:xfrm>
          <a:prstGeom prst="rect">
            <a:avLst/>
          </a:prstGeom>
          <a:noFill/>
        </p:spPr>
        <p:txBody>
          <a:bodyPr wrap="square" lIns="0" rIns="0" tIns="0" bIns="0">
            <a:spAutoFit/>
          </a:bodyPr>
          <a:lstStyle/>
          <a:p>
            <a:pPr algn="ctr">
              <a:lnSpc>
                <a:spcPct val="112000"/>
              </a:lnSpc>
              <a:spcBef>
                <a:spcPts val="0"/>
              </a:spcBef>
              <a:spcAft>
                <a:spcPts val="168"/>
              </a:spcAft>
              <a:defRPr sz="1400" b="1">
                <a:solidFill>
                  <a:srgbClr val="FFFFFF"/>
                </a:solidFill>
                <a:latin typeface="Arial"/>
              </a:defRPr>
            </a:pPr>
            <a:r>
              <a:t>NGINX API GATEWAY  •  REST / REALTIME</a:t>
            </a:r>
          </a:p>
        </p:txBody>
      </p:sp>
      <p:cxnSp>
        <p:nvCxnSpPr>
          <p:cNvPr id="14" name="Connector 13"/>
          <p:cNvCxnSpPr/>
          <p:nvPr/>
        </p:nvCxnSpPr>
        <p:spPr>
          <a:xfrm>
            <a:off x="1874519" y="3456432"/>
            <a:ext cx="8412481" cy="0"/>
          </a:xfrm>
          <a:prstGeom prst="line">
            <a:avLst/>
          </a:prstGeom>
          <a:ln w="19050">
            <a:solidFill>
              <a:srgbClr val="07824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044184" y="3218688"/>
            <a:ext cx="0" cy="237744"/>
          </a:xfrm>
          <a:prstGeom prst="line">
            <a:avLst/>
          </a:prstGeom>
          <a:ln w="19050">
            <a:solidFill>
              <a:srgbClr val="07824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874519" y="3456432"/>
            <a:ext cx="0" cy="219455"/>
          </a:xfrm>
          <a:prstGeom prst="line">
            <a:avLst/>
          </a:prstGeom>
          <a:ln w="19050">
            <a:solidFill>
              <a:srgbClr val="07824D"/>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48640" y="3675887"/>
            <a:ext cx="2606040" cy="1069848"/>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 y="3831336"/>
            <a:ext cx="2313432" cy="274320"/>
          </a:xfrm>
          <a:prstGeom prst="rect">
            <a:avLst/>
          </a:prstGeom>
          <a:noFill/>
        </p:spPr>
        <p:txBody>
          <a:bodyPr wrap="square" lIns="0" rIns="0" tIns="0" bIns="0">
            <a:spAutoFit/>
          </a:bodyPr>
          <a:lstStyle/>
          <a:p>
            <a:pPr algn="ctr">
              <a:lnSpc>
                <a:spcPct val="112000"/>
              </a:lnSpc>
              <a:spcBef>
                <a:spcPts val="0"/>
              </a:spcBef>
              <a:spcAft>
                <a:spcPts val="168"/>
              </a:spcAft>
              <a:defRPr sz="1400" b="1">
                <a:solidFill>
                  <a:srgbClr val="07824D"/>
                </a:solidFill>
                <a:latin typeface="Arial"/>
              </a:defRPr>
            </a:pPr>
            <a:r>
              <a:t>Danh tính &amp; quản trị</a:t>
            </a:r>
          </a:p>
        </p:txBody>
      </p:sp>
      <p:sp>
        <p:nvSpPr>
          <p:cNvPr id="19" name="TextBox 18"/>
          <p:cNvSpPr txBox="1"/>
          <p:nvPr/>
        </p:nvSpPr>
        <p:spPr>
          <a:xfrm>
            <a:off x="658368" y="4197096"/>
            <a:ext cx="2386584" cy="457200"/>
          </a:xfrm>
          <a:prstGeom prst="rect">
            <a:avLst/>
          </a:prstGeom>
          <a:noFill/>
        </p:spPr>
        <p:txBody>
          <a:bodyPr wrap="square" lIns="0" rIns="0" tIns="0" bIns="0">
            <a:spAutoFit/>
          </a:bodyPr>
          <a:lstStyle/>
          <a:p>
            <a:pPr algn="ctr">
              <a:lnSpc>
                <a:spcPct val="112000"/>
              </a:lnSpc>
              <a:spcBef>
                <a:spcPts val="0"/>
              </a:spcBef>
              <a:spcAft>
                <a:spcPts val="156"/>
              </a:spcAft>
              <a:defRPr sz="1300" b="0">
                <a:solidFill>
                  <a:srgbClr val="142F2B"/>
                </a:solidFill>
                <a:latin typeface="Arial"/>
              </a:defRPr>
            </a:pPr>
            <a:r>
              <a:t>Auth • Profile</a:t>
            </a:r>
          </a:p>
          <a:p>
            <a:pPr algn="ctr">
              <a:lnSpc>
                <a:spcPct val="112000"/>
              </a:lnSpc>
              <a:spcBef>
                <a:spcPts val="0"/>
              </a:spcBef>
              <a:spcAft>
                <a:spcPts val="156"/>
              </a:spcAft>
              <a:defRPr sz="1300" b="0">
                <a:solidFill>
                  <a:srgbClr val="142F2B"/>
                </a:solidFill>
                <a:latin typeface="Arial"/>
              </a:defRPr>
            </a:pPr>
            <a:r>
              <a:t>Media • Admin</a:t>
            </a:r>
          </a:p>
        </p:txBody>
      </p:sp>
      <p:cxnSp>
        <p:nvCxnSpPr>
          <p:cNvPr id="20" name="Connector 19"/>
          <p:cNvCxnSpPr/>
          <p:nvPr/>
        </p:nvCxnSpPr>
        <p:spPr>
          <a:xfrm>
            <a:off x="4709160" y="3456432"/>
            <a:ext cx="0" cy="219455"/>
          </a:xfrm>
          <a:prstGeom prst="line">
            <a:avLst/>
          </a:prstGeom>
          <a:ln w="19050">
            <a:solidFill>
              <a:srgbClr val="07824D"/>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3383280" y="3675887"/>
            <a:ext cx="2606040" cy="1069848"/>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29584" y="3831336"/>
            <a:ext cx="2313432" cy="274320"/>
          </a:xfrm>
          <a:prstGeom prst="rect">
            <a:avLst/>
          </a:prstGeom>
          <a:noFill/>
        </p:spPr>
        <p:txBody>
          <a:bodyPr wrap="square" lIns="0" rIns="0" tIns="0" bIns="0">
            <a:spAutoFit/>
          </a:bodyPr>
          <a:lstStyle/>
          <a:p>
            <a:pPr algn="ctr">
              <a:lnSpc>
                <a:spcPct val="112000"/>
              </a:lnSpc>
              <a:spcBef>
                <a:spcPts val="0"/>
              </a:spcBef>
              <a:spcAft>
                <a:spcPts val="168"/>
              </a:spcAft>
              <a:defRPr sz="1400" b="1">
                <a:solidFill>
                  <a:srgbClr val="07824D"/>
                </a:solidFill>
                <a:latin typeface="Arial"/>
              </a:defRPr>
            </a:pPr>
            <a:r>
              <a:t>Nghiệp vụ tuyển dụng</a:t>
            </a:r>
          </a:p>
        </p:txBody>
      </p:sp>
      <p:sp>
        <p:nvSpPr>
          <p:cNvPr id="23" name="TextBox 22"/>
          <p:cNvSpPr txBox="1"/>
          <p:nvPr/>
        </p:nvSpPr>
        <p:spPr>
          <a:xfrm>
            <a:off x="3493008" y="4197096"/>
            <a:ext cx="2386584" cy="457200"/>
          </a:xfrm>
          <a:prstGeom prst="rect">
            <a:avLst/>
          </a:prstGeom>
          <a:noFill/>
        </p:spPr>
        <p:txBody>
          <a:bodyPr wrap="square" lIns="0" rIns="0" tIns="0" bIns="0">
            <a:spAutoFit/>
          </a:bodyPr>
          <a:lstStyle/>
          <a:p>
            <a:pPr algn="ctr">
              <a:lnSpc>
                <a:spcPct val="112000"/>
              </a:lnSpc>
              <a:spcBef>
                <a:spcPts val="0"/>
              </a:spcBef>
              <a:spcAft>
                <a:spcPts val="156"/>
              </a:spcAft>
              <a:defRPr sz="1300" b="0">
                <a:solidFill>
                  <a:srgbClr val="142F2B"/>
                </a:solidFill>
                <a:latin typeface="Arial"/>
              </a:defRPr>
            </a:pPr>
            <a:r>
              <a:t>Company • Job &amp; Search</a:t>
            </a:r>
          </a:p>
          <a:p>
            <a:pPr algn="ctr">
              <a:lnSpc>
                <a:spcPct val="112000"/>
              </a:lnSpc>
              <a:spcBef>
                <a:spcPts val="0"/>
              </a:spcBef>
              <a:spcAft>
                <a:spcPts val="156"/>
              </a:spcAft>
              <a:defRPr sz="1300" b="0">
                <a:solidFill>
                  <a:srgbClr val="142F2B"/>
                </a:solidFill>
                <a:latin typeface="Arial"/>
              </a:defRPr>
            </a:pPr>
            <a:r>
              <a:t>Application • Interview</a:t>
            </a:r>
          </a:p>
        </p:txBody>
      </p:sp>
      <p:cxnSp>
        <p:nvCxnSpPr>
          <p:cNvPr id="24" name="Connector 23"/>
          <p:cNvCxnSpPr/>
          <p:nvPr/>
        </p:nvCxnSpPr>
        <p:spPr>
          <a:xfrm>
            <a:off x="7543800" y="3456432"/>
            <a:ext cx="0" cy="219455"/>
          </a:xfrm>
          <a:prstGeom prst="line">
            <a:avLst/>
          </a:prstGeom>
          <a:ln w="19050">
            <a:solidFill>
              <a:srgbClr val="07824D"/>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217920" y="3675887"/>
            <a:ext cx="2606040" cy="1069848"/>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3831336"/>
            <a:ext cx="2313432" cy="274320"/>
          </a:xfrm>
          <a:prstGeom prst="rect">
            <a:avLst/>
          </a:prstGeom>
          <a:noFill/>
        </p:spPr>
        <p:txBody>
          <a:bodyPr wrap="square" lIns="0" rIns="0" tIns="0" bIns="0">
            <a:spAutoFit/>
          </a:bodyPr>
          <a:lstStyle/>
          <a:p>
            <a:pPr algn="ctr">
              <a:lnSpc>
                <a:spcPct val="112000"/>
              </a:lnSpc>
              <a:spcBef>
                <a:spcPts val="0"/>
              </a:spcBef>
              <a:spcAft>
                <a:spcPts val="168"/>
              </a:spcAft>
              <a:defRPr sz="1400" b="1">
                <a:solidFill>
                  <a:srgbClr val="07824D"/>
                </a:solidFill>
                <a:latin typeface="Arial"/>
              </a:defRPr>
            </a:pPr>
            <a:r>
              <a:t>Giao tiếp thời gian thực</a:t>
            </a:r>
          </a:p>
        </p:txBody>
      </p:sp>
      <p:sp>
        <p:nvSpPr>
          <p:cNvPr id="27" name="TextBox 26"/>
          <p:cNvSpPr txBox="1"/>
          <p:nvPr/>
        </p:nvSpPr>
        <p:spPr>
          <a:xfrm>
            <a:off x="6327648" y="4197096"/>
            <a:ext cx="2386584" cy="457200"/>
          </a:xfrm>
          <a:prstGeom prst="rect">
            <a:avLst/>
          </a:prstGeom>
          <a:noFill/>
        </p:spPr>
        <p:txBody>
          <a:bodyPr wrap="square" lIns="0" rIns="0" tIns="0" bIns="0">
            <a:spAutoFit/>
          </a:bodyPr>
          <a:lstStyle/>
          <a:p>
            <a:pPr algn="ctr">
              <a:lnSpc>
                <a:spcPct val="112000"/>
              </a:lnSpc>
              <a:spcBef>
                <a:spcPts val="0"/>
              </a:spcBef>
              <a:spcAft>
                <a:spcPts val="156"/>
              </a:spcAft>
              <a:defRPr sz="1300" b="0">
                <a:solidFill>
                  <a:srgbClr val="142F2B"/>
                </a:solidFill>
                <a:latin typeface="Arial"/>
              </a:defRPr>
            </a:pPr>
            <a:r>
              <a:t>Chat • Notification</a:t>
            </a:r>
          </a:p>
          <a:p>
            <a:pPr algn="ctr">
              <a:lnSpc>
                <a:spcPct val="112000"/>
              </a:lnSpc>
              <a:spcBef>
                <a:spcPts val="0"/>
              </a:spcBef>
              <a:spcAft>
                <a:spcPts val="156"/>
              </a:spcAft>
              <a:defRPr sz="1300" b="0">
                <a:solidFill>
                  <a:srgbClr val="142F2B"/>
                </a:solidFill>
                <a:latin typeface="Arial"/>
              </a:defRPr>
            </a:pPr>
            <a:r>
              <a:t>Video</a:t>
            </a:r>
          </a:p>
        </p:txBody>
      </p:sp>
      <p:cxnSp>
        <p:nvCxnSpPr>
          <p:cNvPr id="28" name="Connector 27"/>
          <p:cNvCxnSpPr/>
          <p:nvPr/>
        </p:nvCxnSpPr>
        <p:spPr>
          <a:xfrm>
            <a:off x="10378440" y="3456432"/>
            <a:ext cx="0" cy="219455"/>
          </a:xfrm>
          <a:prstGeom prst="line">
            <a:avLst/>
          </a:prstGeom>
          <a:ln w="19050">
            <a:solidFill>
              <a:srgbClr val="07824D"/>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9052560" y="3675887"/>
            <a:ext cx="2606040" cy="1069848"/>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98864" y="3831336"/>
            <a:ext cx="2313432" cy="274320"/>
          </a:xfrm>
          <a:prstGeom prst="rect">
            <a:avLst/>
          </a:prstGeom>
          <a:noFill/>
        </p:spPr>
        <p:txBody>
          <a:bodyPr wrap="square" lIns="0" rIns="0" tIns="0" bIns="0">
            <a:spAutoFit/>
          </a:bodyPr>
          <a:lstStyle/>
          <a:p>
            <a:pPr algn="ctr">
              <a:lnSpc>
                <a:spcPct val="112000"/>
              </a:lnSpc>
              <a:spcBef>
                <a:spcPts val="0"/>
              </a:spcBef>
              <a:spcAft>
                <a:spcPts val="168"/>
              </a:spcAft>
              <a:defRPr sz="1400" b="1">
                <a:solidFill>
                  <a:srgbClr val="07824D"/>
                </a:solidFill>
                <a:latin typeface="Arial"/>
              </a:defRPr>
            </a:pPr>
            <a:r>
              <a:t>AI &amp; gợi ý</a:t>
            </a:r>
          </a:p>
        </p:txBody>
      </p:sp>
      <p:sp>
        <p:nvSpPr>
          <p:cNvPr id="31" name="TextBox 30"/>
          <p:cNvSpPr txBox="1"/>
          <p:nvPr/>
        </p:nvSpPr>
        <p:spPr>
          <a:xfrm>
            <a:off x="9162288" y="4197096"/>
            <a:ext cx="2386584" cy="457200"/>
          </a:xfrm>
          <a:prstGeom prst="rect">
            <a:avLst/>
          </a:prstGeom>
          <a:noFill/>
        </p:spPr>
        <p:txBody>
          <a:bodyPr wrap="square" lIns="0" rIns="0" tIns="0" bIns="0">
            <a:spAutoFit/>
          </a:bodyPr>
          <a:lstStyle/>
          <a:p>
            <a:pPr algn="ctr">
              <a:lnSpc>
                <a:spcPct val="112000"/>
              </a:lnSpc>
              <a:spcBef>
                <a:spcPts val="0"/>
              </a:spcBef>
              <a:spcAft>
                <a:spcPts val="156"/>
              </a:spcAft>
              <a:defRPr sz="1300" b="0">
                <a:solidFill>
                  <a:srgbClr val="142F2B"/>
                </a:solidFill>
                <a:latin typeface="Arial"/>
              </a:defRPr>
            </a:pPr>
            <a:r>
              <a:t>AI Service</a:t>
            </a:r>
          </a:p>
          <a:p>
            <a:pPr algn="ctr">
              <a:lnSpc>
                <a:spcPct val="112000"/>
              </a:lnSpc>
              <a:spcBef>
                <a:spcPts val="0"/>
              </a:spcBef>
              <a:spcAft>
                <a:spcPts val="156"/>
              </a:spcAft>
              <a:defRPr sz="1300" b="0">
                <a:solidFill>
                  <a:srgbClr val="142F2B"/>
                </a:solidFill>
                <a:latin typeface="Arial"/>
              </a:defRPr>
            </a:pPr>
            <a:r>
              <a:t>+ 2 embedding worker</a:t>
            </a:r>
          </a:p>
        </p:txBody>
      </p:sp>
      <p:sp>
        <p:nvSpPr>
          <p:cNvPr id="32" name="Rounded Rectangle 31"/>
          <p:cNvSpPr/>
          <p:nvPr/>
        </p:nvSpPr>
        <p:spPr>
          <a:xfrm>
            <a:off x="548640" y="5020056"/>
            <a:ext cx="11109960" cy="448056"/>
          </a:xfrm>
          <a:prstGeom prst="roundRect">
            <a:avLst>
              <a:gd name="adj" fmla="val 12000"/>
            </a:avLst>
          </a:prstGeom>
          <a:solidFill>
            <a:srgbClr val="E0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2376" y="5148072"/>
            <a:ext cx="10762488" cy="228600"/>
          </a:xfrm>
          <a:prstGeom prst="rect">
            <a:avLst/>
          </a:prstGeom>
          <a:noFill/>
        </p:spPr>
        <p:txBody>
          <a:bodyPr wrap="square" lIns="0" rIns="0" tIns="0" bIns="0">
            <a:spAutoFit/>
          </a:bodyPr>
          <a:lstStyle/>
          <a:p>
            <a:pPr algn="ctr">
              <a:lnSpc>
                <a:spcPct val="112000"/>
              </a:lnSpc>
              <a:spcBef>
                <a:spcPts val="0"/>
              </a:spcBef>
              <a:spcAft>
                <a:spcPts val="179"/>
              </a:spcAft>
              <a:defRPr sz="1500" b="1">
                <a:solidFill>
                  <a:srgbClr val="07824D"/>
                </a:solidFill>
                <a:latin typeface="Arial"/>
              </a:defRPr>
            </a:pPr>
            <a:r>
              <a:t>GIAO TIẾP:  API đồng bộ giữa service  /  Kafka cho sự kiện bất đồng bộ</a:t>
            </a:r>
          </a:p>
        </p:txBody>
      </p:sp>
      <p:sp>
        <p:nvSpPr>
          <p:cNvPr id="34" name="TextBox 33"/>
          <p:cNvSpPr txBox="1"/>
          <p:nvPr/>
        </p:nvSpPr>
        <p:spPr>
          <a:xfrm>
            <a:off x="685800" y="5660136"/>
            <a:ext cx="10835640" cy="429768"/>
          </a:xfrm>
          <a:prstGeom prst="rect">
            <a:avLst/>
          </a:prstGeom>
          <a:noFill/>
        </p:spPr>
        <p:txBody>
          <a:bodyPr wrap="square" lIns="0" rIns="0" tIns="0" bIns="0">
            <a:spAutoFit/>
          </a:bodyPr>
          <a:lstStyle/>
          <a:p>
            <a:pPr algn="ctr">
              <a:lnSpc>
                <a:spcPct val="112000"/>
              </a:lnSpc>
              <a:spcBef>
                <a:spcPts val="0"/>
              </a:spcBef>
              <a:spcAft>
                <a:spcPts val="179"/>
              </a:spcAft>
              <a:defRPr sz="1500" b="0">
                <a:solidFill>
                  <a:srgbClr val="64776F"/>
                </a:solidFill>
                <a:latin typeface="Arial"/>
              </a:defRPr>
            </a:pPr>
            <a:r>
              <a:t>Lưu trữ: PostgreSQL/pgvector, Redis, Elasticsearch  •  Tích hợp: Cloudinary, LiveKit, SMTP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5"/>
        </a:solidFill>
        <a:effectLst/>
      </p:bgPr>
    </p:bg>
    <p:spTree>
      <p:nvGrpSpPr>
        <p:cNvPr id="1" name=""/>
        <p:cNvGrpSpPr/>
        <p:nvPr/>
      </p:nvGrpSpPr>
      <p:grpSpPr/>
      <p:sp>
        <p:nvSpPr>
          <p:cNvPr id="2" name="TextBox 1"/>
          <p:cNvSpPr txBox="1"/>
          <p:nvPr/>
        </p:nvSpPr>
        <p:spPr>
          <a:xfrm>
            <a:off x="502920" y="256032"/>
            <a:ext cx="4572000" cy="201168"/>
          </a:xfrm>
          <a:prstGeom prst="rect">
            <a:avLst/>
          </a:prstGeom>
          <a:noFill/>
        </p:spPr>
        <p:txBody>
          <a:bodyPr wrap="square" lIns="0" rIns="0" tIns="0" bIns="0">
            <a:spAutoFit/>
          </a:bodyPr>
          <a:lstStyle/>
          <a:p>
            <a:pPr>
              <a:lnSpc>
                <a:spcPct val="112000"/>
              </a:lnSpc>
              <a:spcBef>
                <a:spcPts val="0"/>
              </a:spcBef>
              <a:spcAft>
                <a:spcPts val="108"/>
              </a:spcAft>
              <a:defRPr sz="900" b="1">
                <a:solidFill>
                  <a:srgbClr val="07824D"/>
                </a:solidFill>
                <a:latin typeface="Arial"/>
              </a:defRPr>
            </a:pPr>
            <a:r>
              <a:t>CAREERHUB  /  RECRUITMENT SYSTEM</a:t>
            </a:r>
          </a:p>
        </p:txBody>
      </p:sp>
      <p:sp>
        <p:nvSpPr>
          <p:cNvPr id="3" name="TextBox 2"/>
          <p:cNvSpPr txBox="1"/>
          <p:nvPr/>
        </p:nvSpPr>
        <p:spPr>
          <a:xfrm>
            <a:off x="8321040" y="256032"/>
            <a:ext cx="3364992" cy="201168"/>
          </a:xfrm>
          <a:prstGeom prst="rect">
            <a:avLst/>
          </a:prstGeom>
          <a:noFill/>
        </p:spPr>
        <p:txBody>
          <a:bodyPr wrap="square" lIns="0" rIns="0" tIns="0" bIns="0">
            <a:spAutoFit/>
          </a:bodyPr>
          <a:lstStyle/>
          <a:p>
            <a:pPr algn="r">
              <a:lnSpc>
                <a:spcPct val="112000"/>
              </a:lnSpc>
              <a:spcBef>
                <a:spcPts val="0"/>
              </a:spcBef>
              <a:spcAft>
                <a:spcPts val="108"/>
              </a:spcAft>
              <a:defRPr sz="900" b="0">
                <a:solidFill>
                  <a:srgbClr val="64776F"/>
                </a:solidFill>
                <a:latin typeface="Arial"/>
              </a:defRPr>
            </a:pPr>
            <a:r>
              <a:t>CÔNG NGHỆ TRIỂN KHAI</a:t>
            </a:r>
          </a:p>
        </p:txBody>
      </p:sp>
      <p:sp>
        <p:nvSpPr>
          <p:cNvPr id="4" name="TextBox 3"/>
          <p:cNvSpPr txBox="1"/>
          <p:nvPr/>
        </p:nvSpPr>
        <p:spPr>
          <a:xfrm>
            <a:off x="502920" y="749808"/>
            <a:ext cx="11109960" cy="621792"/>
          </a:xfrm>
          <a:prstGeom prst="rect">
            <a:avLst/>
          </a:prstGeom>
          <a:noFill/>
        </p:spPr>
        <p:txBody>
          <a:bodyPr wrap="square" lIns="0" rIns="0" tIns="0" bIns="0">
            <a:spAutoFit/>
          </a:bodyPr>
          <a:lstStyle/>
          <a:p>
            <a:pPr>
              <a:lnSpc>
                <a:spcPct val="112000"/>
              </a:lnSpc>
              <a:spcBef>
                <a:spcPts val="0"/>
              </a:spcBef>
              <a:spcAft>
                <a:spcPts val="359"/>
              </a:spcAft>
              <a:defRPr sz="3000" b="1">
                <a:solidFill>
                  <a:srgbClr val="142F2B"/>
                </a:solidFill>
                <a:latin typeface="Arial"/>
              </a:defRPr>
            </a:pPr>
            <a:r>
              <a:t>Công nghệ theo nhóm service</a:t>
            </a:r>
          </a:p>
        </p:txBody>
      </p:sp>
      <p:sp>
        <p:nvSpPr>
          <p:cNvPr id="5" name="TextBox 4"/>
          <p:cNvSpPr txBox="1"/>
          <p:nvPr/>
        </p:nvSpPr>
        <p:spPr>
          <a:xfrm>
            <a:off x="530352" y="1444752"/>
            <a:ext cx="11018520" cy="484632"/>
          </a:xfrm>
          <a:prstGeom prst="rect">
            <a:avLst/>
          </a:prstGeom>
          <a:noFill/>
        </p:spPr>
        <p:txBody>
          <a:bodyPr wrap="square" lIns="0" rIns="0" tIns="0" bIns="0">
            <a:spAutoFit/>
          </a:bodyPr>
          <a:lstStyle/>
          <a:p>
            <a:pPr>
              <a:lnSpc>
                <a:spcPct val="112000"/>
              </a:lnSpc>
              <a:spcBef>
                <a:spcPts val="0"/>
              </a:spcBef>
              <a:spcAft>
                <a:spcPts val="168"/>
              </a:spcAft>
              <a:defRPr sz="1400" b="0">
                <a:solidFill>
                  <a:srgbClr val="64776F"/>
                </a:solidFill>
                <a:latin typeface="Arial"/>
              </a:defRPr>
            </a:pPr>
            <a:r>
              <a:t>Chọn runtime theo nhu cầu nghiệp vụ; thống nhất hợp đồng API, JWT và sự kiện.</a:t>
            </a:r>
          </a:p>
        </p:txBody>
      </p:sp>
      <p:cxnSp>
        <p:nvCxnSpPr>
          <p:cNvPr id="6" name="Connector 5"/>
          <p:cNvCxnSpPr/>
          <p:nvPr/>
        </p:nvCxnSpPr>
        <p:spPr>
          <a:xfrm>
            <a:off x="502920" y="6437376"/>
            <a:ext cx="11183112" cy="0"/>
          </a:xfrm>
          <a:prstGeom prst="line">
            <a:avLst/>
          </a:prstGeom>
          <a:ln w="8890">
            <a:solidFill>
              <a:srgbClr val="D6E2D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12064" y="6537960"/>
            <a:ext cx="10287000" cy="173736"/>
          </a:xfrm>
          <a:prstGeom prst="rect">
            <a:avLst/>
          </a:prstGeom>
          <a:noFill/>
        </p:spPr>
        <p:txBody>
          <a:bodyPr wrap="square" lIns="0" rIns="0" tIns="0" bIns="0">
            <a:spAutoFit/>
          </a:bodyPr>
          <a:lstStyle/>
          <a:p>
            <a:pPr>
              <a:lnSpc>
                <a:spcPct val="112000"/>
              </a:lnSpc>
              <a:spcBef>
                <a:spcPts val="0"/>
              </a:spcBef>
              <a:spcAft>
                <a:spcPts val="96"/>
              </a:spcAft>
              <a:defRPr sz="800" b="0">
                <a:solidFill>
                  <a:srgbClr val="64776F"/>
                </a:solidFill>
                <a:latin typeface="Arial"/>
              </a:defRPr>
            </a:pPr>
            <a:r>
              <a:t>Nguồn: README.md · docs/architecture.md · frontend/package.json</a:t>
            </a:r>
          </a:p>
        </p:txBody>
      </p:sp>
      <p:sp>
        <p:nvSpPr>
          <p:cNvPr id="8" name="TextBox 7"/>
          <p:cNvSpPr txBox="1"/>
          <p:nvPr/>
        </p:nvSpPr>
        <p:spPr>
          <a:xfrm>
            <a:off x="10881360" y="6510528"/>
            <a:ext cx="795528" cy="210312"/>
          </a:xfrm>
          <a:prstGeom prst="rect">
            <a:avLst/>
          </a:prstGeom>
          <a:noFill/>
        </p:spPr>
        <p:txBody>
          <a:bodyPr wrap="square" lIns="0" rIns="0" tIns="0" bIns="0">
            <a:spAutoFit/>
          </a:bodyPr>
          <a:lstStyle/>
          <a:p>
            <a:pPr algn="r">
              <a:lnSpc>
                <a:spcPct val="112000"/>
              </a:lnSpc>
              <a:spcBef>
                <a:spcPts val="0"/>
              </a:spcBef>
              <a:spcAft>
                <a:spcPts val="108"/>
              </a:spcAft>
              <a:defRPr sz="900" b="0">
                <a:solidFill>
                  <a:srgbClr val="64776F"/>
                </a:solidFill>
                <a:latin typeface="Arial"/>
              </a:defRPr>
            </a:pPr>
            <a:r>
              <a:t>07 / 16</a:t>
            </a:r>
          </a:p>
        </p:txBody>
      </p:sp>
      <p:sp>
        <p:nvSpPr>
          <p:cNvPr id="9" name="Rounded Rectangle 8"/>
          <p:cNvSpPr/>
          <p:nvPr/>
        </p:nvSpPr>
        <p:spPr>
          <a:xfrm>
            <a:off x="548640" y="2121408"/>
            <a:ext cx="2606040" cy="3593592"/>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59152"/>
            <a:ext cx="2240280" cy="347472"/>
          </a:xfrm>
          <a:prstGeom prst="rect">
            <a:avLst/>
          </a:prstGeom>
          <a:noFill/>
        </p:spPr>
        <p:txBody>
          <a:bodyPr wrap="square" lIns="0" rIns="0" tIns="0" bIns="0">
            <a:spAutoFit/>
          </a:bodyPr>
          <a:lstStyle/>
          <a:p>
            <a:pPr>
              <a:lnSpc>
                <a:spcPct val="112000"/>
              </a:lnSpc>
              <a:spcBef>
                <a:spcPts val="0"/>
              </a:spcBef>
              <a:spcAft>
                <a:spcPts val="263"/>
              </a:spcAft>
              <a:defRPr sz="2200" b="1">
                <a:solidFill>
                  <a:srgbClr val="07824D"/>
                </a:solidFill>
                <a:latin typeface="Arial"/>
              </a:defRPr>
            </a:pPr>
            <a:r>
              <a:t>JAVA 21</a:t>
            </a:r>
          </a:p>
        </p:txBody>
      </p:sp>
      <p:sp>
        <p:nvSpPr>
          <p:cNvPr id="11" name="TextBox 10"/>
          <p:cNvSpPr txBox="1"/>
          <p:nvPr/>
        </p:nvSpPr>
        <p:spPr>
          <a:xfrm>
            <a:off x="731520" y="2871216"/>
            <a:ext cx="2240280" cy="658368"/>
          </a:xfrm>
          <a:prstGeom prst="rect">
            <a:avLst/>
          </a:prstGeom>
          <a:noFill/>
        </p:spPr>
        <p:txBody>
          <a:bodyPr wrap="square" lIns="0" rIns="0" tIns="0" bIns="0">
            <a:spAutoFit/>
          </a:bodyPr>
          <a:lstStyle/>
          <a:p>
            <a:pPr>
              <a:lnSpc>
                <a:spcPct val="112000"/>
              </a:lnSpc>
              <a:spcBef>
                <a:spcPts val="0"/>
              </a:spcBef>
              <a:spcAft>
                <a:spcPts val="168"/>
              </a:spcAft>
              <a:defRPr sz="1400" b="0">
                <a:solidFill>
                  <a:srgbClr val="64776F"/>
                </a:solidFill>
                <a:latin typeface="Arial"/>
              </a:defRPr>
            </a:pPr>
            <a:r>
              <a:t>Spring Boot 3</a:t>
            </a:r>
          </a:p>
        </p:txBody>
      </p:sp>
      <p:cxnSp>
        <p:nvCxnSpPr>
          <p:cNvPr id="12" name="Connector 11"/>
          <p:cNvCxnSpPr/>
          <p:nvPr/>
        </p:nvCxnSpPr>
        <p:spPr>
          <a:xfrm>
            <a:off x="731520" y="3557016"/>
            <a:ext cx="2240280" cy="0"/>
          </a:xfrm>
          <a:prstGeom prst="line">
            <a:avLst/>
          </a:prstGeom>
          <a:ln w="12700">
            <a:solidFill>
              <a:srgbClr val="D6E2D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31520" y="3785615"/>
            <a:ext cx="2240280" cy="1252728"/>
          </a:xfrm>
          <a:prstGeom prst="rect">
            <a:avLst/>
          </a:prstGeom>
          <a:noFill/>
        </p:spPr>
        <p:txBody>
          <a:bodyPr wrap="square" lIns="0" rIns="0" tIns="0" bIns="0">
            <a:spAutoFit/>
          </a:bodyPr>
          <a:lstStyle/>
          <a:p>
            <a:pPr>
              <a:lnSpc>
                <a:spcPct val="112000"/>
              </a:lnSpc>
              <a:spcBef>
                <a:spcPts val="0"/>
              </a:spcBef>
              <a:spcAft>
                <a:spcPts val="204"/>
              </a:spcAft>
              <a:defRPr sz="1700" b="0">
                <a:solidFill>
                  <a:srgbClr val="142F2B"/>
                </a:solidFill>
                <a:latin typeface="Arial"/>
              </a:defRPr>
            </a:pPr>
            <a:r>
              <a:t>Auth</a:t>
            </a:r>
          </a:p>
          <a:p>
            <a:pPr>
              <a:lnSpc>
                <a:spcPct val="112000"/>
              </a:lnSpc>
              <a:spcBef>
                <a:spcPts val="0"/>
              </a:spcBef>
              <a:spcAft>
                <a:spcPts val="204"/>
              </a:spcAft>
              <a:defRPr sz="1700" b="0">
                <a:solidFill>
                  <a:srgbClr val="142F2B"/>
                </a:solidFill>
                <a:latin typeface="Arial"/>
              </a:defRPr>
            </a:pPr>
            <a:r>
              <a:t>Application</a:t>
            </a:r>
          </a:p>
          <a:p>
            <a:pPr>
              <a:lnSpc>
                <a:spcPct val="112000"/>
              </a:lnSpc>
              <a:spcBef>
                <a:spcPts val="0"/>
              </a:spcBef>
              <a:spcAft>
                <a:spcPts val="204"/>
              </a:spcAft>
              <a:defRPr sz="1700" b="0">
                <a:solidFill>
                  <a:srgbClr val="142F2B"/>
                </a:solidFill>
                <a:latin typeface="Arial"/>
              </a:defRPr>
            </a:pPr>
            <a:r>
              <a:t>Interview</a:t>
            </a:r>
          </a:p>
          <a:p>
            <a:pPr>
              <a:lnSpc>
                <a:spcPct val="112000"/>
              </a:lnSpc>
              <a:spcBef>
                <a:spcPts val="0"/>
              </a:spcBef>
              <a:spcAft>
                <a:spcPts val="204"/>
              </a:spcAft>
              <a:defRPr sz="1700" b="0">
                <a:solidFill>
                  <a:srgbClr val="142F2B"/>
                </a:solidFill>
                <a:latin typeface="Arial"/>
              </a:defRPr>
            </a:pPr>
            <a:r>
              <a:t>Admin</a:t>
            </a:r>
          </a:p>
        </p:txBody>
      </p:sp>
      <p:sp>
        <p:nvSpPr>
          <p:cNvPr id="14" name="Rounded Rectangle 13"/>
          <p:cNvSpPr/>
          <p:nvPr/>
        </p:nvSpPr>
        <p:spPr>
          <a:xfrm>
            <a:off x="713232" y="5230368"/>
            <a:ext cx="2276856" cy="265176"/>
          </a:xfrm>
          <a:prstGeom prst="roundRect">
            <a:avLst>
              <a:gd name="adj" fmla="val 12000"/>
            </a:avLst>
          </a:prstGeom>
          <a:solidFill>
            <a:srgbClr val="E0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5276088"/>
            <a:ext cx="2167128" cy="182880"/>
          </a:xfrm>
          <a:prstGeom prst="rect">
            <a:avLst/>
          </a:prstGeom>
          <a:noFill/>
        </p:spPr>
        <p:txBody>
          <a:bodyPr wrap="square" lIns="0" rIns="0" tIns="0" bIns="0">
            <a:spAutoFit/>
          </a:bodyPr>
          <a:lstStyle/>
          <a:p>
            <a:pPr algn="ctr">
              <a:lnSpc>
                <a:spcPct val="112000"/>
              </a:lnSpc>
              <a:spcBef>
                <a:spcPts val="0"/>
              </a:spcBef>
              <a:spcAft>
                <a:spcPts val="131"/>
              </a:spcAft>
              <a:defRPr sz="1100" b="1">
                <a:solidFill>
                  <a:srgbClr val="07824D"/>
                </a:solidFill>
                <a:latin typeface="Arial"/>
              </a:defRPr>
            </a:pPr>
            <a:r>
              <a:t>4 API service</a:t>
            </a:r>
          </a:p>
        </p:txBody>
      </p:sp>
      <p:sp>
        <p:nvSpPr>
          <p:cNvPr id="16" name="Rounded Rectangle 15"/>
          <p:cNvSpPr/>
          <p:nvPr/>
        </p:nvSpPr>
        <p:spPr>
          <a:xfrm>
            <a:off x="3383280" y="2121408"/>
            <a:ext cx="2606040" cy="3593592"/>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66160" y="2359152"/>
            <a:ext cx="2240280" cy="347472"/>
          </a:xfrm>
          <a:prstGeom prst="rect">
            <a:avLst/>
          </a:prstGeom>
          <a:noFill/>
        </p:spPr>
        <p:txBody>
          <a:bodyPr wrap="square" lIns="0" rIns="0" tIns="0" bIns="0">
            <a:spAutoFit/>
          </a:bodyPr>
          <a:lstStyle/>
          <a:p>
            <a:pPr>
              <a:lnSpc>
                <a:spcPct val="112000"/>
              </a:lnSpc>
              <a:spcBef>
                <a:spcPts val="0"/>
              </a:spcBef>
              <a:spcAft>
                <a:spcPts val="263"/>
              </a:spcAft>
              <a:defRPr sz="2200" b="1">
                <a:solidFill>
                  <a:srgbClr val="07824D"/>
                </a:solidFill>
                <a:latin typeface="Arial"/>
              </a:defRPr>
            </a:pPr>
            <a:r>
              <a:t>NODE.JS</a:t>
            </a:r>
          </a:p>
        </p:txBody>
      </p:sp>
      <p:sp>
        <p:nvSpPr>
          <p:cNvPr id="18" name="TextBox 17"/>
          <p:cNvSpPr txBox="1"/>
          <p:nvPr/>
        </p:nvSpPr>
        <p:spPr>
          <a:xfrm>
            <a:off x="3566160" y="2871216"/>
            <a:ext cx="2240280" cy="658368"/>
          </a:xfrm>
          <a:prstGeom prst="rect">
            <a:avLst/>
          </a:prstGeom>
          <a:noFill/>
        </p:spPr>
        <p:txBody>
          <a:bodyPr wrap="square" lIns="0" rIns="0" tIns="0" bIns="0">
            <a:spAutoFit/>
          </a:bodyPr>
          <a:lstStyle/>
          <a:p>
            <a:pPr>
              <a:lnSpc>
                <a:spcPct val="112000"/>
              </a:lnSpc>
              <a:spcBef>
                <a:spcPts val="0"/>
              </a:spcBef>
              <a:spcAft>
                <a:spcPts val="168"/>
              </a:spcAft>
              <a:defRPr sz="1400" b="0">
                <a:solidFill>
                  <a:srgbClr val="64776F"/>
                </a:solidFill>
                <a:latin typeface="Arial"/>
              </a:defRPr>
            </a:pPr>
            <a:r>
              <a:t>NestJS + Prisma</a:t>
            </a:r>
          </a:p>
        </p:txBody>
      </p:sp>
      <p:cxnSp>
        <p:nvCxnSpPr>
          <p:cNvPr id="19" name="Connector 18"/>
          <p:cNvCxnSpPr/>
          <p:nvPr/>
        </p:nvCxnSpPr>
        <p:spPr>
          <a:xfrm>
            <a:off x="3566160" y="3557016"/>
            <a:ext cx="2240280" cy="0"/>
          </a:xfrm>
          <a:prstGeom prst="line">
            <a:avLst/>
          </a:prstGeom>
          <a:ln w="12700">
            <a:solidFill>
              <a:srgbClr val="D6E2D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566160" y="3785615"/>
            <a:ext cx="2240280" cy="1252728"/>
          </a:xfrm>
          <a:prstGeom prst="rect">
            <a:avLst/>
          </a:prstGeom>
          <a:noFill/>
        </p:spPr>
        <p:txBody>
          <a:bodyPr wrap="square" lIns="0" rIns="0" tIns="0" bIns="0">
            <a:spAutoFit/>
          </a:bodyPr>
          <a:lstStyle/>
          <a:p>
            <a:pPr>
              <a:lnSpc>
                <a:spcPct val="112000"/>
              </a:lnSpc>
              <a:spcBef>
                <a:spcPts val="0"/>
              </a:spcBef>
              <a:spcAft>
                <a:spcPts val="204"/>
              </a:spcAft>
              <a:defRPr sz="1700" b="0">
                <a:solidFill>
                  <a:srgbClr val="142F2B"/>
                </a:solidFill>
                <a:latin typeface="Arial"/>
              </a:defRPr>
            </a:pPr>
            <a:r>
              <a:t>Profile</a:t>
            </a:r>
          </a:p>
          <a:p>
            <a:pPr>
              <a:lnSpc>
                <a:spcPct val="112000"/>
              </a:lnSpc>
              <a:spcBef>
                <a:spcPts val="0"/>
              </a:spcBef>
              <a:spcAft>
                <a:spcPts val="204"/>
              </a:spcAft>
              <a:defRPr sz="1700" b="0">
                <a:solidFill>
                  <a:srgbClr val="142F2B"/>
                </a:solidFill>
                <a:latin typeface="Arial"/>
              </a:defRPr>
            </a:pPr>
            <a:r>
              <a:t>Company</a:t>
            </a:r>
          </a:p>
          <a:p>
            <a:pPr>
              <a:lnSpc>
                <a:spcPct val="112000"/>
              </a:lnSpc>
              <a:spcBef>
                <a:spcPts val="0"/>
              </a:spcBef>
              <a:spcAft>
                <a:spcPts val="204"/>
              </a:spcAft>
              <a:defRPr sz="1700" b="0">
                <a:solidFill>
                  <a:srgbClr val="142F2B"/>
                </a:solidFill>
                <a:latin typeface="Arial"/>
              </a:defRPr>
            </a:pPr>
            <a:r>
              <a:t>Job &amp; Search</a:t>
            </a:r>
          </a:p>
          <a:p>
            <a:pPr>
              <a:lnSpc>
                <a:spcPct val="112000"/>
              </a:lnSpc>
              <a:spcBef>
                <a:spcPts val="0"/>
              </a:spcBef>
              <a:spcAft>
                <a:spcPts val="204"/>
              </a:spcAft>
              <a:defRPr sz="1700" b="0">
                <a:solidFill>
                  <a:srgbClr val="142F2B"/>
                </a:solidFill>
                <a:latin typeface="Arial"/>
              </a:defRPr>
            </a:pPr>
            <a:r>
              <a:t>Media</a:t>
            </a:r>
          </a:p>
        </p:txBody>
      </p:sp>
      <p:sp>
        <p:nvSpPr>
          <p:cNvPr id="21" name="Rounded Rectangle 20"/>
          <p:cNvSpPr/>
          <p:nvPr/>
        </p:nvSpPr>
        <p:spPr>
          <a:xfrm>
            <a:off x="3547872" y="5230368"/>
            <a:ext cx="2276856" cy="265176"/>
          </a:xfrm>
          <a:prstGeom prst="roundRect">
            <a:avLst>
              <a:gd name="adj" fmla="val 12000"/>
            </a:avLst>
          </a:prstGeom>
          <a:solidFill>
            <a:srgbClr val="E0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02736" y="5276088"/>
            <a:ext cx="2167128" cy="182880"/>
          </a:xfrm>
          <a:prstGeom prst="rect">
            <a:avLst/>
          </a:prstGeom>
          <a:noFill/>
        </p:spPr>
        <p:txBody>
          <a:bodyPr wrap="square" lIns="0" rIns="0" tIns="0" bIns="0">
            <a:spAutoFit/>
          </a:bodyPr>
          <a:lstStyle/>
          <a:p>
            <a:pPr algn="ctr">
              <a:lnSpc>
                <a:spcPct val="112000"/>
              </a:lnSpc>
              <a:spcBef>
                <a:spcPts val="0"/>
              </a:spcBef>
              <a:spcAft>
                <a:spcPts val="131"/>
              </a:spcAft>
              <a:defRPr sz="1100" b="1">
                <a:solidFill>
                  <a:srgbClr val="07824D"/>
                </a:solidFill>
                <a:latin typeface="Arial"/>
              </a:defRPr>
            </a:pPr>
            <a:r>
              <a:t>4 API service</a:t>
            </a:r>
          </a:p>
        </p:txBody>
      </p:sp>
      <p:sp>
        <p:nvSpPr>
          <p:cNvPr id="23" name="Rounded Rectangle 22"/>
          <p:cNvSpPr/>
          <p:nvPr/>
        </p:nvSpPr>
        <p:spPr>
          <a:xfrm>
            <a:off x="6217920" y="2121408"/>
            <a:ext cx="2606040" cy="3593592"/>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2359152"/>
            <a:ext cx="2240280" cy="347472"/>
          </a:xfrm>
          <a:prstGeom prst="rect">
            <a:avLst/>
          </a:prstGeom>
          <a:noFill/>
        </p:spPr>
        <p:txBody>
          <a:bodyPr wrap="square" lIns="0" rIns="0" tIns="0" bIns="0">
            <a:spAutoFit/>
          </a:bodyPr>
          <a:lstStyle/>
          <a:p>
            <a:pPr>
              <a:lnSpc>
                <a:spcPct val="112000"/>
              </a:lnSpc>
              <a:spcBef>
                <a:spcPts val="0"/>
              </a:spcBef>
              <a:spcAft>
                <a:spcPts val="263"/>
              </a:spcAft>
              <a:defRPr sz="2200" b="1">
                <a:solidFill>
                  <a:srgbClr val="07824D"/>
                </a:solidFill>
                <a:latin typeface="Arial"/>
              </a:defRPr>
            </a:pPr>
            <a:r>
              <a:t>GO 1.25</a:t>
            </a:r>
          </a:p>
        </p:txBody>
      </p:sp>
      <p:sp>
        <p:nvSpPr>
          <p:cNvPr id="25" name="TextBox 24"/>
          <p:cNvSpPr txBox="1"/>
          <p:nvPr/>
        </p:nvSpPr>
        <p:spPr>
          <a:xfrm>
            <a:off x="6400800" y="2871216"/>
            <a:ext cx="2240280" cy="658368"/>
          </a:xfrm>
          <a:prstGeom prst="rect">
            <a:avLst/>
          </a:prstGeom>
          <a:noFill/>
        </p:spPr>
        <p:txBody>
          <a:bodyPr wrap="square" lIns="0" rIns="0" tIns="0" bIns="0">
            <a:spAutoFit/>
          </a:bodyPr>
          <a:lstStyle/>
          <a:p>
            <a:pPr>
              <a:lnSpc>
                <a:spcPct val="112000"/>
              </a:lnSpc>
              <a:spcBef>
                <a:spcPts val="0"/>
              </a:spcBef>
              <a:spcAft>
                <a:spcPts val="168"/>
              </a:spcAft>
              <a:defRPr sz="1400" b="0">
                <a:solidFill>
                  <a:srgbClr val="64776F"/>
                </a:solidFill>
                <a:latin typeface="Arial"/>
              </a:defRPr>
            </a:pPr>
            <a:r>
              <a:t>WebSocket / SSE / LiveKit</a:t>
            </a:r>
          </a:p>
        </p:txBody>
      </p:sp>
      <p:cxnSp>
        <p:nvCxnSpPr>
          <p:cNvPr id="26" name="Connector 25"/>
          <p:cNvCxnSpPr/>
          <p:nvPr/>
        </p:nvCxnSpPr>
        <p:spPr>
          <a:xfrm>
            <a:off x="6400800" y="3557016"/>
            <a:ext cx="2240280" cy="0"/>
          </a:xfrm>
          <a:prstGeom prst="line">
            <a:avLst/>
          </a:prstGeom>
          <a:ln w="12700">
            <a:solidFill>
              <a:srgbClr val="D6E2DA"/>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400800" y="3785615"/>
            <a:ext cx="2240280" cy="1252728"/>
          </a:xfrm>
          <a:prstGeom prst="rect">
            <a:avLst/>
          </a:prstGeom>
          <a:noFill/>
        </p:spPr>
        <p:txBody>
          <a:bodyPr wrap="square" lIns="0" rIns="0" tIns="0" bIns="0">
            <a:spAutoFit/>
          </a:bodyPr>
          <a:lstStyle/>
          <a:p>
            <a:pPr>
              <a:lnSpc>
                <a:spcPct val="112000"/>
              </a:lnSpc>
              <a:spcBef>
                <a:spcPts val="0"/>
              </a:spcBef>
              <a:spcAft>
                <a:spcPts val="204"/>
              </a:spcAft>
              <a:defRPr sz="1700" b="0">
                <a:solidFill>
                  <a:srgbClr val="142F2B"/>
                </a:solidFill>
                <a:latin typeface="Arial"/>
              </a:defRPr>
            </a:pPr>
            <a:r>
              <a:t>Chat</a:t>
            </a:r>
          </a:p>
          <a:p>
            <a:pPr>
              <a:lnSpc>
                <a:spcPct val="112000"/>
              </a:lnSpc>
              <a:spcBef>
                <a:spcPts val="0"/>
              </a:spcBef>
              <a:spcAft>
                <a:spcPts val="204"/>
              </a:spcAft>
              <a:defRPr sz="1700" b="0">
                <a:solidFill>
                  <a:srgbClr val="142F2B"/>
                </a:solidFill>
                <a:latin typeface="Arial"/>
              </a:defRPr>
            </a:pPr>
            <a:r>
              <a:t>Notification</a:t>
            </a:r>
          </a:p>
          <a:p>
            <a:pPr>
              <a:lnSpc>
                <a:spcPct val="112000"/>
              </a:lnSpc>
              <a:spcBef>
                <a:spcPts val="0"/>
              </a:spcBef>
              <a:spcAft>
                <a:spcPts val="204"/>
              </a:spcAft>
              <a:defRPr sz="1700" b="0">
                <a:solidFill>
                  <a:srgbClr val="142F2B"/>
                </a:solidFill>
                <a:latin typeface="Arial"/>
              </a:defRPr>
            </a:pPr>
            <a:r>
              <a:t>Video</a:t>
            </a:r>
          </a:p>
        </p:txBody>
      </p:sp>
      <p:sp>
        <p:nvSpPr>
          <p:cNvPr id="28" name="Rounded Rectangle 27"/>
          <p:cNvSpPr/>
          <p:nvPr/>
        </p:nvSpPr>
        <p:spPr>
          <a:xfrm>
            <a:off x="6382512" y="5230368"/>
            <a:ext cx="2276856" cy="265176"/>
          </a:xfrm>
          <a:prstGeom prst="roundRect">
            <a:avLst>
              <a:gd name="adj" fmla="val 12000"/>
            </a:avLst>
          </a:prstGeom>
          <a:solidFill>
            <a:srgbClr val="E0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37375" y="5276088"/>
            <a:ext cx="2167128" cy="182880"/>
          </a:xfrm>
          <a:prstGeom prst="rect">
            <a:avLst/>
          </a:prstGeom>
          <a:noFill/>
        </p:spPr>
        <p:txBody>
          <a:bodyPr wrap="square" lIns="0" rIns="0" tIns="0" bIns="0">
            <a:spAutoFit/>
          </a:bodyPr>
          <a:lstStyle/>
          <a:p>
            <a:pPr algn="ctr">
              <a:lnSpc>
                <a:spcPct val="112000"/>
              </a:lnSpc>
              <a:spcBef>
                <a:spcPts val="0"/>
              </a:spcBef>
              <a:spcAft>
                <a:spcPts val="131"/>
              </a:spcAft>
              <a:defRPr sz="1100" b="1">
                <a:solidFill>
                  <a:srgbClr val="07824D"/>
                </a:solidFill>
                <a:latin typeface="Arial"/>
              </a:defRPr>
            </a:pPr>
            <a:r>
              <a:t>3 API service</a:t>
            </a:r>
          </a:p>
        </p:txBody>
      </p:sp>
      <p:sp>
        <p:nvSpPr>
          <p:cNvPr id="30" name="Rounded Rectangle 29"/>
          <p:cNvSpPr/>
          <p:nvPr/>
        </p:nvSpPr>
        <p:spPr>
          <a:xfrm>
            <a:off x="9052560" y="2121408"/>
            <a:ext cx="2606040" cy="3593592"/>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235440" y="2359152"/>
            <a:ext cx="2240280" cy="347472"/>
          </a:xfrm>
          <a:prstGeom prst="rect">
            <a:avLst/>
          </a:prstGeom>
          <a:noFill/>
        </p:spPr>
        <p:txBody>
          <a:bodyPr wrap="square" lIns="0" rIns="0" tIns="0" bIns="0">
            <a:spAutoFit/>
          </a:bodyPr>
          <a:lstStyle/>
          <a:p>
            <a:pPr>
              <a:lnSpc>
                <a:spcPct val="112000"/>
              </a:lnSpc>
              <a:spcBef>
                <a:spcPts val="0"/>
              </a:spcBef>
              <a:spcAft>
                <a:spcPts val="263"/>
              </a:spcAft>
              <a:defRPr sz="2200" b="1">
                <a:solidFill>
                  <a:srgbClr val="07824D"/>
                </a:solidFill>
                <a:latin typeface="Arial"/>
              </a:defRPr>
            </a:pPr>
            <a:r>
              <a:t>PYTHON 3.11</a:t>
            </a:r>
          </a:p>
        </p:txBody>
      </p:sp>
      <p:sp>
        <p:nvSpPr>
          <p:cNvPr id="32" name="TextBox 31"/>
          <p:cNvSpPr txBox="1"/>
          <p:nvPr/>
        </p:nvSpPr>
        <p:spPr>
          <a:xfrm>
            <a:off x="9235440" y="2871216"/>
            <a:ext cx="2240280" cy="658368"/>
          </a:xfrm>
          <a:prstGeom prst="rect">
            <a:avLst/>
          </a:prstGeom>
          <a:noFill/>
        </p:spPr>
        <p:txBody>
          <a:bodyPr wrap="square" lIns="0" rIns="0" tIns="0" bIns="0">
            <a:spAutoFit/>
          </a:bodyPr>
          <a:lstStyle/>
          <a:p>
            <a:pPr>
              <a:lnSpc>
                <a:spcPct val="112000"/>
              </a:lnSpc>
              <a:spcBef>
                <a:spcPts val="0"/>
              </a:spcBef>
              <a:spcAft>
                <a:spcPts val="168"/>
              </a:spcAft>
              <a:defRPr sz="1400" b="0">
                <a:solidFill>
                  <a:srgbClr val="64776F"/>
                </a:solidFill>
                <a:latin typeface="Arial"/>
              </a:defRPr>
            </a:pPr>
            <a:r>
              <a:t>FastAPI + sentence-transformers</a:t>
            </a:r>
          </a:p>
        </p:txBody>
      </p:sp>
      <p:cxnSp>
        <p:nvCxnSpPr>
          <p:cNvPr id="33" name="Connector 32"/>
          <p:cNvCxnSpPr/>
          <p:nvPr/>
        </p:nvCxnSpPr>
        <p:spPr>
          <a:xfrm>
            <a:off x="9235440" y="3557016"/>
            <a:ext cx="2240280" cy="0"/>
          </a:xfrm>
          <a:prstGeom prst="line">
            <a:avLst/>
          </a:prstGeom>
          <a:ln w="12700">
            <a:solidFill>
              <a:srgbClr val="D6E2D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9235440" y="3785615"/>
            <a:ext cx="2240280" cy="1252728"/>
          </a:xfrm>
          <a:prstGeom prst="rect">
            <a:avLst/>
          </a:prstGeom>
          <a:noFill/>
        </p:spPr>
        <p:txBody>
          <a:bodyPr wrap="square" lIns="0" rIns="0" tIns="0" bIns="0">
            <a:spAutoFit/>
          </a:bodyPr>
          <a:lstStyle/>
          <a:p>
            <a:pPr>
              <a:lnSpc>
                <a:spcPct val="112000"/>
              </a:lnSpc>
              <a:spcBef>
                <a:spcPts val="0"/>
              </a:spcBef>
              <a:spcAft>
                <a:spcPts val="192"/>
              </a:spcAft>
              <a:defRPr sz="1600" b="0">
                <a:solidFill>
                  <a:srgbClr val="142F2B"/>
                </a:solidFill>
                <a:latin typeface="Arial"/>
              </a:defRPr>
            </a:pPr>
            <a:r>
              <a:t>AI</a:t>
            </a:r>
          </a:p>
          <a:p>
            <a:pPr>
              <a:lnSpc>
                <a:spcPct val="112000"/>
              </a:lnSpc>
              <a:spcBef>
                <a:spcPts val="0"/>
              </a:spcBef>
              <a:spcAft>
                <a:spcPts val="192"/>
              </a:spcAft>
              <a:defRPr sz="1600" b="0">
                <a:solidFill>
                  <a:srgbClr val="142F2B"/>
                </a:solidFill>
                <a:latin typeface="Arial"/>
              </a:defRPr>
            </a:pPr>
          </a:p>
          <a:p>
            <a:pPr>
              <a:lnSpc>
                <a:spcPct val="112000"/>
              </a:lnSpc>
              <a:spcBef>
                <a:spcPts val="0"/>
              </a:spcBef>
              <a:spcAft>
                <a:spcPts val="192"/>
              </a:spcAft>
              <a:defRPr sz="1600" b="0">
                <a:solidFill>
                  <a:srgbClr val="142F2B"/>
                </a:solidFill>
                <a:latin typeface="Arial"/>
              </a:defRPr>
            </a:pPr>
            <a:r>
              <a:t>Embedding worker CV</a:t>
            </a:r>
          </a:p>
          <a:p>
            <a:pPr>
              <a:lnSpc>
                <a:spcPct val="112000"/>
              </a:lnSpc>
              <a:spcBef>
                <a:spcPts val="0"/>
              </a:spcBef>
              <a:spcAft>
                <a:spcPts val="192"/>
              </a:spcAft>
              <a:defRPr sz="1600" b="0">
                <a:solidFill>
                  <a:srgbClr val="142F2B"/>
                </a:solidFill>
                <a:latin typeface="Arial"/>
              </a:defRPr>
            </a:pPr>
            <a:r>
              <a:t>Embedding worker Job</a:t>
            </a:r>
          </a:p>
        </p:txBody>
      </p:sp>
      <p:sp>
        <p:nvSpPr>
          <p:cNvPr id="35" name="Rounded Rectangle 34"/>
          <p:cNvSpPr/>
          <p:nvPr/>
        </p:nvSpPr>
        <p:spPr>
          <a:xfrm>
            <a:off x="9217152" y="5230368"/>
            <a:ext cx="2276856" cy="265176"/>
          </a:xfrm>
          <a:prstGeom prst="roundRect">
            <a:avLst>
              <a:gd name="adj" fmla="val 12000"/>
            </a:avLst>
          </a:prstGeom>
          <a:solidFill>
            <a:srgbClr val="E0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72016" y="5276088"/>
            <a:ext cx="2167128" cy="182880"/>
          </a:xfrm>
          <a:prstGeom prst="rect">
            <a:avLst/>
          </a:prstGeom>
          <a:noFill/>
        </p:spPr>
        <p:txBody>
          <a:bodyPr wrap="square" lIns="0" rIns="0" tIns="0" bIns="0">
            <a:spAutoFit/>
          </a:bodyPr>
          <a:lstStyle/>
          <a:p>
            <a:pPr algn="ctr">
              <a:lnSpc>
                <a:spcPct val="112000"/>
              </a:lnSpc>
              <a:spcBef>
                <a:spcPts val="0"/>
              </a:spcBef>
              <a:spcAft>
                <a:spcPts val="131"/>
              </a:spcAft>
              <a:defRPr sz="1100" b="1">
                <a:solidFill>
                  <a:srgbClr val="07824D"/>
                </a:solidFill>
                <a:latin typeface="Arial"/>
              </a:defRPr>
            </a:pPr>
            <a:r>
              <a:t>1 API + 2 worker</a:t>
            </a:r>
          </a:p>
        </p:txBody>
      </p:sp>
      <p:sp>
        <p:nvSpPr>
          <p:cNvPr id="37" name="TextBox 36"/>
          <p:cNvSpPr txBox="1"/>
          <p:nvPr/>
        </p:nvSpPr>
        <p:spPr>
          <a:xfrm>
            <a:off x="594360" y="5998464"/>
            <a:ext cx="10972800" cy="219456"/>
          </a:xfrm>
          <a:prstGeom prst="rect">
            <a:avLst/>
          </a:prstGeom>
          <a:noFill/>
        </p:spPr>
        <p:txBody>
          <a:bodyPr wrap="square" lIns="0" rIns="0" tIns="0" bIns="0">
            <a:spAutoFit/>
          </a:bodyPr>
          <a:lstStyle/>
          <a:p>
            <a:pPr>
              <a:lnSpc>
                <a:spcPct val="112000"/>
              </a:lnSpc>
              <a:spcBef>
                <a:spcPts val="0"/>
              </a:spcBef>
              <a:spcAft>
                <a:spcPts val="144"/>
              </a:spcAft>
              <a:defRPr sz="1200" b="0">
                <a:solidFill>
                  <a:srgbClr val="64776F"/>
                </a:solidFill>
                <a:latin typeface="Arial"/>
              </a:defRPr>
            </a:pPr>
            <a:r>
              <a:t>Frontend: Next.js 14 / React 18  •  Hạ tầng local: Docker Compose, Nginx, PostgreSQL, Redis, Kafka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5"/>
        </a:solidFill>
        <a:effectLst/>
      </p:bgPr>
    </p:bg>
    <p:spTree>
      <p:nvGrpSpPr>
        <p:cNvPr id="1" name=""/>
        <p:cNvGrpSpPr/>
        <p:nvPr/>
      </p:nvGrpSpPr>
      <p:grpSpPr/>
      <p:sp>
        <p:nvSpPr>
          <p:cNvPr id="2" name="TextBox 1"/>
          <p:cNvSpPr txBox="1"/>
          <p:nvPr/>
        </p:nvSpPr>
        <p:spPr>
          <a:xfrm>
            <a:off x="502920" y="256032"/>
            <a:ext cx="4572000" cy="201168"/>
          </a:xfrm>
          <a:prstGeom prst="rect">
            <a:avLst/>
          </a:prstGeom>
          <a:noFill/>
        </p:spPr>
        <p:txBody>
          <a:bodyPr wrap="square" lIns="0" rIns="0" tIns="0" bIns="0">
            <a:spAutoFit/>
          </a:bodyPr>
          <a:lstStyle/>
          <a:p>
            <a:pPr>
              <a:lnSpc>
                <a:spcPct val="112000"/>
              </a:lnSpc>
              <a:spcBef>
                <a:spcPts val="0"/>
              </a:spcBef>
              <a:spcAft>
                <a:spcPts val="108"/>
              </a:spcAft>
              <a:defRPr sz="900" b="1">
                <a:solidFill>
                  <a:srgbClr val="07824D"/>
                </a:solidFill>
                <a:latin typeface="Arial"/>
              </a:defRPr>
            </a:pPr>
            <a:r>
              <a:t>CAREERHUB  /  RECRUITMENT SYSTEM</a:t>
            </a:r>
          </a:p>
        </p:txBody>
      </p:sp>
      <p:sp>
        <p:nvSpPr>
          <p:cNvPr id="3" name="TextBox 2"/>
          <p:cNvSpPr txBox="1"/>
          <p:nvPr/>
        </p:nvSpPr>
        <p:spPr>
          <a:xfrm>
            <a:off x="8321040" y="256032"/>
            <a:ext cx="3364992" cy="201168"/>
          </a:xfrm>
          <a:prstGeom prst="rect">
            <a:avLst/>
          </a:prstGeom>
          <a:noFill/>
        </p:spPr>
        <p:txBody>
          <a:bodyPr wrap="square" lIns="0" rIns="0" tIns="0" bIns="0">
            <a:spAutoFit/>
          </a:bodyPr>
          <a:lstStyle/>
          <a:p>
            <a:pPr algn="r">
              <a:lnSpc>
                <a:spcPct val="112000"/>
              </a:lnSpc>
              <a:spcBef>
                <a:spcPts val="0"/>
              </a:spcBef>
              <a:spcAft>
                <a:spcPts val="108"/>
              </a:spcAft>
              <a:defRPr sz="900" b="0">
                <a:solidFill>
                  <a:srgbClr val="64776F"/>
                </a:solidFill>
                <a:latin typeface="Arial"/>
              </a:defRPr>
            </a:pPr>
            <a:r>
              <a:t>THIẾT KẾ DỮ LIỆU &amp; BẢO MẬT</a:t>
            </a:r>
          </a:p>
        </p:txBody>
      </p:sp>
      <p:sp>
        <p:nvSpPr>
          <p:cNvPr id="4" name="TextBox 3"/>
          <p:cNvSpPr txBox="1"/>
          <p:nvPr/>
        </p:nvSpPr>
        <p:spPr>
          <a:xfrm>
            <a:off x="502920" y="749808"/>
            <a:ext cx="11109960" cy="621792"/>
          </a:xfrm>
          <a:prstGeom prst="rect">
            <a:avLst/>
          </a:prstGeom>
          <a:noFill/>
        </p:spPr>
        <p:txBody>
          <a:bodyPr wrap="square" lIns="0" rIns="0" tIns="0" bIns="0">
            <a:spAutoFit/>
          </a:bodyPr>
          <a:lstStyle/>
          <a:p>
            <a:pPr>
              <a:lnSpc>
                <a:spcPct val="112000"/>
              </a:lnSpc>
              <a:spcBef>
                <a:spcPts val="0"/>
              </a:spcBef>
              <a:spcAft>
                <a:spcPts val="359"/>
              </a:spcAft>
              <a:defRPr sz="3000" b="1">
                <a:solidFill>
                  <a:srgbClr val="142F2B"/>
                </a:solidFill>
                <a:latin typeface="Arial"/>
              </a:defRPr>
            </a:pPr>
            <a:r>
              <a:t>Phân quyền và tính nhất quán của dữ liệu</a:t>
            </a:r>
          </a:p>
        </p:txBody>
      </p:sp>
      <p:sp>
        <p:nvSpPr>
          <p:cNvPr id="5" name="TextBox 4"/>
          <p:cNvSpPr txBox="1"/>
          <p:nvPr/>
        </p:nvSpPr>
        <p:spPr>
          <a:xfrm>
            <a:off x="530352" y="1444752"/>
            <a:ext cx="11018520" cy="484632"/>
          </a:xfrm>
          <a:prstGeom prst="rect">
            <a:avLst/>
          </a:prstGeom>
          <a:noFill/>
        </p:spPr>
        <p:txBody>
          <a:bodyPr wrap="square" lIns="0" rIns="0" tIns="0" bIns="0">
            <a:spAutoFit/>
          </a:bodyPr>
          <a:lstStyle/>
          <a:p>
            <a:pPr>
              <a:lnSpc>
                <a:spcPct val="112000"/>
              </a:lnSpc>
              <a:spcBef>
                <a:spcPts val="0"/>
              </a:spcBef>
              <a:spcAft>
                <a:spcPts val="168"/>
              </a:spcAft>
              <a:defRPr sz="1400" b="0">
                <a:solidFill>
                  <a:srgbClr val="64776F"/>
                </a:solidFill>
                <a:latin typeface="Arial"/>
              </a:defRPr>
            </a:pPr>
            <a:r>
              <a:t>Bảo vệ hồ sơ riêng tư và giữ đúng trạng thái khi nhiều service cùng tham gia.</a:t>
            </a:r>
          </a:p>
        </p:txBody>
      </p:sp>
      <p:cxnSp>
        <p:nvCxnSpPr>
          <p:cNvPr id="6" name="Connector 5"/>
          <p:cNvCxnSpPr/>
          <p:nvPr/>
        </p:nvCxnSpPr>
        <p:spPr>
          <a:xfrm>
            <a:off x="502920" y="6437376"/>
            <a:ext cx="11183112" cy="0"/>
          </a:xfrm>
          <a:prstGeom prst="line">
            <a:avLst/>
          </a:prstGeom>
          <a:ln w="8890">
            <a:solidFill>
              <a:srgbClr val="D6E2D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12064" y="6537960"/>
            <a:ext cx="10287000" cy="173736"/>
          </a:xfrm>
          <a:prstGeom prst="rect">
            <a:avLst/>
          </a:prstGeom>
          <a:noFill/>
        </p:spPr>
        <p:txBody>
          <a:bodyPr wrap="square" lIns="0" rIns="0" tIns="0" bIns="0">
            <a:spAutoFit/>
          </a:bodyPr>
          <a:lstStyle/>
          <a:p>
            <a:pPr>
              <a:lnSpc>
                <a:spcPct val="112000"/>
              </a:lnSpc>
              <a:spcBef>
                <a:spcPts val="0"/>
              </a:spcBef>
              <a:spcAft>
                <a:spcPts val="96"/>
              </a:spcAft>
              <a:defRPr sz="800" b="0">
                <a:solidFill>
                  <a:srgbClr val="64776F"/>
                </a:solidFill>
                <a:latin typeface="Arial"/>
              </a:defRPr>
            </a:pPr>
            <a:r>
              <a:t>Nguồn: README.md · docs/architecture.md · docs/system-regression-2026-10-16.md</a:t>
            </a:r>
          </a:p>
        </p:txBody>
      </p:sp>
      <p:sp>
        <p:nvSpPr>
          <p:cNvPr id="8" name="TextBox 7"/>
          <p:cNvSpPr txBox="1"/>
          <p:nvPr/>
        </p:nvSpPr>
        <p:spPr>
          <a:xfrm>
            <a:off x="10881360" y="6510528"/>
            <a:ext cx="795528" cy="210312"/>
          </a:xfrm>
          <a:prstGeom prst="rect">
            <a:avLst/>
          </a:prstGeom>
          <a:noFill/>
        </p:spPr>
        <p:txBody>
          <a:bodyPr wrap="square" lIns="0" rIns="0" tIns="0" bIns="0">
            <a:spAutoFit/>
          </a:bodyPr>
          <a:lstStyle/>
          <a:p>
            <a:pPr algn="r">
              <a:lnSpc>
                <a:spcPct val="112000"/>
              </a:lnSpc>
              <a:spcBef>
                <a:spcPts val="0"/>
              </a:spcBef>
              <a:spcAft>
                <a:spcPts val="108"/>
              </a:spcAft>
              <a:defRPr sz="900" b="0">
                <a:solidFill>
                  <a:srgbClr val="64776F"/>
                </a:solidFill>
                <a:latin typeface="Arial"/>
              </a:defRPr>
            </a:pPr>
            <a:r>
              <a:t>08 / 16</a:t>
            </a:r>
          </a:p>
        </p:txBody>
      </p:sp>
      <p:sp>
        <p:nvSpPr>
          <p:cNvPr id="9" name="Rectangle 8"/>
          <p:cNvSpPr/>
          <p:nvPr/>
        </p:nvSpPr>
        <p:spPr>
          <a:xfrm>
            <a:off x="640080" y="2267712"/>
            <a:ext cx="68580" cy="68580"/>
          </a:xfrm>
          <a:prstGeom prst="rect">
            <a:avLst/>
          </a:prstGeom>
          <a:solidFill>
            <a:srgbClr val="078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2194560"/>
            <a:ext cx="5047488" cy="310896"/>
          </a:xfrm>
          <a:prstGeom prst="rect">
            <a:avLst/>
          </a:prstGeom>
          <a:noFill/>
        </p:spPr>
        <p:txBody>
          <a:bodyPr wrap="square" lIns="0" rIns="0" tIns="0" bIns="0">
            <a:spAutoFit/>
          </a:bodyPr>
          <a:lstStyle/>
          <a:p>
            <a:pPr>
              <a:lnSpc>
                <a:spcPct val="112000"/>
              </a:lnSpc>
              <a:spcBef>
                <a:spcPts val="0"/>
              </a:spcBef>
              <a:spcAft>
                <a:spcPts val="216"/>
              </a:spcAft>
              <a:defRPr sz="1800" b="1">
                <a:solidFill>
                  <a:srgbClr val="142F2B"/>
                </a:solidFill>
                <a:latin typeface="Arial"/>
              </a:defRPr>
            </a:pPr>
            <a:r>
              <a:t>JWT RS256 &amp; cookie HttpOnly</a:t>
            </a:r>
          </a:p>
        </p:txBody>
      </p:sp>
      <p:sp>
        <p:nvSpPr>
          <p:cNvPr id="11" name="TextBox 10"/>
          <p:cNvSpPr txBox="1"/>
          <p:nvPr/>
        </p:nvSpPr>
        <p:spPr>
          <a:xfrm>
            <a:off x="841247" y="2606040"/>
            <a:ext cx="5047488" cy="868680"/>
          </a:xfrm>
          <a:prstGeom prst="rect">
            <a:avLst/>
          </a:prstGeom>
          <a:noFill/>
        </p:spPr>
        <p:txBody>
          <a:bodyPr wrap="square" lIns="0" rIns="0" tIns="0" bIns="0">
            <a:spAutoFit/>
          </a:bodyPr>
          <a:lstStyle/>
          <a:p>
            <a:pPr>
              <a:lnSpc>
                <a:spcPct val="112000"/>
              </a:lnSpc>
              <a:spcBef>
                <a:spcPts val="0"/>
              </a:spcBef>
              <a:spcAft>
                <a:spcPts val="192"/>
              </a:spcAft>
              <a:defRPr sz="1600" b="0">
                <a:solidFill>
                  <a:srgbClr val="64776F"/>
                </a:solidFill>
                <a:latin typeface="Arial"/>
              </a:defRPr>
            </a:pPr>
            <a:r>
              <a:t>Auth phát hành token; các service kiểm tra chữ ký. Browser nhận user, không nhận token trong JSON.</a:t>
            </a:r>
          </a:p>
        </p:txBody>
      </p:sp>
      <p:sp>
        <p:nvSpPr>
          <p:cNvPr id="12" name="Rectangle 11"/>
          <p:cNvSpPr/>
          <p:nvPr/>
        </p:nvSpPr>
        <p:spPr>
          <a:xfrm>
            <a:off x="6345936" y="2267712"/>
            <a:ext cx="68580" cy="68580"/>
          </a:xfrm>
          <a:prstGeom prst="rect">
            <a:avLst/>
          </a:prstGeom>
          <a:solidFill>
            <a:srgbClr val="078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47104" y="2194560"/>
            <a:ext cx="4965192" cy="310896"/>
          </a:xfrm>
          <a:prstGeom prst="rect">
            <a:avLst/>
          </a:prstGeom>
          <a:noFill/>
        </p:spPr>
        <p:txBody>
          <a:bodyPr wrap="square" lIns="0" rIns="0" tIns="0" bIns="0">
            <a:spAutoFit/>
          </a:bodyPr>
          <a:lstStyle/>
          <a:p>
            <a:pPr>
              <a:lnSpc>
                <a:spcPct val="112000"/>
              </a:lnSpc>
              <a:spcBef>
                <a:spcPts val="0"/>
              </a:spcBef>
              <a:spcAft>
                <a:spcPts val="216"/>
              </a:spcAft>
              <a:defRPr sz="1800" b="1">
                <a:solidFill>
                  <a:srgbClr val="142F2B"/>
                </a:solidFill>
                <a:latin typeface="Arial"/>
              </a:defRPr>
            </a:pPr>
            <a:r>
              <a:t>Phân quyền theo tài nguyên</a:t>
            </a:r>
          </a:p>
        </p:txBody>
      </p:sp>
      <p:sp>
        <p:nvSpPr>
          <p:cNvPr id="14" name="TextBox 13"/>
          <p:cNvSpPr txBox="1"/>
          <p:nvPr/>
        </p:nvSpPr>
        <p:spPr>
          <a:xfrm>
            <a:off x="6547104" y="2606040"/>
            <a:ext cx="4965192" cy="868680"/>
          </a:xfrm>
          <a:prstGeom prst="rect">
            <a:avLst/>
          </a:prstGeom>
          <a:noFill/>
        </p:spPr>
        <p:txBody>
          <a:bodyPr wrap="square" lIns="0" rIns="0" tIns="0" bIns="0">
            <a:spAutoFit/>
          </a:bodyPr>
          <a:lstStyle/>
          <a:p>
            <a:pPr>
              <a:lnSpc>
                <a:spcPct val="112000"/>
              </a:lnSpc>
              <a:spcBef>
                <a:spcPts val="0"/>
              </a:spcBef>
              <a:spcAft>
                <a:spcPts val="192"/>
              </a:spcAft>
              <a:defRPr sz="1600" b="0">
                <a:solidFill>
                  <a:srgbClr val="64776F"/>
                </a:solidFill>
                <a:latin typeface="Arial"/>
              </a:defRPr>
            </a:pPr>
            <a:r>
              <a:t>Kiểm tra chủ hồ sơ, vai trò, thành viên chat và người được mời gọi; scope ứng viên/nhà tuyển dụng.</a:t>
            </a:r>
          </a:p>
        </p:txBody>
      </p:sp>
      <p:sp>
        <p:nvSpPr>
          <p:cNvPr id="15" name="Rectangle 14"/>
          <p:cNvSpPr/>
          <p:nvPr/>
        </p:nvSpPr>
        <p:spPr>
          <a:xfrm>
            <a:off x="640080" y="3904488"/>
            <a:ext cx="68580" cy="68580"/>
          </a:xfrm>
          <a:prstGeom prst="rect">
            <a:avLst/>
          </a:prstGeom>
          <a:solidFill>
            <a:srgbClr val="078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3831336"/>
            <a:ext cx="5047488" cy="310896"/>
          </a:xfrm>
          <a:prstGeom prst="rect">
            <a:avLst/>
          </a:prstGeom>
          <a:noFill/>
        </p:spPr>
        <p:txBody>
          <a:bodyPr wrap="square" lIns="0" rIns="0" tIns="0" bIns="0">
            <a:spAutoFit/>
          </a:bodyPr>
          <a:lstStyle/>
          <a:p>
            <a:pPr>
              <a:lnSpc>
                <a:spcPct val="112000"/>
              </a:lnSpc>
              <a:spcBef>
                <a:spcPts val="0"/>
              </a:spcBef>
              <a:spcAft>
                <a:spcPts val="216"/>
              </a:spcAft>
              <a:defRPr sz="1800" b="1">
                <a:solidFill>
                  <a:srgbClr val="142F2B"/>
                </a:solidFill>
                <a:latin typeface="Arial"/>
              </a:defRPr>
            </a:pPr>
            <a:r>
              <a:t>CV riêng tư &amp; snapshot đơn nộp</a:t>
            </a:r>
          </a:p>
        </p:txBody>
      </p:sp>
      <p:sp>
        <p:nvSpPr>
          <p:cNvPr id="17" name="TextBox 16"/>
          <p:cNvSpPr txBox="1"/>
          <p:nvPr/>
        </p:nvSpPr>
        <p:spPr>
          <a:xfrm>
            <a:off x="841247" y="4242816"/>
            <a:ext cx="5047488" cy="868680"/>
          </a:xfrm>
          <a:prstGeom prst="rect">
            <a:avLst/>
          </a:prstGeom>
          <a:noFill/>
        </p:spPr>
        <p:txBody>
          <a:bodyPr wrap="square" lIns="0" rIns="0" tIns="0" bIns="0">
            <a:spAutoFit/>
          </a:bodyPr>
          <a:lstStyle/>
          <a:p>
            <a:pPr>
              <a:lnSpc>
                <a:spcPct val="112000"/>
              </a:lnSpc>
              <a:spcBef>
                <a:spcPts val="0"/>
              </a:spcBef>
              <a:spcAft>
                <a:spcPts val="192"/>
              </a:spcAft>
              <a:defRPr sz="1600" b="0">
                <a:solidFill>
                  <a:srgbClr val="64776F"/>
                </a:solidFill>
                <a:latin typeface="Arial"/>
              </a:defRPr>
            </a:pPr>
            <a:r>
              <a:t>Tải file cần quyền và URL ký ngắn hạn. CV đã nộp được giữ đúng snapshot cho hồ sơ ứng tuyển.</a:t>
            </a:r>
          </a:p>
        </p:txBody>
      </p:sp>
      <p:sp>
        <p:nvSpPr>
          <p:cNvPr id="18" name="Rectangle 17"/>
          <p:cNvSpPr/>
          <p:nvPr/>
        </p:nvSpPr>
        <p:spPr>
          <a:xfrm>
            <a:off x="6345936" y="3904488"/>
            <a:ext cx="68580" cy="68580"/>
          </a:xfrm>
          <a:prstGeom prst="rect">
            <a:avLst/>
          </a:prstGeom>
          <a:solidFill>
            <a:srgbClr val="078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47104" y="3831336"/>
            <a:ext cx="4965192" cy="310896"/>
          </a:xfrm>
          <a:prstGeom prst="rect">
            <a:avLst/>
          </a:prstGeom>
          <a:noFill/>
        </p:spPr>
        <p:txBody>
          <a:bodyPr wrap="square" lIns="0" rIns="0" tIns="0" bIns="0">
            <a:spAutoFit/>
          </a:bodyPr>
          <a:lstStyle/>
          <a:p>
            <a:pPr>
              <a:lnSpc>
                <a:spcPct val="112000"/>
              </a:lnSpc>
              <a:spcBef>
                <a:spcPts val="0"/>
              </a:spcBef>
              <a:spcAft>
                <a:spcPts val="216"/>
              </a:spcAft>
              <a:defRPr sz="1800" b="1">
                <a:solidFill>
                  <a:srgbClr val="142F2B"/>
                </a:solidFill>
                <a:latin typeface="Arial"/>
              </a:defRPr>
            </a:pPr>
            <a:r>
              <a:t>Outbox &amp; xử lý sự kiện</a:t>
            </a:r>
          </a:p>
        </p:txBody>
      </p:sp>
      <p:sp>
        <p:nvSpPr>
          <p:cNvPr id="20" name="TextBox 19"/>
          <p:cNvSpPr txBox="1"/>
          <p:nvPr/>
        </p:nvSpPr>
        <p:spPr>
          <a:xfrm>
            <a:off x="6547104" y="4242816"/>
            <a:ext cx="4965192" cy="868680"/>
          </a:xfrm>
          <a:prstGeom prst="rect">
            <a:avLst/>
          </a:prstGeom>
          <a:noFill/>
        </p:spPr>
        <p:txBody>
          <a:bodyPr wrap="square" lIns="0" rIns="0" tIns="0" bIns="0">
            <a:spAutoFit/>
          </a:bodyPr>
          <a:lstStyle/>
          <a:p>
            <a:pPr>
              <a:lnSpc>
                <a:spcPct val="112000"/>
              </a:lnSpc>
              <a:spcBef>
                <a:spcPts val="0"/>
              </a:spcBef>
              <a:spcAft>
                <a:spcPts val="192"/>
              </a:spcAft>
              <a:defRPr sz="1600" b="0">
                <a:solidFill>
                  <a:srgbClr val="64776F"/>
                </a:solidFill>
                <a:latin typeface="Arial"/>
              </a:defRPr>
            </a:pPr>
            <a:r>
              <a:t>Job ghi thay đổi và event cùng giao dịch; event_id chống xử lý trùng, version hỗ trợ thứ tự.</a:t>
            </a:r>
          </a:p>
        </p:txBody>
      </p:sp>
      <p:sp>
        <p:nvSpPr>
          <p:cNvPr id="21" name="Rounded Rectangle 20"/>
          <p:cNvSpPr/>
          <p:nvPr/>
        </p:nvSpPr>
        <p:spPr>
          <a:xfrm>
            <a:off x="731520" y="5833872"/>
            <a:ext cx="10744200" cy="265176"/>
          </a:xfrm>
          <a:prstGeom prst="roundRect">
            <a:avLst>
              <a:gd name="adj" fmla="val 12000"/>
            </a:avLst>
          </a:prstGeom>
          <a:solidFill>
            <a:srgbClr val="FFF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5879592"/>
            <a:ext cx="10634472" cy="182880"/>
          </a:xfrm>
          <a:prstGeom prst="rect">
            <a:avLst/>
          </a:prstGeom>
          <a:noFill/>
        </p:spPr>
        <p:txBody>
          <a:bodyPr wrap="square" lIns="0" rIns="0" tIns="0" bIns="0">
            <a:spAutoFit/>
          </a:bodyPr>
          <a:lstStyle/>
          <a:p>
            <a:pPr algn="ctr">
              <a:lnSpc>
                <a:spcPct val="112000"/>
              </a:lnSpc>
              <a:spcBef>
                <a:spcPts val="0"/>
              </a:spcBef>
              <a:spcAft>
                <a:spcPts val="131"/>
              </a:spcAft>
              <a:defRPr sz="1100" b="1">
                <a:solidFill>
                  <a:srgbClr val="A76516"/>
                </a:solidFill>
                <a:latin typeface="Arial"/>
              </a:defRPr>
            </a:pPr>
            <a:r>
              <a:t>Lưu ý vận hành: local còn dùng chung credential PostgreSQL; các API stateless chịu TTL access token.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5"/>
        </a:solidFill>
        <a:effectLst/>
      </p:bgPr>
    </p:bg>
    <p:spTree>
      <p:nvGrpSpPr>
        <p:cNvPr id="1" name=""/>
        <p:cNvGrpSpPr/>
        <p:nvPr/>
      </p:nvGrpSpPr>
      <p:grpSpPr/>
      <p:sp>
        <p:nvSpPr>
          <p:cNvPr id="2" name="TextBox 1"/>
          <p:cNvSpPr txBox="1"/>
          <p:nvPr/>
        </p:nvSpPr>
        <p:spPr>
          <a:xfrm>
            <a:off x="502920" y="256032"/>
            <a:ext cx="4572000" cy="201168"/>
          </a:xfrm>
          <a:prstGeom prst="rect">
            <a:avLst/>
          </a:prstGeom>
          <a:noFill/>
        </p:spPr>
        <p:txBody>
          <a:bodyPr wrap="square" lIns="0" rIns="0" tIns="0" bIns="0">
            <a:spAutoFit/>
          </a:bodyPr>
          <a:lstStyle/>
          <a:p>
            <a:pPr>
              <a:lnSpc>
                <a:spcPct val="112000"/>
              </a:lnSpc>
              <a:spcBef>
                <a:spcPts val="0"/>
              </a:spcBef>
              <a:spcAft>
                <a:spcPts val="108"/>
              </a:spcAft>
              <a:defRPr sz="900" b="1">
                <a:solidFill>
                  <a:srgbClr val="07824D"/>
                </a:solidFill>
                <a:latin typeface="Arial"/>
              </a:defRPr>
            </a:pPr>
            <a:r>
              <a:t>CAREERHUB  /  RECRUITMENT SYSTEM</a:t>
            </a:r>
          </a:p>
        </p:txBody>
      </p:sp>
      <p:sp>
        <p:nvSpPr>
          <p:cNvPr id="3" name="TextBox 2"/>
          <p:cNvSpPr txBox="1"/>
          <p:nvPr/>
        </p:nvSpPr>
        <p:spPr>
          <a:xfrm>
            <a:off x="8321040" y="256032"/>
            <a:ext cx="3364992" cy="201168"/>
          </a:xfrm>
          <a:prstGeom prst="rect">
            <a:avLst/>
          </a:prstGeom>
          <a:noFill/>
        </p:spPr>
        <p:txBody>
          <a:bodyPr wrap="square" lIns="0" rIns="0" tIns="0" bIns="0">
            <a:spAutoFit/>
          </a:bodyPr>
          <a:lstStyle/>
          <a:p>
            <a:pPr algn="r">
              <a:lnSpc>
                <a:spcPct val="112000"/>
              </a:lnSpc>
              <a:spcBef>
                <a:spcPts val="0"/>
              </a:spcBef>
              <a:spcAft>
                <a:spcPts val="108"/>
              </a:spcAft>
              <a:defRPr sz="900" b="0">
                <a:solidFill>
                  <a:srgbClr val="64776F"/>
                </a:solidFill>
                <a:latin typeface="Arial"/>
              </a:defRPr>
            </a:pPr>
            <a:r>
              <a:t>ĐIỂM NHẤN AI</a:t>
            </a:r>
          </a:p>
        </p:txBody>
      </p:sp>
      <p:sp>
        <p:nvSpPr>
          <p:cNvPr id="4" name="TextBox 3"/>
          <p:cNvSpPr txBox="1"/>
          <p:nvPr/>
        </p:nvSpPr>
        <p:spPr>
          <a:xfrm>
            <a:off x="502920" y="749808"/>
            <a:ext cx="11109960" cy="621792"/>
          </a:xfrm>
          <a:prstGeom prst="rect">
            <a:avLst/>
          </a:prstGeom>
          <a:noFill/>
        </p:spPr>
        <p:txBody>
          <a:bodyPr wrap="square" lIns="0" rIns="0" tIns="0" bIns="0">
            <a:spAutoFit/>
          </a:bodyPr>
          <a:lstStyle/>
          <a:p>
            <a:pPr>
              <a:lnSpc>
                <a:spcPct val="112000"/>
              </a:lnSpc>
              <a:spcBef>
                <a:spcPts val="0"/>
              </a:spcBef>
              <a:spcAft>
                <a:spcPts val="359"/>
              </a:spcAft>
              <a:defRPr sz="3000" b="1">
                <a:solidFill>
                  <a:srgbClr val="142F2B"/>
                </a:solidFill>
                <a:latin typeface="Arial"/>
              </a:defRPr>
            </a:pPr>
            <a:r>
              <a:t>AI hỗ trợ gợi ý và đánh giá độ phù hợp</a:t>
            </a:r>
          </a:p>
        </p:txBody>
      </p:sp>
      <p:sp>
        <p:nvSpPr>
          <p:cNvPr id="5" name="TextBox 4"/>
          <p:cNvSpPr txBox="1"/>
          <p:nvPr/>
        </p:nvSpPr>
        <p:spPr>
          <a:xfrm>
            <a:off x="530352" y="1444752"/>
            <a:ext cx="11018520" cy="484632"/>
          </a:xfrm>
          <a:prstGeom prst="rect">
            <a:avLst/>
          </a:prstGeom>
          <a:noFill/>
        </p:spPr>
        <p:txBody>
          <a:bodyPr wrap="square" lIns="0" rIns="0" tIns="0" bIns="0">
            <a:spAutoFit/>
          </a:bodyPr>
          <a:lstStyle/>
          <a:p>
            <a:pPr>
              <a:lnSpc>
                <a:spcPct val="112000"/>
              </a:lnSpc>
              <a:spcBef>
                <a:spcPts val="0"/>
              </a:spcBef>
              <a:spcAft>
                <a:spcPts val="168"/>
              </a:spcAft>
              <a:defRPr sz="1400" b="0">
                <a:solidFill>
                  <a:srgbClr val="64776F"/>
                </a:solidFill>
                <a:latin typeface="Arial"/>
              </a:defRPr>
            </a:pPr>
            <a:r>
              <a:t>Pipeline embedding chạy local; chatbot là một chức năng riêng và hiện giữ tắt.</a:t>
            </a:r>
          </a:p>
        </p:txBody>
      </p:sp>
      <p:cxnSp>
        <p:nvCxnSpPr>
          <p:cNvPr id="6" name="Connector 5"/>
          <p:cNvCxnSpPr/>
          <p:nvPr/>
        </p:nvCxnSpPr>
        <p:spPr>
          <a:xfrm>
            <a:off x="502920" y="6437376"/>
            <a:ext cx="11183112" cy="0"/>
          </a:xfrm>
          <a:prstGeom prst="line">
            <a:avLst/>
          </a:prstGeom>
          <a:ln w="8890">
            <a:solidFill>
              <a:srgbClr val="D6E2D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12064" y="6537960"/>
            <a:ext cx="10287000" cy="173736"/>
          </a:xfrm>
          <a:prstGeom prst="rect">
            <a:avLst/>
          </a:prstGeom>
          <a:noFill/>
        </p:spPr>
        <p:txBody>
          <a:bodyPr wrap="square" lIns="0" rIns="0" tIns="0" bIns="0">
            <a:spAutoFit/>
          </a:bodyPr>
          <a:lstStyle/>
          <a:p>
            <a:pPr>
              <a:lnSpc>
                <a:spcPct val="112000"/>
              </a:lnSpc>
              <a:spcBef>
                <a:spcPts val="0"/>
              </a:spcBef>
              <a:spcAft>
                <a:spcPts val="96"/>
              </a:spcAft>
              <a:defRPr sz="800" b="0">
                <a:solidFill>
                  <a:srgbClr val="64776F"/>
                </a:solidFill>
                <a:latin typeface="Arial"/>
              </a:defRPr>
            </a:pPr>
            <a:r>
              <a:t>Nguồn: services/ai-service/README.md · docs/system-regression-2026-10-16.md</a:t>
            </a:r>
          </a:p>
        </p:txBody>
      </p:sp>
      <p:sp>
        <p:nvSpPr>
          <p:cNvPr id="8" name="TextBox 7"/>
          <p:cNvSpPr txBox="1"/>
          <p:nvPr/>
        </p:nvSpPr>
        <p:spPr>
          <a:xfrm>
            <a:off x="10881360" y="6510528"/>
            <a:ext cx="795528" cy="210312"/>
          </a:xfrm>
          <a:prstGeom prst="rect">
            <a:avLst/>
          </a:prstGeom>
          <a:noFill/>
        </p:spPr>
        <p:txBody>
          <a:bodyPr wrap="square" lIns="0" rIns="0" tIns="0" bIns="0">
            <a:spAutoFit/>
          </a:bodyPr>
          <a:lstStyle/>
          <a:p>
            <a:pPr algn="r">
              <a:lnSpc>
                <a:spcPct val="112000"/>
              </a:lnSpc>
              <a:spcBef>
                <a:spcPts val="0"/>
              </a:spcBef>
              <a:spcAft>
                <a:spcPts val="108"/>
              </a:spcAft>
              <a:defRPr sz="900" b="0">
                <a:solidFill>
                  <a:srgbClr val="64776F"/>
                </a:solidFill>
                <a:latin typeface="Arial"/>
              </a:defRPr>
            </a:pPr>
            <a:r>
              <a:t>09 / 16</a:t>
            </a:r>
          </a:p>
        </p:txBody>
      </p:sp>
      <p:sp>
        <p:nvSpPr>
          <p:cNvPr id="9" name="Rounded Rectangle 8"/>
          <p:cNvSpPr/>
          <p:nvPr/>
        </p:nvSpPr>
        <p:spPr>
          <a:xfrm>
            <a:off x="548640" y="2322576"/>
            <a:ext cx="2002536" cy="1161288"/>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578608"/>
            <a:ext cx="1764792" cy="320040"/>
          </a:xfrm>
          <a:prstGeom prst="rect">
            <a:avLst/>
          </a:prstGeom>
          <a:noFill/>
        </p:spPr>
        <p:txBody>
          <a:bodyPr wrap="square" lIns="0" rIns="0" tIns="0" bIns="0">
            <a:spAutoFit/>
          </a:bodyPr>
          <a:lstStyle/>
          <a:p>
            <a:pPr algn="ctr">
              <a:lnSpc>
                <a:spcPct val="112000"/>
              </a:lnSpc>
              <a:spcBef>
                <a:spcPts val="0"/>
              </a:spcBef>
              <a:spcAft>
                <a:spcPts val="240"/>
              </a:spcAft>
              <a:defRPr sz="2000" b="1">
                <a:solidFill>
                  <a:srgbClr val="07824D"/>
                </a:solidFill>
                <a:latin typeface="Arial"/>
              </a:defRPr>
            </a:pPr>
            <a:r>
              <a:t>CV &amp; Job</a:t>
            </a:r>
          </a:p>
        </p:txBody>
      </p:sp>
      <p:sp>
        <p:nvSpPr>
          <p:cNvPr id="11" name="TextBox 10"/>
          <p:cNvSpPr txBox="1"/>
          <p:nvPr/>
        </p:nvSpPr>
        <p:spPr>
          <a:xfrm>
            <a:off x="667512" y="3090672"/>
            <a:ext cx="1764792" cy="228600"/>
          </a:xfrm>
          <a:prstGeom prst="rect">
            <a:avLst/>
          </a:prstGeom>
          <a:noFill/>
        </p:spPr>
        <p:txBody>
          <a:bodyPr wrap="square" lIns="0" rIns="0" tIns="0" bIns="0">
            <a:spAutoFit/>
          </a:bodyPr>
          <a:lstStyle/>
          <a:p>
            <a:pPr algn="ctr">
              <a:lnSpc>
                <a:spcPct val="112000"/>
              </a:lnSpc>
              <a:spcBef>
                <a:spcPts val="0"/>
              </a:spcBef>
              <a:spcAft>
                <a:spcPts val="144"/>
              </a:spcAft>
              <a:defRPr sz="1200" b="0">
                <a:solidFill>
                  <a:srgbClr val="64776F"/>
                </a:solidFill>
                <a:latin typeface="Arial"/>
              </a:defRPr>
            </a:pPr>
            <a:r>
              <a:t>Dữ liệu được phép dùng</a:t>
            </a:r>
          </a:p>
        </p:txBody>
      </p:sp>
      <p:sp>
        <p:nvSpPr>
          <p:cNvPr id="12" name="Right Arrow 11"/>
          <p:cNvSpPr/>
          <p:nvPr/>
        </p:nvSpPr>
        <p:spPr>
          <a:xfrm>
            <a:off x="2606040" y="2798064"/>
            <a:ext cx="146304" cy="137160"/>
          </a:xfrm>
          <a:prstGeom prst="rightArrow">
            <a:avLst/>
          </a:prstGeom>
          <a:solidFill>
            <a:srgbClr val="078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816352" y="2322576"/>
            <a:ext cx="2002536" cy="1161288"/>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35224" y="2578608"/>
            <a:ext cx="1764792" cy="320040"/>
          </a:xfrm>
          <a:prstGeom prst="rect">
            <a:avLst/>
          </a:prstGeom>
          <a:noFill/>
        </p:spPr>
        <p:txBody>
          <a:bodyPr wrap="square" lIns="0" rIns="0" tIns="0" bIns="0">
            <a:spAutoFit/>
          </a:bodyPr>
          <a:lstStyle/>
          <a:p>
            <a:pPr algn="ctr">
              <a:lnSpc>
                <a:spcPct val="112000"/>
              </a:lnSpc>
              <a:spcBef>
                <a:spcPts val="0"/>
              </a:spcBef>
              <a:spcAft>
                <a:spcPts val="240"/>
              </a:spcAft>
              <a:defRPr sz="2000" b="1">
                <a:solidFill>
                  <a:srgbClr val="07824D"/>
                </a:solidFill>
                <a:latin typeface="Arial"/>
              </a:defRPr>
            </a:pPr>
            <a:r>
              <a:t>Kafka event</a:t>
            </a:r>
          </a:p>
        </p:txBody>
      </p:sp>
      <p:sp>
        <p:nvSpPr>
          <p:cNvPr id="15" name="TextBox 14"/>
          <p:cNvSpPr txBox="1"/>
          <p:nvPr/>
        </p:nvSpPr>
        <p:spPr>
          <a:xfrm>
            <a:off x="2935224" y="3090672"/>
            <a:ext cx="1764792" cy="228600"/>
          </a:xfrm>
          <a:prstGeom prst="rect">
            <a:avLst/>
          </a:prstGeom>
          <a:noFill/>
        </p:spPr>
        <p:txBody>
          <a:bodyPr wrap="square" lIns="0" rIns="0" tIns="0" bIns="0">
            <a:spAutoFit/>
          </a:bodyPr>
          <a:lstStyle/>
          <a:p>
            <a:pPr algn="ctr">
              <a:lnSpc>
                <a:spcPct val="112000"/>
              </a:lnSpc>
              <a:spcBef>
                <a:spcPts val="0"/>
              </a:spcBef>
              <a:spcAft>
                <a:spcPts val="144"/>
              </a:spcAft>
              <a:defRPr sz="1200" b="0">
                <a:solidFill>
                  <a:srgbClr val="64776F"/>
                </a:solidFill>
                <a:latin typeface="Arial"/>
              </a:defRPr>
            </a:pPr>
            <a:r>
              <a:t>Hai worker xử lý</a:t>
            </a:r>
          </a:p>
        </p:txBody>
      </p:sp>
      <p:sp>
        <p:nvSpPr>
          <p:cNvPr id="16" name="Right Arrow 15"/>
          <p:cNvSpPr/>
          <p:nvPr/>
        </p:nvSpPr>
        <p:spPr>
          <a:xfrm>
            <a:off x="4873752" y="2798064"/>
            <a:ext cx="146304" cy="137160"/>
          </a:xfrm>
          <a:prstGeom prst="rightArrow">
            <a:avLst/>
          </a:prstGeom>
          <a:solidFill>
            <a:srgbClr val="078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84064" y="2322576"/>
            <a:ext cx="2002536" cy="1161288"/>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2578608"/>
            <a:ext cx="1764792" cy="320040"/>
          </a:xfrm>
          <a:prstGeom prst="rect">
            <a:avLst/>
          </a:prstGeom>
          <a:noFill/>
        </p:spPr>
        <p:txBody>
          <a:bodyPr wrap="square" lIns="0" rIns="0" tIns="0" bIns="0">
            <a:spAutoFit/>
          </a:bodyPr>
          <a:lstStyle/>
          <a:p>
            <a:pPr algn="ctr">
              <a:lnSpc>
                <a:spcPct val="112000"/>
              </a:lnSpc>
              <a:spcBef>
                <a:spcPts val="0"/>
              </a:spcBef>
              <a:spcAft>
                <a:spcPts val="240"/>
              </a:spcAft>
              <a:defRPr sz="2000" b="1">
                <a:solidFill>
                  <a:srgbClr val="07824D"/>
                </a:solidFill>
                <a:latin typeface="Arial"/>
              </a:defRPr>
            </a:pPr>
            <a:r>
              <a:t>Embedding</a:t>
            </a:r>
          </a:p>
        </p:txBody>
      </p:sp>
      <p:sp>
        <p:nvSpPr>
          <p:cNvPr id="19" name="TextBox 18"/>
          <p:cNvSpPr txBox="1"/>
          <p:nvPr/>
        </p:nvSpPr>
        <p:spPr>
          <a:xfrm>
            <a:off x="5202936" y="3090672"/>
            <a:ext cx="1764792" cy="228600"/>
          </a:xfrm>
          <a:prstGeom prst="rect">
            <a:avLst/>
          </a:prstGeom>
          <a:noFill/>
        </p:spPr>
        <p:txBody>
          <a:bodyPr wrap="square" lIns="0" rIns="0" tIns="0" bIns="0">
            <a:spAutoFit/>
          </a:bodyPr>
          <a:lstStyle/>
          <a:p>
            <a:pPr algn="ctr">
              <a:lnSpc>
                <a:spcPct val="112000"/>
              </a:lnSpc>
              <a:spcBef>
                <a:spcPts val="0"/>
              </a:spcBef>
              <a:spcAft>
                <a:spcPts val="144"/>
              </a:spcAft>
              <a:defRPr sz="1200" b="0">
                <a:solidFill>
                  <a:srgbClr val="64776F"/>
                </a:solidFill>
                <a:latin typeface="Arial"/>
              </a:defRPr>
            </a:pPr>
            <a:r>
              <a:t>Vector 384 chiều</a:t>
            </a:r>
          </a:p>
        </p:txBody>
      </p:sp>
      <p:sp>
        <p:nvSpPr>
          <p:cNvPr id="20" name="Right Arrow 19"/>
          <p:cNvSpPr/>
          <p:nvPr/>
        </p:nvSpPr>
        <p:spPr>
          <a:xfrm>
            <a:off x="7141464" y="2798064"/>
            <a:ext cx="146304" cy="137160"/>
          </a:xfrm>
          <a:prstGeom prst="rightArrow">
            <a:avLst/>
          </a:prstGeom>
          <a:solidFill>
            <a:srgbClr val="078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351775" y="2322576"/>
            <a:ext cx="2002536" cy="1161288"/>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70648" y="2578608"/>
            <a:ext cx="1764792" cy="320040"/>
          </a:xfrm>
          <a:prstGeom prst="rect">
            <a:avLst/>
          </a:prstGeom>
          <a:noFill/>
        </p:spPr>
        <p:txBody>
          <a:bodyPr wrap="square" lIns="0" rIns="0" tIns="0" bIns="0">
            <a:spAutoFit/>
          </a:bodyPr>
          <a:lstStyle/>
          <a:p>
            <a:pPr algn="ctr">
              <a:lnSpc>
                <a:spcPct val="112000"/>
              </a:lnSpc>
              <a:spcBef>
                <a:spcPts val="0"/>
              </a:spcBef>
              <a:spcAft>
                <a:spcPts val="240"/>
              </a:spcAft>
              <a:defRPr sz="2000" b="1">
                <a:solidFill>
                  <a:srgbClr val="07824D"/>
                </a:solidFill>
                <a:latin typeface="Arial"/>
              </a:defRPr>
            </a:pPr>
            <a:r>
              <a:t>pgvector</a:t>
            </a:r>
          </a:p>
        </p:txBody>
      </p:sp>
      <p:sp>
        <p:nvSpPr>
          <p:cNvPr id="23" name="TextBox 22"/>
          <p:cNvSpPr txBox="1"/>
          <p:nvPr/>
        </p:nvSpPr>
        <p:spPr>
          <a:xfrm>
            <a:off x="7470648" y="3090672"/>
            <a:ext cx="1764792" cy="228600"/>
          </a:xfrm>
          <a:prstGeom prst="rect">
            <a:avLst/>
          </a:prstGeom>
          <a:noFill/>
        </p:spPr>
        <p:txBody>
          <a:bodyPr wrap="square" lIns="0" rIns="0" tIns="0" bIns="0">
            <a:spAutoFit/>
          </a:bodyPr>
          <a:lstStyle/>
          <a:p>
            <a:pPr algn="ctr">
              <a:lnSpc>
                <a:spcPct val="112000"/>
              </a:lnSpc>
              <a:spcBef>
                <a:spcPts val="0"/>
              </a:spcBef>
              <a:spcAft>
                <a:spcPts val="144"/>
              </a:spcAft>
              <a:defRPr sz="1200" b="0">
                <a:solidFill>
                  <a:srgbClr val="64776F"/>
                </a:solidFill>
                <a:latin typeface="Arial"/>
              </a:defRPr>
            </a:pPr>
            <a:r>
              <a:t>Lưu và so khớp</a:t>
            </a:r>
          </a:p>
        </p:txBody>
      </p:sp>
      <p:sp>
        <p:nvSpPr>
          <p:cNvPr id="24" name="Right Arrow 23"/>
          <p:cNvSpPr/>
          <p:nvPr/>
        </p:nvSpPr>
        <p:spPr>
          <a:xfrm>
            <a:off x="9409176" y="2798064"/>
            <a:ext cx="146304" cy="137160"/>
          </a:xfrm>
          <a:prstGeom prst="rightArrow">
            <a:avLst/>
          </a:prstGeom>
          <a:solidFill>
            <a:srgbClr val="078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619488" y="2322576"/>
            <a:ext cx="2002536" cy="1161288"/>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38360" y="2578608"/>
            <a:ext cx="1764792" cy="320040"/>
          </a:xfrm>
          <a:prstGeom prst="rect">
            <a:avLst/>
          </a:prstGeom>
          <a:noFill/>
        </p:spPr>
        <p:txBody>
          <a:bodyPr wrap="square" lIns="0" rIns="0" tIns="0" bIns="0">
            <a:spAutoFit/>
          </a:bodyPr>
          <a:lstStyle/>
          <a:p>
            <a:pPr algn="ctr">
              <a:lnSpc>
                <a:spcPct val="112000"/>
              </a:lnSpc>
              <a:spcBef>
                <a:spcPts val="0"/>
              </a:spcBef>
              <a:spcAft>
                <a:spcPts val="240"/>
              </a:spcAft>
              <a:defRPr sz="2000" b="1">
                <a:solidFill>
                  <a:srgbClr val="07824D"/>
                </a:solidFill>
                <a:latin typeface="Arial"/>
              </a:defRPr>
            </a:pPr>
            <a:r>
              <a:t>Gợi ý / Match</a:t>
            </a:r>
          </a:p>
        </p:txBody>
      </p:sp>
      <p:sp>
        <p:nvSpPr>
          <p:cNvPr id="27" name="TextBox 26"/>
          <p:cNvSpPr txBox="1"/>
          <p:nvPr/>
        </p:nvSpPr>
        <p:spPr>
          <a:xfrm>
            <a:off x="9738360" y="3090672"/>
            <a:ext cx="1764792" cy="228600"/>
          </a:xfrm>
          <a:prstGeom prst="rect">
            <a:avLst/>
          </a:prstGeom>
          <a:noFill/>
        </p:spPr>
        <p:txBody>
          <a:bodyPr wrap="square" lIns="0" rIns="0" tIns="0" bIns="0">
            <a:spAutoFit/>
          </a:bodyPr>
          <a:lstStyle/>
          <a:p>
            <a:pPr algn="ctr">
              <a:lnSpc>
                <a:spcPct val="112000"/>
              </a:lnSpc>
              <a:spcBef>
                <a:spcPts val="0"/>
              </a:spcBef>
              <a:spcAft>
                <a:spcPts val="144"/>
              </a:spcAft>
              <a:defRPr sz="1200" b="0">
                <a:solidFill>
                  <a:srgbClr val="64776F"/>
                </a:solidFill>
                <a:latin typeface="Arial"/>
              </a:defRPr>
            </a:pPr>
            <a:r>
              <a:t>CV ↔ công việc</a:t>
            </a:r>
          </a:p>
        </p:txBody>
      </p:sp>
      <p:sp>
        <p:nvSpPr>
          <p:cNvPr id="28" name="Rectangle 27"/>
          <p:cNvSpPr/>
          <p:nvPr/>
        </p:nvSpPr>
        <p:spPr>
          <a:xfrm>
            <a:off x="667512" y="4050791"/>
            <a:ext cx="68580" cy="68580"/>
          </a:xfrm>
          <a:prstGeom prst="rect">
            <a:avLst/>
          </a:prstGeom>
          <a:solidFill>
            <a:srgbClr val="078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8680" y="3977639"/>
            <a:ext cx="5010912" cy="310896"/>
          </a:xfrm>
          <a:prstGeom prst="rect">
            <a:avLst/>
          </a:prstGeom>
          <a:noFill/>
        </p:spPr>
        <p:txBody>
          <a:bodyPr wrap="square" lIns="0" rIns="0" tIns="0" bIns="0">
            <a:spAutoFit/>
          </a:bodyPr>
          <a:lstStyle/>
          <a:p>
            <a:pPr>
              <a:lnSpc>
                <a:spcPct val="112000"/>
              </a:lnSpc>
              <a:spcBef>
                <a:spcPts val="0"/>
              </a:spcBef>
              <a:spcAft>
                <a:spcPts val="216"/>
              </a:spcAft>
              <a:defRPr sz="1800" b="1">
                <a:solidFill>
                  <a:srgbClr val="142F2B"/>
                </a:solidFill>
                <a:latin typeface="Arial"/>
              </a:defRPr>
            </a:pPr>
            <a:r>
              <a:t>Giá trị cho hai phía</a:t>
            </a:r>
          </a:p>
        </p:txBody>
      </p:sp>
      <p:sp>
        <p:nvSpPr>
          <p:cNvPr id="30" name="TextBox 29"/>
          <p:cNvSpPr txBox="1"/>
          <p:nvPr/>
        </p:nvSpPr>
        <p:spPr>
          <a:xfrm>
            <a:off x="868680" y="4389120"/>
            <a:ext cx="5010912" cy="868680"/>
          </a:xfrm>
          <a:prstGeom prst="rect">
            <a:avLst/>
          </a:prstGeom>
          <a:noFill/>
        </p:spPr>
        <p:txBody>
          <a:bodyPr wrap="square" lIns="0" rIns="0" tIns="0" bIns="0">
            <a:spAutoFit/>
          </a:bodyPr>
          <a:lstStyle/>
          <a:p>
            <a:pPr>
              <a:lnSpc>
                <a:spcPct val="112000"/>
              </a:lnSpc>
              <a:spcBef>
                <a:spcPts val="0"/>
              </a:spcBef>
              <a:spcAft>
                <a:spcPts val="204"/>
              </a:spcAft>
              <a:defRPr sz="1700" b="0">
                <a:solidFill>
                  <a:srgbClr val="64776F"/>
                </a:solidFill>
                <a:latin typeface="Arial"/>
              </a:defRPr>
            </a:pPr>
            <a:r>
              <a:t>Ứng viên xem việc phù hợp; nhà tuyển dụng nhận gợi ý ứng viên đã đồng ý chia sẻ.</a:t>
            </a:r>
          </a:p>
        </p:txBody>
      </p:sp>
      <p:sp>
        <p:nvSpPr>
          <p:cNvPr id="31" name="Rectangle 30"/>
          <p:cNvSpPr/>
          <p:nvPr/>
        </p:nvSpPr>
        <p:spPr>
          <a:xfrm>
            <a:off x="6309360" y="4050791"/>
            <a:ext cx="68580" cy="68580"/>
          </a:xfrm>
          <a:prstGeom prst="rect">
            <a:avLst/>
          </a:prstGeom>
          <a:solidFill>
            <a:srgbClr val="078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10528" y="3977639"/>
            <a:ext cx="4974336" cy="310896"/>
          </a:xfrm>
          <a:prstGeom prst="rect">
            <a:avLst/>
          </a:prstGeom>
          <a:noFill/>
        </p:spPr>
        <p:txBody>
          <a:bodyPr wrap="square" lIns="0" rIns="0" tIns="0" bIns="0">
            <a:spAutoFit/>
          </a:bodyPr>
          <a:lstStyle/>
          <a:p>
            <a:pPr>
              <a:lnSpc>
                <a:spcPct val="112000"/>
              </a:lnSpc>
              <a:spcBef>
                <a:spcPts val="0"/>
              </a:spcBef>
              <a:spcAft>
                <a:spcPts val="216"/>
              </a:spcAft>
              <a:defRPr sz="1800" b="1">
                <a:solidFill>
                  <a:srgbClr val="142F2B"/>
                </a:solidFill>
                <a:latin typeface="Arial"/>
              </a:defRPr>
            </a:pPr>
            <a:r>
              <a:t>Bằng chứng hiện có</a:t>
            </a:r>
          </a:p>
        </p:txBody>
      </p:sp>
      <p:sp>
        <p:nvSpPr>
          <p:cNvPr id="33" name="TextBox 32"/>
          <p:cNvSpPr txBox="1"/>
          <p:nvPr/>
        </p:nvSpPr>
        <p:spPr>
          <a:xfrm>
            <a:off x="6510528" y="4389120"/>
            <a:ext cx="4974336" cy="868680"/>
          </a:xfrm>
          <a:prstGeom prst="rect">
            <a:avLst/>
          </a:prstGeom>
          <a:noFill/>
        </p:spPr>
        <p:txBody>
          <a:bodyPr wrap="square" lIns="0" rIns="0" tIns="0" bIns="0">
            <a:spAutoFit/>
          </a:bodyPr>
          <a:lstStyle/>
          <a:p>
            <a:pPr>
              <a:lnSpc>
                <a:spcPct val="112000"/>
              </a:lnSpc>
              <a:spcBef>
                <a:spcPts val="0"/>
              </a:spcBef>
              <a:spcAft>
                <a:spcPts val="204"/>
              </a:spcAft>
              <a:defRPr sz="1700" b="0">
                <a:solidFill>
                  <a:srgbClr val="64776F"/>
                </a:solidFill>
                <a:latin typeface="Arial"/>
              </a:defRPr>
            </a:pPr>
            <a:r>
              <a:t>Đã chạy PDF → embedding → gợi ý/match trên fixture; chưa đo chất lượng trên bộ CV thực tế.</a:t>
            </a:r>
          </a:p>
        </p:txBody>
      </p:sp>
      <p:sp>
        <p:nvSpPr>
          <p:cNvPr id="34" name="Rounded Rectangle 33"/>
          <p:cNvSpPr/>
          <p:nvPr/>
        </p:nvSpPr>
        <p:spPr>
          <a:xfrm>
            <a:off x="594360" y="5669280"/>
            <a:ext cx="10991088" cy="438912"/>
          </a:xfrm>
          <a:prstGeom prst="roundRect">
            <a:avLst>
              <a:gd name="adj" fmla="val 12000"/>
            </a:avLst>
          </a:prstGeom>
          <a:solidFill>
            <a:srgbClr val="E0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7240" y="5788152"/>
            <a:ext cx="10625328" cy="237744"/>
          </a:xfrm>
          <a:prstGeom prst="rect">
            <a:avLst/>
          </a:prstGeom>
          <a:noFill/>
        </p:spPr>
        <p:txBody>
          <a:bodyPr wrap="square" lIns="0" rIns="0" tIns="0" bIns="0">
            <a:spAutoFit/>
          </a:bodyPr>
          <a:lstStyle/>
          <a:p>
            <a:pPr algn="ctr">
              <a:lnSpc>
                <a:spcPct val="112000"/>
              </a:lnSpc>
              <a:spcBef>
                <a:spcPts val="0"/>
              </a:spcBef>
              <a:spcAft>
                <a:spcPts val="179"/>
              </a:spcAft>
              <a:defRPr sz="1500" b="1">
                <a:solidFill>
                  <a:srgbClr val="07824D"/>
                </a:solidFill>
                <a:latin typeface="Arial"/>
              </a:defRPr>
            </a:pPr>
            <a:r>
              <a:t>Score là độ tương đồng tham khảo; chưa phải xác suất trúng tuyển hay kết luận tự động.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5"/>
        </a:solidFill>
        <a:effectLst/>
      </p:bgPr>
    </p:bg>
    <p:spTree>
      <p:nvGrpSpPr>
        <p:cNvPr id="1" name=""/>
        <p:cNvGrpSpPr/>
        <p:nvPr/>
      </p:nvGrpSpPr>
      <p:grpSpPr/>
      <p:sp>
        <p:nvSpPr>
          <p:cNvPr id="2" name="TextBox 1"/>
          <p:cNvSpPr txBox="1"/>
          <p:nvPr/>
        </p:nvSpPr>
        <p:spPr>
          <a:xfrm>
            <a:off x="502920" y="256032"/>
            <a:ext cx="4572000" cy="201168"/>
          </a:xfrm>
          <a:prstGeom prst="rect">
            <a:avLst/>
          </a:prstGeom>
          <a:noFill/>
        </p:spPr>
        <p:txBody>
          <a:bodyPr wrap="square" lIns="0" rIns="0" tIns="0" bIns="0">
            <a:spAutoFit/>
          </a:bodyPr>
          <a:lstStyle/>
          <a:p>
            <a:pPr>
              <a:lnSpc>
                <a:spcPct val="112000"/>
              </a:lnSpc>
              <a:spcBef>
                <a:spcPts val="0"/>
              </a:spcBef>
              <a:spcAft>
                <a:spcPts val="108"/>
              </a:spcAft>
              <a:defRPr sz="900" b="1">
                <a:solidFill>
                  <a:srgbClr val="07824D"/>
                </a:solidFill>
                <a:latin typeface="Arial"/>
              </a:defRPr>
            </a:pPr>
            <a:r>
              <a:t>CAREERHUB  /  RECRUITMENT SYSTEM</a:t>
            </a:r>
          </a:p>
        </p:txBody>
      </p:sp>
      <p:sp>
        <p:nvSpPr>
          <p:cNvPr id="3" name="TextBox 2"/>
          <p:cNvSpPr txBox="1"/>
          <p:nvPr/>
        </p:nvSpPr>
        <p:spPr>
          <a:xfrm>
            <a:off x="8321040" y="256032"/>
            <a:ext cx="3364992" cy="201168"/>
          </a:xfrm>
          <a:prstGeom prst="rect">
            <a:avLst/>
          </a:prstGeom>
          <a:noFill/>
        </p:spPr>
        <p:txBody>
          <a:bodyPr wrap="square" lIns="0" rIns="0" tIns="0" bIns="0">
            <a:spAutoFit/>
          </a:bodyPr>
          <a:lstStyle/>
          <a:p>
            <a:pPr algn="r">
              <a:lnSpc>
                <a:spcPct val="112000"/>
              </a:lnSpc>
              <a:spcBef>
                <a:spcPts val="0"/>
              </a:spcBef>
              <a:spcAft>
                <a:spcPts val="108"/>
              </a:spcAft>
              <a:defRPr sz="900" b="0">
                <a:solidFill>
                  <a:srgbClr val="64776F"/>
                </a:solidFill>
                <a:latin typeface="Arial"/>
              </a:defRPr>
            </a:pPr>
            <a:r>
              <a:t>MINH HỌA SẢN PHẨM</a:t>
            </a:r>
          </a:p>
        </p:txBody>
      </p:sp>
      <p:sp>
        <p:nvSpPr>
          <p:cNvPr id="4" name="TextBox 3"/>
          <p:cNvSpPr txBox="1"/>
          <p:nvPr/>
        </p:nvSpPr>
        <p:spPr>
          <a:xfrm>
            <a:off x="502920" y="749808"/>
            <a:ext cx="11109960" cy="621792"/>
          </a:xfrm>
          <a:prstGeom prst="rect">
            <a:avLst/>
          </a:prstGeom>
          <a:noFill/>
        </p:spPr>
        <p:txBody>
          <a:bodyPr wrap="square" lIns="0" rIns="0" tIns="0" bIns="0">
            <a:spAutoFit/>
          </a:bodyPr>
          <a:lstStyle/>
          <a:p>
            <a:pPr>
              <a:lnSpc>
                <a:spcPct val="112000"/>
              </a:lnSpc>
              <a:spcBef>
                <a:spcPts val="0"/>
              </a:spcBef>
              <a:spcAft>
                <a:spcPts val="359"/>
              </a:spcAft>
              <a:defRPr sz="3000" b="1">
                <a:solidFill>
                  <a:srgbClr val="142F2B"/>
                </a:solidFill>
                <a:latin typeface="Arial"/>
              </a:defRPr>
            </a:pPr>
            <a:r>
              <a:t>Giao diện ứng viên: tập trung vào hành trình tìm việc</a:t>
            </a:r>
          </a:p>
        </p:txBody>
      </p:sp>
      <p:sp>
        <p:nvSpPr>
          <p:cNvPr id="5" name="TextBox 4"/>
          <p:cNvSpPr txBox="1"/>
          <p:nvPr/>
        </p:nvSpPr>
        <p:spPr>
          <a:xfrm>
            <a:off x="530352" y="1444752"/>
            <a:ext cx="11018520" cy="484632"/>
          </a:xfrm>
          <a:prstGeom prst="rect">
            <a:avLst/>
          </a:prstGeom>
          <a:noFill/>
        </p:spPr>
        <p:txBody>
          <a:bodyPr wrap="square" lIns="0" rIns="0" tIns="0" bIns="0">
            <a:spAutoFit/>
          </a:bodyPr>
          <a:lstStyle/>
          <a:p>
            <a:pPr>
              <a:lnSpc>
                <a:spcPct val="112000"/>
              </a:lnSpc>
              <a:spcBef>
                <a:spcPts val="0"/>
              </a:spcBef>
              <a:spcAft>
                <a:spcPts val="168"/>
              </a:spcAft>
              <a:defRPr sz="1400" b="0">
                <a:solidFill>
                  <a:srgbClr val="64776F"/>
                </a:solidFill>
                <a:latin typeface="Arial"/>
              </a:defRPr>
            </a:pPr>
            <a:r>
              <a:t>Ảnh workspace local đã lưu trong dự án; các con số trong ảnh thuộc phiên minh họa.</a:t>
            </a:r>
          </a:p>
        </p:txBody>
      </p:sp>
      <p:cxnSp>
        <p:nvCxnSpPr>
          <p:cNvPr id="6" name="Connector 5"/>
          <p:cNvCxnSpPr/>
          <p:nvPr/>
        </p:nvCxnSpPr>
        <p:spPr>
          <a:xfrm>
            <a:off x="502920" y="6437376"/>
            <a:ext cx="11183112" cy="0"/>
          </a:xfrm>
          <a:prstGeom prst="line">
            <a:avLst/>
          </a:prstGeom>
          <a:ln w="8890">
            <a:solidFill>
              <a:srgbClr val="D6E2D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12064" y="6537960"/>
            <a:ext cx="10287000" cy="173736"/>
          </a:xfrm>
          <a:prstGeom prst="rect">
            <a:avLst/>
          </a:prstGeom>
          <a:noFill/>
        </p:spPr>
        <p:txBody>
          <a:bodyPr wrap="square" lIns="0" rIns="0" tIns="0" bIns="0">
            <a:spAutoFit/>
          </a:bodyPr>
          <a:lstStyle/>
          <a:p>
            <a:pPr>
              <a:lnSpc>
                <a:spcPct val="112000"/>
              </a:lnSpc>
              <a:spcBef>
                <a:spcPts val="0"/>
              </a:spcBef>
              <a:spcAft>
                <a:spcPts val="96"/>
              </a:spcAft>
              <a:defRPr sz="800" b="0">
                <a:solidFill>
                  <a:srgbClr val="64776F"/>
                </a:solidFill>
                <a:latin typeface="Arial"/>
              </a:defRPr>
            </a:pPr>
            <a:r>
              <a:t>Ảnh: .cache/portal-live/candidate-desktop.png (22/10/2026) · Không phải số liệu sử dụng production.</a:t>
            </a:r>
          </a:p>
        </p:txBody>
      </p:sp>
      <p:sp>
        <p:nvSpPr>
          <p:cNvPr id="8" name="TextBox 7"/>
          <p:cNvSpPr txBox="1"/>
          <p:nvPr/>
        </p:nvSpPr>
        <p:spPr>
          <a:xfrm>
            <a:off x="10881360" y="6510528"/>
            <a:ext cx="795528" cy="210312"/>
          </a:xfrm>
          <a:prstGeom prst="rect">
            <a:avLst/>
          </a:prstGeom>
          <a:noFill/>
        </p:spPr>
        <p:txBody>
          <a:bodyPr wrap="square" lIns="0" rIns="0" tIns="0" bIns="0">
            <a:spAutoFit/>
          </a:bodyPr>
          <a:lstStyle/>
          <a:p>
            <a:pPr algn="r">
              <a:lnSpc>
                <a:spcPct val="112000"/>
              </a:lnSpc>
              <a:spcBef>
                <a:spcPts val="0"/>
              </a:spcBef>
              <a:spcAft>
                <a:spcPts val="108"/>
              </a:spcAft>
              <a:defRPr sz="900" b="0">
                <a:solidFill>
                  <a:srgbClr val="64776F"/>
                </a:solidFill>
                <a:latin typeface="Arial"/>
              </a:defRPr>
            </a:pPr>
            <a:r>
              <a:t>10 / 16</a:t>
            </a:r>
          </a:p>
        </p:txBody>
      </p:sp>
      <p:sp>
        <p:nvSpPr>
          <p:cNvPr id="9" name="Rounded Rectangle 8"/>
          <p:cNvSpPr/>
          <p:nvPr/>
        </p:nvSpPr>
        <p:spPr>
          <a:xfrm>
            <a:off x="553212" y="2016252"/>
            <a:ext cx="7379208" cy="4066483"/>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andidate-desktop.png"/>
          <p:cNvPicPr>
            <a:picLocks noChangeAspect="1"/>
          </p:cNvPicPr>
          <p:nvPr/>
        </p:nvPicPr>
        <p:blipFill>
          <a:blip r:embed="rId2"/>
          <a:stretch>
            <a:fillRect/>
          </a:stretch>
        </p:blipFill>
        <p:spPr>
          <a:xfrm>
            <a:off x="585216" y="2048256"/>
            <a:ext cx="7315200" cy="4013200"/>
          </a:xfrm>
          <a:prstGeom prst="rect">
            <a:avLst/>
          </a:prstGeom>
        </p:spPr>
      </p:pic>
      <p:sp>
        <p:nvSpPr>
          <p:cNvPr id="11" name="Rectangle 10"/>
          <p:cNvSpPr/>
          <p:nvPr/>
        </p:nvSpPr>
        <p:spPr>
          <a:xfrm>
            <a:off x="8275320" y="2313432"/>
            <a:ext cx="68580" cy="68580"/>
          </a:xfrm>
          <a:prstGeom prst="rect">
            <a:avLst/>
          </a:prstGeom>
          <a:solidFill>
            <a:srgbClr val="078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76488" y="2240280"/>
            <a:ext cx="3136391" cy="310896"/>
          </a:xfrm>
          <a:prstGeom prst="rect">
            <a:avLst/>
          </a:prstGeom>
          <a:noFill/>
        </p:spPr>
        <p:txBody>
          <a:bodyPr wrap="square" lIns="0" rIns="0" tIns="0" bIns="0">
            <a:spAutoFit/>
          </a:bodyPr>
          <a:lstStyle/>
          <a:p>
            <a:pPr>
              <a:lnSpc>
                <a:spcPct val="112000"/>
              </a:lnSpc>
              <a:spcBef>
                <a:spcPts val="0"/>
              </a:spcBef>
              <a:spcAft>
                <a:spcPts val="216"/>
              </a:spcAft>
              <a:defRPr sz="1800" b="1">
                <a:solidFill>
                  <a:srgbClr val="142F2B"/>
                </a:solidFill>
                <a:latin typeface="Arial"/>
              </a:defRPr>
            </a:pPr>
            <a:r>
              <a:t>Tác vụ rõ ràng</a:t>
            </a:r>
          </a:p>
        </p:txBody>
      </p:sp>
      <p:sp>
        <p:nvSpPr>
          <p:cNvPr id="13" name="TextBox 12"/>
          <p:cNvSpPr txBox="1"/>
          <p:nvPr/>
        </p:nvSpPr>
        <p:spPr>
          <a:xfrm>
            <a:off x="8476488" y="2651760"/>
            <a:ext cx="3136391" cy="868680"/>
          </a:xfrm>
          <a:prstGeom prst="rect">
            <a:avLst/>
          </a:prstGeom>
          <a:noFill/>
        </p:spPr>
        <p:txBody>
          <a:bodyPr wrap="square" lIns="0" rIns="0" tIns="0" bIns="0">
            <a:spAutoFit/>
          </a:bodyPr>
          <a:lstStyle/>
          <a:p>
            <a:pPr>
              <a:lnSpc>
                <a:spcPct val="112000"/>
              </a:lnSpc>
              <a:spcBef>
                <a:spcPts val="0"/>
              </a:spcBef>
              <a:spcAft>
                <a:spcPts val="192"/>
              </a:spcAft>
              <a:defRPr sz="1600" b="0">
                <a:solidFill>
                  <a:srgbClr val="64776F"/>
                </a:solidFill>
                <a:latin typeface="Arial"/>
              </a:defRPr>
            </a:pPr>
            <a:r>
              <a:t>Tìm việc, quản lý CV và theo dõi đơn ngay từ tổng quan.</a:t>
            </a:r>
          </a:p>
        </p:txBody>
      </p:sp>
      <p:sp>
        <p:nvSpPr>
          <p:cNvPr id="14" name="Rectangle 13"/>
          <p:cNvSpPr/>
          <p:nvPr/>
        </p:nvSpPr>
        <p:spPr>
          <a:xfrm>
            <a:off x="8275320" y="3749039"/>
            <a:ext cx="68580" cy="68580"/>
          </a:xfrm>
          <a:prstGeom prst="rect">
            <a:avLst/>
          </a:prstGeom>
          <a:solidFill>
            <a:srgbClr val="078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76488" y="3675887"/>
            <a:ext cx="3136391" cy="310896"/>
          </a:xfrm>
          <a:prstGeom prst="rect">
            <a:avLst/>
          </a:prstGeom>
          <a:noFill/>
        </p:spPr>
        <p:txBody>
          <a:bodyPr wrap="square" lIns="0" rIns="0" tIns="0" bIns="0">
            <a:spAutoFit/>
          </a:bodyPr>
          <a:lstStyle/>
          <a:p>
            <a:pPr>
              <a:lnSpc>
                <a:spcPct val="112000"/>
              </a:lnSpc>
              <a:spcBef>
                <a:spcPts val="0"/>
              </a:spcBef>
              <a:spcAft>
                <a:spcPts val="216"/>
              </a:spcAft>
              <a:defRPr sz="1800" b="1">
                <a:solidFill>
                  <a:srgbClr val="142F2B"/>
                </a:solidFill>
                <a:latin typeface="Arial"/>
              </a:defRPr>
            </a:pPr>
            <a:r>
              <a:t>Trải nghiệm nhất quán</a:t>
            </a:r>
          </a:p>
        </p:txBody>
      </p:sp>
      <p:sp>
        <p:nvSpPr>
          <p:cNvPr id="16" name="TextBox 15"/>
          <p:cNvSpPr txBox="1"/>
          <p:nvPr/>
        </p:nvSpPr>
        <p:spPr>
          <a:xfrm>
            <a:off x="8476488" y="4087368"/>
            <a:ext cx="3136391" cy="868680"/>
          </a:xfrm>
          <a:prstGeom prst="rect">
            <a:avLst/>
          </a:prstGeom>
          <a:noFill/>
        </p:spPr>
        <p:txBody>
          <a:bodyPr wrap="square" lIns="0" rIns="0" tIns="0" bIns="0">
            <a:spAutoFit/>
          </a:bodyPr>
          <a:lstStyle/>
          <a:p>
            <a:pPr>
              <a:lnSpc>
                <a:spcPct val="112000"/>
              </a:lnSpc>
              <a:spcBef>
                <a:spcPts val="0"/>
              </a:spcBef>
              <a:spcAft>
                <a:spcPts val="192"/>
              </a:spcAft>
              <a:defRPr sz="1600" b="0">
                <a:solidFill>
                  <a:srgbClr val="64776F"/>
                </a:solidFill>
                <a:latin typeface="Arial"/>
              </a:defRPr>
            </a:pPr>
            <a:r>
              <a:t>Điều hướng riêng cho ứng viên, có màn hình mobile và trạng thái trống/lỗi.</a:t>
            </a:r>
          </a:p>
        </p:txBody>
      </p:sp>
      <p:sp>
        <p:nvSpPr>
          <p:cNvPr id="17" name="Rounded Rectangle 16"/>
          <p:cNvSpPr/>
          <p:nvPr/>
        </p:nvSpPr>
        <p:spPr>
          <a:xfrm>
            <a:off x="8302752" y="5605272"/>
            <a:ext cx="3108960" cy="265176"/>
          </a:xfrm>
          <a:prstGeom prst="roundRect">
            <a:avLst>
              <a:gd name="adj" fmla="val 12000"/>
            </a:avLst>
          </a:prstGeom>
          <a:solidFill>
            <a:srgbClr val="E0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57616" y="5650992"/>
            <a:ext cx="2999232" cy="182880"/>
          </a:xfrm>
          <a:prstGeom prst="rect">
            <a:avLst/>
          </a:prstGeom>
          <a:noFill/>
        </p:spPr>
        <p:txBody>
          <a:bodyPr wrap="square" lIns="0" rIns="0" tIns="0" bIns="0">
            <a:spAutoFit/>
          </a:bodyPr>
          <a:lstStyle/>
          <a:p>
            <a:pPr algn="ctr">
              <a:lnSpc>
                <a:spcPct val="112000"/>
              </a:lnSpc>
              <a:spcBef>
                <a:spcPts val="0"/>
              </a:spcBef>
              <a:spcAft>
                <a:spcPts val="120"/>
              </a:spcAft>
              <a:defRPr sz="1000" b="1">
                <a:solidFill>
                  <a:srgbClr val="07824D"/>
                </a:solidFill>
                <a:latin typeface="Arial"/>
              </a:defRPr>
            </a:pPr>
            <a:r>
              <a:t>UI LOCAL  •  ẢNH ĐÃ LƯU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5"/>
        </a:solidFill>
        <a:effectLst/>
      </p:bgPr>
    </p:bg>
    <p:spTree>
      <p:nvGrpSpPr>
        <p:cNvPr id="1" name=""/>
        <p:cNvGrpSpPr/>
        <p:nvPr/>
      </p:nvGrpSpPr>
      <p:grpSpPr/>
      <p:sp>
        <p:nvSpPr>
          <p:cNvPr id="2" name="TextBox 1"/>
          <p:cNvSpPr txBox="1"/>
          <p:nvPr/>
        </p:nvSpPr>
        <p:spPr>
          <a:xfrm>
            <a:off x="502920" y="256032"/>
            <a:ext cx="4572000" cy="201168"/>
          </a:xfrm>
          <a:prstGeom prst="rect">
            <a:avLst/>
          </a:prstGeom>
          <a:noFill/>
        </p:spPr>
        <p:txBody>
          <a:bodyPr wrap="square" lIns="0" rIns="0" tIns="0" bIns="0">
            <a:spAutoFit/>
          </a:bodyPr>
          <a:lstStyle/>
          <a:p>
            <a:pPr>
              <a:lnSpc>
                <a:spcPct val="112000"/>
              </a:lnSpc>
              <a:spcBef>
                <a:spcPts val="0"/>
              </a:spcBef>
              <a:spcAft>
                <a:spcPts val="108"/>
              </a:spcAft>
              <a:defRPr sz="900" b="1">
                <a:solidFill>
                  <a:srgbClr val="07824D"/>
                </a:solidFill>
                <a:latin typeface="Arial"/>
              </a:defRPr>
            </a:pPr>
            <a:r>
              <a:t>CAREERHUB  /  RECRUITMENT SYSTEM</a:t>
            </a:r>
          </a:p>
        </p:txBody>
      </p:sp>
      <p:sp>
        <p:nvSpPr>
          <p:cNvPr id="3" name="TextBox 2"/>
          <p:cNvSpPr txBox="1"/>
          <p:nvPr/>
        </p:nvSpPr>
        <p:spPr>
          <a:xfrm>
            <a:off x="8321040" y="256032"/>
            <a:ext cx="3364992" cy="201168"/>
          </a:xfrm>
          <a:prstGeom prst="rect">
            <a:avLst/>
          </a:prstGeom>
          <a:noFill/>
        </p:spPr>
        <p:txBody>
          <a:bodyPr wrap="square" lIns="0" rIns="0" tIns="0" bIns="0">
            <a:spAutoFit/>
          </a:bodyPr>
          <a:lstStyle/>
          <a:p>
            <a:pPr algn="r">
              <a:lnSpc>
                <a:spcPct val="112000"/>
              </a:lnSpc>
              <a:spcBef>
                <a:spcPts val="0"/>
              </a:spcBef>
              <a:spcAft>
                <a:spcPts val="108"/>
              </a:spcAft>
              <a:defRPr sz="900" b="0">
                <a:solidFill>
                  <a:srgbClr val="64776F"/>
                </a:solidFill>
                <a:latin typeface="Arial"/>
              </a:defRPr>
            </a:pPr>
            <a:r>
              <a:t>MINH HỌA SẢN PHẨM</a:t>
            </a:r>
          </a:p>
        </p:txBody>
      </p:sp>
      <p:sp>
        <p:nvSpPr>
          <p:cNvPr id="4" name="TextBox 3"/>
          <p:cNvSpPr txBox="1"/>
          <p:nvPr/>
        </p:nvSpPr>
        <p:spPr>
          <a:xfrm>
            <a:off x="502920" y="749808"/>
            <a:ext cx="11109960" cy="621792"/>
          </a:xfrm>
          <a:prstGeom prst="rect">
            <a:avLst/>
          </a:prstGeom>
          <a:noFill/>
        </p:spPr>
        <p:txBody>
          <a:bodyPr wrap="square" lIns="0" rIns="0" tIns="0" bIns="0">
            <a:spAutoFit/>
          </a:bodyPr>
          <a:lstStyle/>
          <a:p>
            <a:pPr>
              <a:lnSpc>
                <a:spcPct val="112000"/>
              </a:lnSpc>
              <a:spcBef>
                <a:spcPts val="0"/>
              </a:spcBef>
              <a:spcAft>
                <a:spcPts val="359"/>
              </a:spcAft>
              <a:defRPr sz="3000" b="1">
                <a:solidFill>
                  <a:srgbClr val="142F2B"/>
                </a:solidFill>
                <a:latin typeface="Arial"/>
              </a:defRPr>
            </a:pPr>
            <a:r>
              <a:t>Nhà tuyển dụng và Admin có workspace riêng</a:t>
            </a:r>
          </a:p>
        </p:txBody>
      </p:sp>
      <p:sp>
        <p:nvSpPr>
          <p:cNvPr id="5" name="TextBox 4"/>
          <p:cNvSpPr txBox="1"/>
          <p:nvPr/>
        </p:nvSpPr>
        <p:spPr>
          <a:xfrm>
            <a:off x="530352" y="1444752"/>
            <a:ext cx="11018520" cy="484632"/>
          </a:xfrm>
          <a:prstGeom prst="rect">
            <a:avLst/>
          </a:prstGeom>
          <a:noFill/>
        </p:spPr>
        <p:txBody>
          <a:bodyPr wrap="square" lIns="0" rIns="0" tIns="0" bIns="0">
            <a:spAutoFit/>
          </a:bodyPr>
          <a:lstStyle/>
          <a:p>
            <a:pPr>
              <a:lnSpc>
                <a:spcPct val="112000"/>
              </a:lnSpc>
              <a:spcBef>
                <a:spcPts val="0"/>
              </a:spcBef>
              <a:spcAft>
                <a:spcPts val="168"/>
              </a:spcAft>
              <a:defRPr sz="1400" b="0">
                <a:solidFill>
                  <a:srgbClr val="64776F"/>
                </a:solidFill>
                <a:latin typeface="Arial"/>
              </a:defRPr>
            </a:pPr>
            <a:r>
              <a:t>Giao diện ưu tiên tác vụ của từng vai trò và giảm điều hướng nhầm khu vực.</a:t>
            </a:r>
          </a:p>
        </p:txBody>
      </p:sp>
      <p:cxnSp>
        <p:nvCxnSpPr>
          <p:cNvPr id="6" name="Connector 5"/>
          <p:cNvCxnSpPr/>
          <p:nvPr/>
        </p:nvCxnSpPr>
        <p:spPr>
          <a:xfrm>
            <a:off x="502920" y="6437376"/>
            <a:ext cx="11183112" cy="0"/>
          </a:xfrm>
          <a:prstGeom prst="line">
            <a:avLst/>
          </a:prstGeom>
          <a:ln w="8890">
            <a:solidFill>
              <a:srgbClr val="D6E2D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12064" y="6537960"/>
            <a:ext cx="10287000" cy="173736"/>
          </a:xfrm>
          <a:prstGeom prst="rect">
            <a:avLst/>
          </a:prstGeom>
          <a:noFill/>
        </p:spPr>
        <p:txBody>
          <a:bodyPr wrap="square" lIns="0" rIns="0" tIns="0" bIns="0">
            <a:spAutoFit/>
          </a:bodyPr>
          <a:lstStyle/>
          <a:p>
            <a:pPr>
              <a:lnSpc>
                <a:spcPct val="112000"/>
              </a:lnSpc>
              <a:spcBef>
                <a:spcPts val="0"/>
              </a:spcBef>
              <a:spcAft>
                <a:spcPts val="96"/>
              </a:spcAft>
              <a:defRPr sz="800" b="0">
                <a:solidFill>
                  <a:srgbClr val="64776F"/>
                </a:solidFill>
                <a:latin typeface="Arial"/>
              </a:defRPr>
            </a:pPr>
            <a:r>
              <a:t>Ảnh local 22/10/2026: .cache/portal-live/recruiter-desktop.png, admin-desktop.png · Ảnh được cắt vùng hiển thị.</a:t>
            </a:r>
          </a:p>
        </p:txBody>
      </p:sp>
      <p:sp>
        <p:nvSpPr>
          <p:cNvPr id="8" name="TextBox 7"/>
          <p:cNvSpPr txBox="1"/>
          <p:nvPr/>
        </p:nvSpPr>
        <p:spPr>
          <a:xfrm>
            <a:off x="10881360" y="6510528"/>
            <a:ext cx="795528" cy="210312"/>
          </a:xfrm>
          <a:prstGeom prst="rect">
            <a:avLst/>
          </a:prstGeom>
          <a:noFill/>
        </p:spPr>
        <p:txBody>
          <a:bodyPr wrap="square" lIns="0" rIns="0" tIns="0" bIns="0">
            <a:spAutoFit/>
          </a:bodyPr>
          <a:lstStyle/>
          <a:p>
            <a:pPr algn="r">
              <a:lnSpc>
                <a:spcPct val="112000"/>
              </a:lnSpc>
              <a:spcBef>
                <a:spcPts val="0"/>
              </a:spcBef>
              <a:spcAft>
                <a:spcPts val="108"/>
              </a:spcAft>
              <a:defRPr sz="900" b="0">
                <a:solidFill>
                  <a:srgbClr val="64776F"/>
                </a:solidFill>
                <a:latin typeface="Arial"/>
              </a:defRPr>
            </a:pPr>
            <a:r>
              <a:t>11 / 16</a:t>
            </a:r>
          </a:p>
        </p:txBody>
      </p:sp>
      <p:sp>
        <p:nvSpPr>
          <p:cNvPr id="9" name="Rounded Rectangle 8"/>
          <p:cNvSpPr/>
          <p:nvPr/>
        </p:nvSpPr>
        <p:spPr>
          <a:xfrm>
            <a:off x="621792" y="2029968"/>
            <a:ext cx="2331720" cy="265176"/>
          </a:xfrm>
          <a:prstGeom prst="roundRect">
            <a:avLst>
              <a:gd name="adj" fmla="val 12000"/>
            </a:avLst>
          </a:prstGeom>
          <a:solidFill>
            <a:srgbClr val="E0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2075688"/>
            <a:ext cx="2221991" cy="182880"/>
          </a:xfrm>
          <a:prstGeom prst="rect">
            <a:avLst/>
          </a:prstGeom>
          <a:noFill/>
        </p:spPr>
        <p:txBody>
          <a:bodyPr wrap="square" lIns="0" rIns="0" tIns="0" bIns="0">
            <a:spAutoFit/>
          </a:bodyPr>
          <a:lstStyle/>
          <a:p>
            <a:pPr algn="ctr">
              <a:lnSpc>
                <a:spcPct val="112000"/>
              </a:lnSpc>
              <a:spcBef>
                <a:spcPts val="0"/>
              </a:spcBef>
              <a:spcAft>
                <a:spcPts val="120"/>
              </a:spcAft>
              <a:defRPr sz="1000" b="1">
                <a:solidFill>
                  <a:srgbClr val="07824D"/>
                </a:solidFill>
                <a:latin typeface="Arial"/>
              </a:defRPr>
            </a:pPr>
            <a:r>
              <a:t>NHÀ TUYỂN DỤNG</a:t>
            </a:r>
          </a:p>
        </p:txBody>
      </p:sp>
      <p:sp>
        <p:nvSpPr>
          <p:cNvPr id="11" name="Rounded Rectangle 10"/>
          <p:cNvSpPr/>
          <p:nvPr/>
        </p:nvSpPr>
        <p:spPr>
          <a:xfrm>
            <a:off x="6336792" y="2029968"/>
            <a:ext cx="2331720" cy="265176"/>
          </a:xfrm>
          <a:prstGeom prst="roundRect">
            <a:avLst>
              <a:gd name="adj" fmla="val 12000"/>
            </a:avLst>
          </a:prstGeom>
          <a:solidFill>
            <a:srgbClr val="EA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91655" y="2075688"/>
            <a:ext cx="2221991" cy="182880"/>
          </a:xfrm>
          <a:prstGeom prst="rect">
            <a:avLst/>
          </a:prstGeom>
          <a:noFill/>
        </p:spPr>
        <p:txBody>
          <a:bodyPr wrap="square" lIns="0" rIns="0" tIns="0" bIns="0">
            <a:spAutoFit/>
          </a:bodyPr>
          <a:lstStyle/>
          <a:p>
            <a:pPr algn="ctr">
              <a:lnSpc>
                <a:spcPct val="112000"/>
              </a:lnSpc>
              <a:spcBef>
                <a:spcPts val="0"/>
              </a:spcBef>
              <a:spcAft>
                <a:spcPts val="120"/>
              </a:spcAft>
              <a:defRPr sz="1000" b="1">
                <a:solidFill>
                  <a:srgbClr val="405CC5"/>
                </a:solidFill>
                <a:latin typeface="Arial"/>
              </a:defRPr>
            </a:pPr>
            <a:r>
              <a:t>QUẢN TRỊ VIÊN</a:t>
            </a:r>
          </a:p>
        </p:txBody>
      </p:sp>
      <p:sp>
        <p:nvSpPr>
          <p:cNvPr id="13" name="Rounded Rectangle 12"/>
          <p:cNvSpPr/>
          <p:nvPr/>
        </p:nvSpPr>
        <p:spPr>
          <a:xfrm>
            <a:off x="580644" y="2519172"/>
            <a:ext cx="5394960" cy="2988627"/>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recruiter-desktop.png"/>
          <p:cNvPicPr>
            <a:picLocks noChangeAspect="1"/>
          </p:cNvPicPr>
          <p:nvPr/>
        </p:nvPicPr>
        <p:blipFill>
          <a:blip r:embed="rId2"/>
          <a:stretch>
            <a:fillRect/>
          </a:stretch>
        </p:blipFill>
        <p:spPr>
          <a:xfrm>
            <a:off x="612648" y="2551176"/>
            <a:ext cx="5330952" cy="2924619"/>
          </a:xfrm>
          <a:prstGeom prst="rect">
            <a:avLst/>
          </a:prstGeom>
        </p:spPr>
      </p:pic>
      <p:sp>
        <p:nvSpPr>
          <p:cNvPr id="15" name="Rounded Rectangle 14"/>
          <p:cNvSpPr/>
          <p:nvPr/>
        </p:nvSpPr>
        <p:spPr>
          <a:xfrm>
            <a:off x="6295644" y="2519172"/>
            <a:ext cx="5303520" cy="2938462"/>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admin-desktop.png"/>
          <p:cNvPicPr>
            <a:picLocks noChangeAspect="1"/>
          </p:cNvPicPr>
          <p:nvPr/>
        </p:nvPicPr>
        <p:blipFill>
          <a:blip r:embed="rId3"/>
          <a:stretch>
            <a:fillRect/>
          </a:stretch>
        </p:blipFill>
        <p:spPr>
          <a:xfrm>
            <a:off x="6327648" y="2551176"/>
            <a:ext cx="5239512" cy="2874454"/>
          </a:xfrm>
          <a:prstGeom prst="rect">
            <a:avLst/>
          </a:prstGeom>
        </p:spPr>
      </p:pic>
      <p:sp>
        <p:nvSpPr>
          <p:cNvPr id="17" name="TextBox 16"/>
          <p:cNvSpPr txBox="1"/>
          <p:nvPr/>
        </p:nvSpPr>
        <p:spPr>
          <a:xfrm>
            <a:off x="658368" y="5733288"/>
            <a:ext cx="5212080" cy="402336"/>
          </a:xfrm>
          <a:prstGeom prst="rect">
            <a:avLst/>
          </a:prstGeom>
          <a:noFill/>
        </p:spPr>
        <p:txBody>
          <a:bodyPr wrap="square" lIns="0" rIns="0" tIns="0" bIns="0">
            <a:spAutoFit/>
          </a:bodyPr>
          <a:lstStyle/>
          <a:p>
            <a:pPr>
              <a:lnSpc>
                <a:spcPct val="112000"/>
              </a:lnSpc>
              <a:spcBef>
                <a:spcPts val="0"/>
              </a:spcBef>
              <a:spcAft>
                <a:spcPts val="192"/>
              </a:spcAft>
              <a:defRPr sz="1600" b="1">
                <a:solidFill>
                  <a:srgbClr val="07824D"/>
                </a:solidFill>
                <a:latin typeface="Arial"/>
              </a:defRPr>
            </a:pPr>
            <a:r>
              <a:t>Công ty → tin tuyển dụng → hồ sơ ứng tuyển</a:t>
            </a:r>
          </a:p>
        </p:txBody>
      </p:sp>
      <p:sp>
        <p:nvSpPr>
          <p:cNvPr id="18" name="TextBox 17"/>
          <p:cNvSpPr txBox="1"/>
          <p:nvPr/>
        </p:nvSpPr>
        <p:spPr>
          <a:xfrm>
            <a:off x="6382512" y="5733288"/>
            <a:ext cx="5074920" cy="402336"/>
          </a:xfrm>
          <a:prstGeom prst="rect">
            <a:avLst/>
          </a:prstGeom>
          <a:noFill/>
        </p:spPr>
        <p:txBody>
          <a:bodyPr wrap="square" lIns="0" rIns="0" tIns="0" bIns="0">
            <a:spAutoFit/>
          </a:bodyPr>
          <a:lstStyle/>
          <a:p>
            <a:pPr>
              <a:lnSpc>
                <a:spcPct val="112000"/>
              </a:lnSpc>
              <a:spcBef>
                <a:spcPts val="0"/>
              </a:spcBef>
              <a:spcAft>
                <a:spcPts val="192"/>
              </a:spcAft>
              <a:defRPr sz="1600" b="1">
                <a:solidFill>
                  <a:srgbClr val="405CC5"/>
                </a:solidFill>
                <a:latin typeface="Arial"/>
              </a:defRPr>
            </a:pPr>
            <a:r>
              <a:t>Duyệt nội dung → quản trị → xuất báo cáo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5"/>
        </a:solidFill>
        <a:effectLst/>
      </p:bgPr>
    </p:bg>
    <p:spTree>
      <p:nvGrpSpPr>
        <p:cNvPr id="1" name=""/>
        <p:cNvGrpSpPr/>
        <p:nvPr/>
      </p:nvGrpSpPr>
      <p:grpSpPr/>
      <p:sp>
        <p:nvSpPr>
          <p:cNvPr id="2" name="TextBox 1"/>
          <p:cNvSpPr txBox="1"/>
          <p:nvPr/>
        </p:nvSpPr>
        <p:spPr>
          <a:xfrm>
            <a:off x="502920" y="256032"/>
            <a:ext cx="4572000" cy="201168"/>
          </a:xfrm>
          <a:prstGeom prst="rect">
            <a:avLst/>
          </a:prstGeom>
          <a:noFill/>
        </p:spPr>
        <p:txBody>
          <a:bodyPr wrap="square" lIns="0" rIns="0" tIns="0" bIns="0">
            <a:spAutoFit/>
          </a:bodyPr>
          <a:lstStyle/>
          <a:p>
            <a:pPr>
              <a:lnSpc>
                <a:spcPct val="112000"/>
              </a:lnSpc>
              <a:spcBef>
                <a:spcPts val="0"/>
              </a:spcBef>
              <a:spcAft>
                <a:spcPts val="108"/>
              </a:spcAft>
              <a:defRPr sz="900" b="1">
                <a:solidFill>
                  <a:srgbClr val="07824D"/>
                </a:solidFill>
                <a:latin typeface="Arial"/>
              </a:defRPr>
            </a:pPr>
            <a:r>
              <a:t>CAREERHUB  /  RECRUITMENT SYSTEM</a:t>
            </a:r>
          </a:p>
        </p:txBody>
      </p:sp>
      <p:sp>
        <p:nvSpPr>
          <p:cNvPr id="3" name="TextBox 2"/>
          <p:cNvSpPr txBox="1"/>
          <p:nvPr/>
        </p:nvSpPr>
        <p:spPr>
          <a:xfrm>
            <a:off x="8321040" y="256032"/>
            <a:ext cx="3364992" cy="201168"/>
          </a:xfrm>
          <a:prstGeom prst="rect">
            <a:avLst/>
          </a:prstGeom>
          <a:noFill/>
        </p:spPr>
        <p:txBody>
          <a:bodyPr wrap="square" lIns="0" rIns="0" tIns="0" bIns="0">
            <a:spAutoFit/>
          </a:bodyPr>
          <a:lstStyle/>
          <a:p>
            <a:pPr algn="r">
              <a:lnSpc>
                <a:spcPct val="112000"/>
              </a:lnSpc>
              <a:spcBef>
                <a:spcPts val="0"/>
              </a:spcBef>
              <a:spcAft>
                <a:spcPts val="108"/>
              </a:spcAft>
              <a:defRPr sz="900" b="0">
                <a:solidFill>
                  <a:srgbClr val="64776F"/>
                </a:solidFill>
                <a:latin typeface="Arial"/>
              </a:defRPr>
            </a:pPr>
            <a:r>
              <a:t>KẾT QUẢ SƠ BỘ</a:t>
            </a:r>
          </a:p>
        </p:txBody>
      </p:sp>
      <p:sp>
        <p:nvSpPr>
          <p:cNvPr id="4" name="TextBox 3"/>
          <p:cNvSpPr txBox="1"/>
          <p:nvPr/>
        </p:nvSpPr>
        <p:spPr>
          <a:xfrm>
            <a:off x="502920" y="749808"/>
            <a:ext cx="11109960" cy="621792"/>
          </a:xfrm>
          <a:prstGeom prst="rect">
            <a:avLst/>
          </a:prstGeom>
          <a:noFill/>
        </p:spPr>
        <p:txBody>
          <a:bodyPr wrap="square" lIns="0" rIns="0" tIns="0" bIns="0">
            <a:spAutoFit/>
          </a:bodyPr>
          <a:lstStyle/>
          <a:p>
            <a:pPr>
              <a:lnSpc>
                <a:spcPct val="112000"/>
              </a:lnSpc>
              <a:spcBef>
                <a:spcPts val="0"/>
              </a:spcBef>
              <a:spcAft>
                <a:spcPts val="359"/>
              </a:spcAft>
              <a:defRPr sz="3000" b="1">
                <a:solidFill>
                  <a:srgbClr val="142F2B"/>
                </a:solidFill>
                <a:latin typeface="Arial"/>
              </a:defRPr>
            </a:pPr>
            <a:r>
              <a:t>Kết quả kiểm chứng: có bằng chứng ở nhiều tầng</a:t>
            </a:r>
          </a:p>
        </p:txBody>
      </p:sp>
      <p:sp>
        <p:nvSpPr>
          <p:cNvPr id="5" name="TextBox 4"/>
          <p:cNvSpPr txBox="1"/>
          <p:nvPr/>
        </p:nvSpPr>
        <p:spPr>
          <a:xfrm>
            <a:off x="530352" y="1444752"/>
            <a:ext cx="11018520" cy="484632"/>
          </a:xfrm>
          <a:prstGeom prst="rect">
            <a:avLst/>
          </a:prstGeom>
          <a:noFill/>
        </p:spPr>
        <p:txBody>
          <a:bodyPr wrap="square" lIns="0" rIns="0" tIns="0" bIns="0">
            <a:spAutoFit/>
          </a:bodyPr>
          <a:lstStyle/>
          <a:p>
            <a:pPr>
              <a:lnSpc>
                <a:spcPct val="112000"/>
              </a:lnSpc>
              <a:spcBef>
                <a:spcPts val="0"/>
              </a:spcBef>
              <a:spcAft>
                <a:spcPts val="168"/>
              </a:spcAft>
              <a:defRPr sz="1400" b="0">
                <a:solidFill>
                  <a:srgbClr val="64776F"/>
                </a:solidFill>
                <a:latin typeface="Arial"/>
              </a:defRPr>
            </a:pPr>
            <a:r>
              <a:t>Các mốc dưới đây được trích từ báo cáo đã lưu; không chạy lại test trong lần tạo slide.</a:t>
            </a:r>
          </a:p>
        </p:txBody>
      </p:sp>
      <p:cxnSp>
        <p:nvCxnSpPr>
          <p:cNvPr id="6" name="Connector 5"/>
          <p:cNvCxnSpPr/>
          <p:nvPr/>
        </p:nvCxnSpPr>
        <p:spPr>
          <a:xfrm>
            <a:off x="502920" y="6437376"/>
            <a:ext cx="11183112" cy="0"/>
          </a:xfrm>
          <a:prstGeom prst="line">
            <a:avLst/>
          </a:prstGeom>
          <a:ln w="8890">
            <a:solidFill>
              <a:srgbClr val="D6E2D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12064" y="6537960"/>
            <a:ext cx="10287000" cy="173736"/>
          </a:xfrm>
          <a:prstGeom prst="rect">
            <a:avLst/>
          </a:prstGeom>
          <a:noFill/>
        </p:spPr>
        <p:txBody>
          <a:bodyPr wrap="square" lIns="0" rIns="0" tIns="0" bIns="0">
            <a:spAutoFit/>
          </a:bodyPr>
          <a:lstStyle/>
          <a:p>
            <a:pPr>
              <a:lnSpc>
                <a:spcPct val="112000"/>
              </a:lnSpc>
              <a:spcBef>
                <a:spcPts val="0"/>
              </a:spcBef>
              <a:spcAft>
                <a:spcPts val="96"/>
              </a:spcAft>
              <a:defRPr sz="800" b="0">
                <a:solidFill>
                  <a:srgbClr val="64776F"/>
                </a:solidFill>
                <a:latin typeface="Arial"/>
              </a:defRPr>
            </a:pPr>
            <a:r>
              <a:t>Nguồn: system-regression-2026-10-16.md · frontend-portals-2026-10-22.md · chat-identities-2026-10-23.md</a:t>
            </a:r>
          </a:p>
        </p:txBody>
      </p:sp>
      <p:sp>
        <p:nvSpPr>
          <p:cNvPr id="8" name="TextBox 7"/>
          <p:cNvSpPr txBox="1"/>
          <p:nvPr/>
        </p:nvSpPr>
        <p:spPr>
          <a:xfrm>
            <a:off x="10881360" y="6510528"/>
            <a:ext cx="795528" cy="210312"/>
          </a:xfrm>
          <a:prstGeom prst="rect">
            <a:avLst/>
          </a:prstGeom>
          <a:noFill/>
        </p:spPr>
        <p:txBody>
          <a:bodyPr wrap="square" lIns="0" rIns="0" tIns="0" bIns="0">
            <a:spAutoFit/>
          </a:bodyPr>
          <a:lstStyle/>
          <a:p>
            <a:pPr algn="r">
              <a:lnSpc>
                <a:spcPct val="112000"/>
              </a:lnSpc>
              <a:spcBef>
                <a:spcPts val="0"/>
              </a:spcBef>
              <a:spcAft>
                <a:spcPts val="108"/>
              </a:spcAft>
              <a:defRPr sz="900" b="0">
                <a:solidFill>
                  <a:srgbClr val="64776F"/>
                </a:solidFill>
                <a:latin typeface="Arial"/>
              </a:defRPr>
            </a:pPr>
            <a:r>
              <a:t>12 / 16</a:t>
            </a:r>
          </a:p>
        </p:txBody>
      </p:sp>
      <p:sp>
        <p:nvSpPr>
          <p:cNvPr id="9" name="Rounded Rectangle 8"/>
          <p:cNvSpPr/>
          <p:nvPr/>
        </p:nvSpPr>
        <p:spPr>
          <a:xfrm>
            <a:off x="548640" y="2148840"/>
            <a:ext cx="3547872" cy="1709928"/>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368296"/>
            <a:ext cx="3108960" cy="585216"/>
          </a:xfrm>
          <a:prstGeom prst="rect">
            <a:avLst/>
          </a:prstGeom>
          <a:noFill/>
        </p:spPr>
        <p:txBody>
          <a:bodyPr wrap="square" lIns="0" rIns="0" tIns="0" bIns="0">
            <a:spAutoFit/>
          </a:bodyPr>
          <a:lstStyle/>
          <a:p>
            <a:pPr>
              <a:lnSpc>
                <a:spcPct val="112000"/>
              </a:lnSpc>
              <a:spcBef>
                <a:spcPts val="0"/>
              </a:spcBef>
              <a:spcAft>
                <a:spcPts val="443"/>
              </a:spcAft>
              <a:defRPr sz="3700" b="1">
                <a:solidFill>
                  <a:srgbClr val="07824D"/>
                </a:solidFill>
                <a:latin typeface="Arial"/>
              </a:defRPr>
            </a:pPr>
            <a:r>
              <a:t>12 / 12</a:t>
            </a:r>
          </a:p>
        </p:txBody>
      </p:sp>
      <p:sp>
        <p:nvSpPr>
          <p:cNvPr id="11" name="TextBox 10"/>
          <p:cNvSpPr txBox="1"/>
          <p:nvPr/>
        </p:nvSpPr>
        <p:spPr>
          <a:xfrm>
            <a:off x="758952" y="3099816"/>
            <a:ext cx="3108960" cy="310896"/>
          </a:xfrm>
          <a:prstGeom prst="rect">
            <a:avLst/>
          </a:prstGeom>
          <a:noFill/>
        </p:spPr>
        <p:txBody>
          <a:bodyPr wrap="square" lIns="0" rIns="0" tIns="0" bIns="0">
            <a:spAutoFit/>
          </a:bodyPr>
          <a:lstStyle/>
          <a:p>
            <a:pPr>
              <a:lnSpc>
                <a:spcPct val="112000"/>
              </a:lnSpc>
              <a:spcBef>
                <a:spcPts val="0"/>
              </a:spcBef>
              <a:spcAft>
                <a:spcPts val="192"/>
              </a:spcAft>
              <a:defRPr sz="1600" b="1">
                <a:solidFill>
                  <a:srgbClr val="142F2B"/>
                </a:solidFill>
                <a:latin typeface="Arial"/>
              </a:defRPr>
            </a:pPr>
            <a:r>
              <a:t>API health HTTP 200</a:t>
            </a:r>
          </a:p>
        </p:txBody>
      </p:sp>
      <p:sp>
        <p:nvSpPr>
          <p:cNvPr id="12" name="TextBox 11"/>
          <p:cNvSpPr txBox="1"/>
          <p:nvPr/>
        </p:nvSpPr>
        <p:spPr>
          <a:xfrm>
            <a:off x="758952" y="3575304"/>
            <a:ext cx="3108960" cy="210312"/>
          </a:xfrm>
          <a:prstGeom prst="rect">
            <a:avLst/>
          </a:prstGeom>
          <a:noFill/>
        </p:spPr>
        <p:txBody>
          <a:bodyPr wrap="square" lIns="0" rIns="0" tIns="0" bIns="0">
            <a:spAutoFit/>
          </a:bodyPr>
          <a:lstStyle/>
          <a:p>
            <a:pPr>
              <a:lnSpc>
                <a:spcPct val="112000"/>
              </a:lnSpc>
              <a:spcBef>
                <a:spcPts val="0"/>
              </a:spcBef>
              <a:spcAft>
                <a:spcPts val="120"/>
              </a:spcAft>
              <a:defRPr sz="1000" b="0">
                <a:solidFill>
                  <a:srgbClr val="64776F"/>
                </a:solidFill>
                <a:latin typeface="Arial"/>
              </a:defRPr>
            </a:pPr>
            <a:r>
              <a:t>Docker thật • 16/10/2026</a:t>
            </a:r>
          </a:p>
        </p:txBody>
      </p:sp>
      <p:sp>
        <p:nvSpPr>
          <p:cNvPr id="13" name="Rounded Rectangle 12"/>
          <p:cNvSpPr/>
          <p:nvPr/>
        </p:nvSpPr>
        <p:spPr>
          <a:xfrm>
            <a:off x="4325112" y="2148840"/>
            <a:ext cx="3547872" cy="1709928"/>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5424" y="2368296"/>
            <a:ext cx="3108960" cy="585216"/>
          </a:xfrm>
          <a:prstGeom prst="rect">
            <a:avLst/>
          </a:prstGeom>
          <a:noFill/>
        </p:spPr>
        <p:txBody>
          <a:bodyPr wrap="square" lIns="0" rIns="0" tIns="0" bIns="0">
            <a:spAutoFit/>
          </a:bodyPr>
          <a:lstStyle/>
          <a:p>
            <a:pPr>
              <a:lnSpc>
                <a:spcPct val="112000"/>
              </a:lnSpc>
              <a:spcBef>
                <a:spcPts val="0"/>
              </a:spcBef>
              <a:spcAft>
                <a:spcPts val="443"/>
              </a:spcAft>
              <a:defRPr sz="3700" b="1">
                <a:solidFill>
                  <a:srgbClr val="07824D"/>
                </a:solidFill>
                <a:latin typeface="Arial"/>
              </a:defRPr>
            </a:pPr>
            <a:r>
              <a:t>138 / 138</a:t>
            </a:r>
          </a:p>
        </p:txBody>
      </p:sp>
      <p:sp>
        <p:nvSpPr>
          <p:cNvPr id="15" name="TextBox 14"/>
          <p:cNvSpPr txBox="1"/>
          <p:nvPr/>
        </p:nvSpPr>
        <p:spPr>
          <a:xfrm>
            <a:off x="4535424" y="3099816"/>
            <a:ext cx="3108960" cy="310896"/>
          </a:xfrm>
          <a:prstGeom prst="rect">
            <a:avLst/>
          </a:prstGeom>
          <a:noFill/>
        </p:spPr>
        <p:txBody>
          <a:bodyPr wrap="square" lIns="0" rIns="0" tIns="0" bIns="0">
            <a:spAutoFit/>
          </a:bodyPr>
          <a:lstStyle/>
          <a:p>
            <a:pPr>
              <a:lnSpc>
                <a:spcPct val="112000"/>
              </a:lnSpc>
              <a:spcBef>
                <a:spcPts val="0"/>
              </a:spcBef>
              <a:spcAft>
                <a:spcPts val="192"/>
              </a:spcAft>
              <a:defRPr sz="1600" b="1">
                <a:solidFill>
                  <a:srgbClr val="142F2B"/>
                </a:solidFill>
                <a:latin typeface="Arial"/>
              </a:defRPr>
            </a:pPr>
            <a:r>
              <a:t>Browser desktop/mobile đạt</a:t>
            </a:r>
          </a:p>
        </p:txBody>
      </p:sp>
      <p:sp>
        <p:nvSpPr>
          <p:cNvPr id="16" name="TextBox 15"/>
          <p:cNvSpPr txBox="1"/>
          <p:nvPr/>
        </p:nvSpPr>
        <p:spPr>
          <a:xfrm>
            <a:off x="4535424" y="3575304"/>
            <a:ext cx="3108960" cy="210312"/>
          </a:xfrm>
          <a:prstGeom prst="rect">
            <a:avLst/>
          </a:prstGeom>
          <a:noFill/>
        </p:spPr>
        <p:txBody>
          <a:bodyPr wrap="square" lIns="0" rIns="0" tIns="0" bIns="0">
            <a:spAutoFit/>
          </a:bodyPr>
          <a:lstStyle/>
          <a:p>
            <a:pPr>
              <a:lnSpc>
                <a:spcPct val="112000"/>
              </a:lnSpc>
              <a:spcBef>
                <a:spcPts val="0"/>
              </a:spcBef>
              <a:spcAft>
                <a:spcPts val="120"/>
              </a:spcAft>
              <a:defRPr sz="1000" b="0">
                <a:solidFill>
                  <a:srgbClr val="64776F"/>
                </a:solidFill>
                <a:latin typeface="Arial"/>
              </a:defRPr>
            </a:pPr>
            <a:r>
              <a:t>Lượt đầy đủ • 16/10/2026</a:t>
            </a:r>
          </a:p>
        </p:txBody>
      </p:sp>
      <p:sp>
        <p:nvSpPr>
          <p:cNvPr id="17" name="Rounded Rectangle 16"/>
          <p:cNvSpPr/>
          <p:nvPr/>
        </p:nvSpPr>
        <p:spPr>
          <a:xfrm>
            <a:off x="8101583" y="2148840"/>
            <a:ext cx="3547872" cy="1709928"/>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11896" y="2368296"/>
            <a:ext cx="3108960" cy="585216"/>
          </a:xfrm>
          <a:prstGeom prst="rect">
            <a:avLst/>
          </a:prstGeom>
          <a:noFill/>
        </p:spPr>
        <p:txBody>
          <a:bodyPr wrap="square" lIns="0" rIns="0" tIns="0" bIns="0">
            <a:spAutoFit/>
          </a:bodyPr>
          <a:lstStyle/>
          <a:p>
            <a:pPr>
              <a:lnSpc>
                <a:spcPct val="112000"/>
              </a:lnSpc>
              <a:spcBef>
                <a:spcPts val="0"/>
              </a:spcBef>
              <a:spcAft>
                <a:spcPts val="443"/>
              </a:spcAft>
              <a:defRPr sz="3700" b="1">
                <a:solidFill>
                  <a:srgbClr val="07824D"/>
                </a:solidFill>
                <a:latin typeface="Arial"/>
              </a:defRPr>
            </a:pPr>
            <a:r>
              <a:t>155</a:t>
            </a:r>
          </a:p>
        </p:txBody>
      </p:sp>
      <p:sp>
        <p:nvSpPr>
          <p:cNvPr id="19" name="TextBox 18"/>
          <p:cNvSpPr txBox="1"/>
          <p:nvPr/>
        </p:nvSpPr>
        <p:spPr>
          <a:xfrm>
            <a:off x="8311896" y="3099816"/>
            <a:ext cx="3108960" cy="310896"/>
          </a:xfrm>
          <a:prstGeom prst="rect">
            <a:avLst/>
          </a:prstGeom>
          <a:noFill/>
        </p:spPr>
        <p:txBody>
          <a:bodyPr wrap="square" lIns="0" rIns="0" tIns="0" bIns="0">
            <a:spAutoFit/>
          </a:bodyPr>
          <a:lstStyle/>
          <a:p>
            <a:pPr>
              <a:lnSpc>
                <a:spcPct val="112000"/>
              </a:lnSpc>
              <a:spcBef>
                <a:spcPts val="0"/>
              </a:spcBef>
              <a:spcAft>
                <a:spcPts val="192"/>
              </a:spcAft>
              <a:defRPr sz="1600" b="1">
                <a:solidFill>
                  <a:srgbClr val="142F2B"/>
                </a:solidFill>
                <a:latin typeface="Arial"/>
              </a:defRPr>
            </a:pPr>
            <a:r>
              <a:t>Kiểm tra logic frontend đạt</a:t>
            </a:r>
          </a:p>
        </p:txBody>
      </p:sp>
      <p:sp>
        <p:nvSpPr>
          <p:cNvPr id="20" name="TextBox 19"/>
          <p:cNvSpPr txBox="1"/>
          <p:nvPr/>
        </p:nvSpPr>
        <p:spPr>
          <a:xfrm>
            <a:off x="8311896" y="3575304"/>
            <a:ext cx="3108960" cy="210312"/>
          </a:xfrm>
          <a:prstGeom prst="rect">
            <a:avLst/>
          </a:prstGeom>
          <a:noFill/>
        </p:spPr>
        <p:txBody>
          <a:bodyPr wrap="square" lIns="0" rIns="0" tIns="0" bIns="0">
            <a:spAutoFit/>
          </a:bodyPr>
          <a:lstStyle/>
          <a:p>
            <a:pPr>
              <a:lnSpc>
                <a:spcPct val="112000"/>
              </a:lnSpc>
              <a:spcBef>
                <a:spcPts val="0"/>
              </a:spcBef>
              <a:spcAft>
                <a:spcPts val="120"/>
              </a:spcAft>
              <a:defRPr sz="1000" b="0">
                <a:solidFill>
                  <a:srgbClr val="64776F"/>
                </a:solidFill>
                <a:latin typeface="Arial"/>
              </a:defRPr>
            </a:pPr>
            <a:r>
              <a:t>Cập nhật chat • 23/10/2026</a:t>
            </a:r>
          </a:p>
        </p:txBody>
      </p:sp>
      <p:sp>
        <p:nvSpPr>
          <p:cNvPr id="21" name="Rectangle 20"/>
          <p:cNvSpPr/>
          <p:nvPr/>
        </p:nvSpPr>
        <p:spPr>
          <a:xfrm>
            <a:off x="704088" y="4315968"/>
            <a:ext cx="68580" cy="68580"/>
          </a:xfrm>
          <a:prstGeom prst="rect">
            <a:avLst/>
          </a:prstGeom>
          <a:solidFill>
            <a:srgbClr val="078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5256" y="4242816"/>
            <a:ext cx="5074920" cy="310896"/>
          </a:xfrm>
          <a:prstGeom prst="rect">
            <a:avLst/>
          </a:prstGeom>
          <a:noFill/>
        </p:spPr>
        <p:txBody>
          <a:bodyPr wrap="square" lIns="0" rIns="0" tIns="0" bIns="0">
            <a:spAutoFit/>
          </a:bodyPr>
          <a:lstStyle/>
          <a:p>
            <a:pPr>
              <a:lnSpc>
                <a:spcPct val="112000"/>
              </a:lnSpc>
              <a:spcBef>
                <a:spcPts val="0"/>
              </a:spcBef>
              <a:spcAft>
                <a:spcPts val="216"/>
              </a:spcAft>
              <a:defRPr sz="1800" b="1">
                <a:solidFill>
                  <a:srgbClr val="142F2B"/>
                </a:solidFill>
                <a:latin typeface="Arial"/>
              </a:defRPr>
            </a:pPr>
            <a:r>
              <a:t>Luồng backend/provider thật</a:t>
            </a:r>
          </a:p>
        </p:txBody>
      </p:sp>
      <p:sp>
        <p:nvSpPr>
          <p:cNvPr id="23" name="TextBox 22"/>
          <p:cNvSpPr txBox="1"/>
          <p:nvPr/>
        </p:nvSpPr>
        <p:spPr>
          <a:xfrm>
            <a:off x="905256" y="4654296"/>
            <a:ext cx="5074920" cy="868680"/>
          </a:xfrm>
          <a:prstGeom prst="rect">
            <a:avLst/>
          </a:prstGeom>
          <a:noFill/>
        </p:spPr>
        <p:txBody>
          <a:bodyPr wrap="square" lIns="0" rIns="0" tIns="0" bIns="0">
            <a:spAutoFit/>
          </a:bodyPr>
          <a:lstStyle/>
          <a:p>
            <a:pPr>
              <a:lnSpc>
                <a:spcPct val="112000"/>
              </a:lnSpc>
              <a:spcBef>
                <a:spcPts val="0"/>
              </a:spcBef>
              <a:spcAft>
                <a:spcPts val="192"/>
              </a:spcAft>
              <a:defRPr sz="1600" b="0">
                <a:solidFill>
                  <a:srgbClr val="64776F"/>
                </a:solidFill>
                <a:latin typeface="Arial"/>
              </a:defRPr>
            </a:pPr>
            <a:r>
              <a:t>Auth, Cloudinary, Elasticsearch, Kafka/SSE, LiveKit và matching local có bằng chứng.</a:t>
            </a:r>
          </a:p>
        </p:txBody>
      </p:sp>
      <p:sp>
        <p:nvSpPr>
          <p:cNvPr id="24" name="Rectangle 23"/>
          <p:cNvSpPr/>
          <p:nvPr/>
        </p:nvSpPr>
        <p:spPr>
          <a:xfrm>
            <a:off x="6391656" y="4315968"/>
            <a:ext cx="68580" cy="68580"/>
          </a:xfrm>
          <a:prstGeom prst="rect">
            <a:avLst/>
          </a:prstGeom>
          <a:solidFill>
            <a:srgbClr val="078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92824" y="4242816"/>
            <a:ext cx="4910328" cy="310896"/>
          </a:xfrm>
          <a:prstGeom prst="rect">
            <a:avLst/>
          </a:prstGeom>
          <a:noFill/>
        </p:spPr>
        <p:txBody>
          <a:bodyPr wrap="square" lIns="0" rIns="0" tIns="0" bIns="0">
            <a:spAutoFit/>
          </a:bodyPr>
          <a:lstStyle/>
          <a:p>
            <a:pPr>
              <a:lnSpc>
                <a:spcPct val="112000"/>
              </a:lnSpc>
              <a:spcBef>
                <a:spcPts val="0"/>
              </a:spcBef>
              <a:spcAft>
                <a:spcPts val="216"/>
              </a:spcAft>
              <a:defRPr sz="1800" b="1">
                <a:solidFill>
                  <a:srgbClr val="142F2B"/>
                </a:solidFill>
                <a:latin typeface="Arial"/>
              </a:defRPr>
            </a:pPr>
            <a:r>
              <a:t>Cập nhật giao diện gần nhất</a:t>
            </a:r>
          </a:p>
        </p:txBody>
      </p:sp>
      <p:sp>
        <p:nvSpPr>
          <p:cNvPr id="26" name="TextBox 25"/>
          <p:cNvSpPr txBox="1"/>
          <p:nvPr/>
        </p:nvSpPr>
        <p:spPr>
          <a:xfrm>
            <a:off x="6592824" y="4654296"/>
            <a:ext cx="4910328" cy="868680"/>
          </a:xfrm>
          <a:prstGeom prst="rect">
            <a:avLst/>
          </a:prstGeom>
          <a:noFill/>
        </p:spPr>
        <p:txBody>
          <a:bodyPr wrap="square" lIns="0" rIns="0" tIns="0" bIns="0">
            <a:spAutoFit/>
          </a:bodyPr>
          <a:lstStyle/>
          <a:p>
            <a:pPr>
              <a:lnSpc>
                <a:spcPct val="112000"/>
              </a:lnSpc>
              <a:spcBef>
                <a:spcPts val="0"/>
              </a:spcBef>
              <a:spcAft>
                <a:spcPts val="192"/>
              </a:spcAft>
              <a:defRPr sz="1600" b="0">
                <a:solidFill>
                  <a:srgbClr val="64776F"/>
                </a:solidFill>
                <a:latin typeface="Arial"/>
              </a:defRPr>
            </a:pPr>
            <a:r>
              <a:t>Ba portal có smoke backend thật; nhận diện công ty/ứng viên trong chat được kiểm tra 23/10.</a:t>
            </a:r>
          </a:p>
        </p:txBody>
      </p:sp>
      <p:sp>
        <p:nvSpPr>
          <p:cNvPr id="27" name="TextBox 26"/>
          <p:cNvSpPr txBox="1"/>
          <p:nvPr/>
        </p:nvSpPr>
        <p:spPr>
          <a:xfrm>
            <a:off x="694944" y="5879592"/>
            <a:ext cx="10927080" cy="228600"/>
          </a:xfrm>
          <a:prstGeom prst="rect">
            <a:avLst/>
          </a:prstGeom>
          <a:noFill/>
        </p:spPr>
        <p:txBody>
          <a:bodyPr wrap="square" lIns="0" rIns="0" tIns="0" bIns="0">
            <a:spAutoFit/>
          </a:bodyPr>
          <a:lstStyle/>
          <a:p>
            <a:pPr>
              <a:lnSpc>
                <a:spcPct val="112000"/>
              </a:lnSpc>
              <a:spcBef>
                <a:spcPts val="0"/>
              </a:spcBef>
              <a:spcAft>
                <a:spcPts val="144"/>
              </a:spcAft>
              <a:defRPr sz="1200" b="0">
                <a:solidFill>
                  <a:srgbClr val="64776F"/>
                </a:solidFill>
                <a:latin typeface="Arial"/>
              </a:defRPr>
            </a:pPr>
            <a:r>
              <a:t>Không cộng các lượt test có ca trùng; fixture test và test dịch vụ thật được phân biệt trong tài liệu nguồn.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5"/>
        </a:solidFill>
        <a:effectLst/>
      </p:bgPr>
    </p:bg>
    <p:spTree>
      <p:nvGrpSpPr>
        <p:cNvPr id="1" name=""/>
        <p:cNvGrpSpPr/>
        <p:nvPr/>
      </p:nvGrpSpPr>
      <p:grpSpPr/>
      <p:sp>
        <p:nvSpPr>
          <p:cNvPr id="2" name="TextBox 1"/>
          <p:cNvSpPr txBox="1"/>
          <p:nvPr/>
        </p:nvSpPr>
        <p:spPr>
          <a:xfrm>
            <a:off x="502920" y="256032"/>
            <a:ext cx="4572000" cy="201168"/>
          </a:xfrm>
          <a:prstGeom prst="rect">
            <a:avLst/>
          </a:prstGeom>
          <a:noFill/>
        </p:spPr>
        <p:txBody>
          <a:bodyPr wrap="square" lIns="0" rIns="0" tIns="0" bIns="0">
            <a:spAutoFit/>
          </a:bodyPr>
          <a:lstStyle/>
          <a:p>
            <a:pPr>
              <a:lnSpc>
                <a:spcPct val="112000"/>
              </a:lnSpc>
              <a:spcBef>
                <a:spcPts val="0"/>
              </a:spcBef>
              <a:spcAft>
                <a:spcPts val="108"/>
              </a:spcAft>
              <a:defRPr sz="900" b="1">
                <a:solidFill>
                  <a:srgbClr val="07824D"/>
                </a:solidFill>
                <a:latin typeface="Arial"/>
              </a:defRPr>
            </a:pPr>
            <a:r>
              <a:t>CAREERHUB  /  RECRUITMENT SYSTEM</a:t>
            </a:r>
          </a:p>
        </p:txBody>
      </p:sp>
      <p:sp>
        <p:nvSpPr>
          <p:cNvPr id="3" name="TextBox 2"/>
          <p:cNvSpPr txBox="1"/>
          <p:nvPr/>
        </p:nvSpPr>
        <p:spPr>
          <a:xfrm>
            <a:off x="8321040" y="256032"/>
            <a:ext cx="3364992" cy="201168"/>
          </a:xfrm>
          <a:prstGeom prst="rect">
            <a:avLst/>
          </a:prstGeom>
          <a:noFill/>
        </p:spPr>
        <p:txBody>
          <a:bodyPr wrap="square" lIns="0" rIns="0" tIns="0" bIns="0">
            <a:spAutoFit/>
          </a:bodyPr>
          <a:lstStyle/>
          <a:p>
            <a:pPr algn="r">
              <a:lnSpc>
                <a:spcPct val="112000"/>
              </a:lnSpc>
              <a:spcBef>
                <a:spcPts val="0"/>
              </a:spcBef>
              <a:spcAft>
                <a:spcPts val="108"/>
              </a:spcAft>
              <a:defRPr sz="900" b="0">
                <a:solidFill>
                  <a:srgbClr val="64776F"/>
                </a:solidFill>
                <a:latin typeface="Arial"/>
              </a:defRPr>
            </a:pPr>
            <a:r>
              <a:t>TỔ CHỨC THỰC HIỆN</a:t>
            </a:r>
          </a:p>
        </p:txBody>
      </p:sp>
      <p:sp>
        <p:nvSpPr>
          <p:cNvPr id="4" name="TextBox 3"/>
          <p:cNvSpPr txBox="1"/>
          <p:nvPr/>
        </p:nvSpPr>
        <p:spPr>
          <a:xfrm>
            <a:off x="502920" y="749808"/>
            <a:ext cx="11109960" cy="621792"/>
          </a:xfrm>
          <a:prstGeom prst="rect">
            <a:avLst/>
          </a:prstGeom>
          <a:noFill/>
        </p:spPr>
        <p:txBody>
          <a:bodyPr wrap="square" lIns="0" rIns="0" tIns="0" bIns="0">
            <a:spAutoFit/>
          </a:bodyPr>
          <a:lstStyle/>
          <a:p>
            <a:pPr>
              <a:lnSpc>
                <a:spcPct val="112000"/>
              </a:lnSpc>
              <a:spcBef>
                <a:spcPts val="0"/>
              </a:spcBef>
              <a:spcAft>
                <a:spcPts val="359"/>
              </a:spcAft>
              <a:defRPr sz="3000" b="1">
                <a:solidFill>
                  <a:srgbClr val="142F2B"/>
                </a:solidFill>
                <a:latin typeface="Arial"/>
              </a:defRPr>
            </a:pPr>
            <a:r>
              <a:t>Phân công theo luồng nghiệp vụ cho nhóm 3 người</a:t>
            </a:r>
          </a:p>
        </p:txBody>
      </p:sp>
      <p:sp>
        <p:nvSpPr>
          <p:cNvPr id="5" name="TextBox 4"/>
          <p:cNvSpPr txBox="1"/>
          <p:nvPr/>
        </p:nvSpPr>
        <p:spPr>
          <a:xfrm>
            <a:off x="530352" y="1444752"/>
            <a:ext cx="11018520" cy="484632"/>
          </a:xfrm>
          <a:prstGeom prst="rect">
            <a:avLst/>
          </a:prstGeom>
          <a:noFill/>
        </p:spPr>
        <p:txBody>
          <a:bodyPr wrap="square" lIns="0" rIns="0" tIns="0" bIns="0">
            <a:spAutoFit/>
          </a:bodyPr>
          <a:lstStyle/>
          <a:p>
            <a:pPr>
              <a:lnSpc>
                <a:spcPct val="112000"/>
              </a:lnSpc>
              <a:spcBef>
                <a:spcPts val="0"/>
              </a:spcBef>
              <a:spcAft>
                <a:spcPts val="168"/>
              </a:spcAft>
              <a:defRPr sz="1400" b="0">
                <a:solidFill>
                  <a:srgbClr val="64776F"/>
                </a:solidFill>
                <a:latin typeface="Arial"/>
              </a:defRPr>
            </a:pPr>
            <a:r>
              <a:t>Mỗi thành viên phụ trách backend và giao diện tương ứng; cùng chịu trách nhiệm tích hợp.</a:t>
            </a:r>
          </a:p>
        </p:txBody>
      </p:sp>
      <p:cxnSp>
        <p:nvCxnSpPr>
          <p:cNvPr id="6" name="Connector 5"/>
          <p:cNvCxnSpPr/>
          <p:nvPr/>
        </p:nvCxnSpPr>
        <p:spPr>
          <a:xfrm>
            <a:off x="502920" y="6437376"/>
            <a:ext cx="11183112" cy="0"/>
          </a:xfrm>
          <a:prstGeom prst="line">
            <a:avLst/>
          </a:prstGeom>
          <a:ln w="8890">
            <a:solidFill>
              <a:srgbClr val="D6E2D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12064" y="6537960"/>
            <a:ext cx="10287000" cy="173736"/>
          </a:xfrm>
          <a:prstGeom prst="rect">
            <a:avLst/>
          </a:prstGeom>
          <a:noFill/>
        </p:spPr>
        <p:txBody>
          <a:bodyPr wrap="square" lIns="0" rIns="0" tIns="0" bIns="0">
            <a:spAutoFit/>
          </a:bodyPr>
          <a:lstStyle/>
          <a:p>
            <a:pPr>
              <a:lnSpc>
                <a:spcPct val="112000"/>
              </a:lnSpc>
              <a:spcBef>
                <a:spcPts val="0"/>
              </a:spcBef>
              <a:spcAft>
                <a:spcPts val="96"/>
              </a:spcAft>
              <a:defRPr sz="800" b="0">
                <a:solidFill>
                  <a:srgbClr val="64776F"/>
                </a:solidFill>
                <a:latin typeface="Arial"/>
              </a:defRPr>
            </a:pPr>
            <a:r>
              <a:t>Nguồn: Phan-cong-cong-viec-He-thong-tuyen-dung.md · Đối chiếu runtime hiện tại trong README.md.</a:t>
            </a:r>
          </a:p>
        </p:txBody>
      </p:sp>
      <p:sp>
        <p:nvSpPr>
          <p:cNvPr id="8" name="TextBox 7"/>
          <p:cNvSpPr txBox="1"/>
          <p:nvPr/>
        </p:nvSpPr>
        <p:spPr>
          <a:xfrm>
            <a:off x="10881360" y="6510528"/>
            <a:ext cx="795528" cy="210312"/>
          </a:xfrm>
          <a:prstGeom prst="rect">
            <a:avLst/>
          </a:prstGeom>
          <a:noFill/>
        </p:spPr>
        <p:txBody>
          <a:bodyPr wrap="square" lIns="0" rIns="0" tIns="0" bIns="0">
            <a:spAutoFit/>
          </a:bodyPr>
          <a:lstStyle/>
          <a:p>
            <a:pPr algn="r">
              <a:lnSpc>
                <a:spcPct val="112000"/>
              </a:lnSpc>
              <a:spcBef>
                <a:spcPts val="0"/>
              </a:spcBef>
              <a:spcAft>
                <a:spcPts val="108"/>
              </a:spcAft>
              <a:defRPr sz="900" b="0">
                <a:solidFill>
                  <a:srgbClr val="64776F"/>
                </a:solidFill>
                <a:latin typeface="Arial"/>
              </a:defRPr>
            </a:pPr>
            <a:r>
              <a:t>13 / 16</a:t>
            </a:r>
          </a:p>
        </p:txBody>
      </p:sp>
      <p:sp>
        <p:nvSpPr>
          <p:cNvPr id="9" name="Rounded Rectangle 8"/>
          <p:cNvSpPr/>
          <p:nvPr/>
        </p:nvSpPr>
        <p:spPr>
          <a:xfrm>
            <a:off x="566928" y="2121408"/>
            <a:ext cx="11064240" cy="1024128"/>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95528" y="2423160"/>
            <a:ext cx="365760" cy="365760"/>
          </a:xfrm>
          <a:prstGeom prst="roundRect">
            <a:avLst>
              <a:gd name="adj" fmla="val 12000"/>
            </a:avLst>
          </a:prstGeom>
          <a:solidFill>
            <a:srgbClr val="078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491740"/>
            <a:ext cx="365760" cy="228600"/>
          </a:xfrm>
          <a:prstGeom prst="rect">
            <a:avLst/>
          </a:prstGeom>
          <a:noFill/>
        </p:spPr>
        <p:txBody>
          <a:bodyPr wrap="square" lIns="0" rIns="0" tIns="0" bIns="0">
            <a:spAutoFit/>
          </a:bodyPr>
          <a:lstStyle/>
          <a:p>
            <a:pPr algn="ctr">
              <a:lnSpc>
                <a:spcPct val="112000"/>
              </a:lnSpc>
              <a:spcBef>
                <a:spcPts val="0"/>
              </a:spcBef>
              <a:spcAft>
                <a:spcPts val="156"/>
              </a:spcAft>
              <a:defRPr sz="1300" b="1">
                <a:solidFill>
                  <a:srgbClr val="FFFFFF"/>
                </a:solidFill>
                <a:latin typeface="Arial"/>
              </a:defRPr>
            </a:pPr>
            <a:r>
              <a:t>01</a:t>
            </a:r>
          </a:p>
        </p:txBody>
      </p:sp>
      <p:sp>
        <p:nvSpPr>
          <p:cNvPr id="12" name="TextBox 11"/>
          <p:cNvSpPr txBox="1"/>
          <p:nvPr/>
        </p:nvSpPr>
        <p:spPr>
          <a:xfrm>
            <a:off x="1353312" y="2286000"/>
            <a:ext cx="3977639" cy="329184"/>
          </a:xfrm>
          <a:prstGeom prst="rect">
            <a:avLst/>
          </a:prstGeom>
          <a:noFill/>
        </p:spPr>
        <p:txBody>
          <a:bodyPr wrap="square" lIns="0" rIns="0" tIns="0" bIns="0">
            <a:spAutoFit/>
          </a:bodyPr>
          <a:lstStyle/>
          <a:p>
            <a:pPr>
              <a:lnSpc>
                <a:spcPct val="112000"/>
              </a:lnSpc>
              <a:spcBef>
                <a:spcPts val="0"/>
              </a:spcBef>
              <a:spcAft>
                <a:spcPts val="216"/>
              </a:spcAft>
              <a:defRPr sz="1800" b="1">
                <a:solidFill>
                  <a:srgbClr val="142F2B"/>
                </a:solidFill>
                <a:latin typeface="Arial"/>
              </a:defRPr>
            </a:pPr>
            <a:r>
              <a:t>Người 1 — Danh tính &amp; hồ sơ</a:t>
            </a:r>
          </a:p>
        </p:txBody>
      </p:sp>
      <p:sp>
        <p:nvSpPr>
          <p:cNvPr id="13" name="TextBox 12"/>
          <p:cNvSpPr txBox="1"/>
          <p:nvPr/>
        </p:nvSpPr>
        <p:spPr>
          <a:xfrm>
            <a:off x="1353312" y="2743200"/>
            <a:ext cx="3886200" cy="246888"/>
          </a:xfrm>
          <a:prstGeom prst="rect">
            <a:avLst/>
          </a:prstGeom>
          <a:noFill/>
        </p:spPr>
        <p:txBody>
          <a:bodyPr wrap="square" lIns="0" rIns="0" tIns="0" bIns="0">
            <a:spAutoFit/>
          </a:bodyPr>
          <a:lstStyle/>
          <a:p>
            <a:pPr>
              <a:lnSpc>
                <a:spcPct val="112000"/>
              </a:lnSpc>
              <a:spcBef>
                <a:spcPts val="0"/>
              </a:spcBef>
              <a:spcAft>
                <a:spcPts val="156"/>
              </a:spcAft>
              <a:defRPr sz="1300" b="1">
                <a:solidFill>
                  <a:srgbClr val="07824D"/>
                </a:solidFill>
                <a:latin typeface="Arial"/>
              </a:defRPr>
            </a:pPr>
            <a:r>
              <a:t>Auth • Profile • Media • Admin</a:t>
            </a:r>
          </a:p>
        </p:txBody>
      </p:sp>
      <p:sp>
        <p:nvSpPr>
          <p:cNvPr id="14" name="TextBox 13"/>
          <p:cNvSpPr txBox="1"/>
          <p:nvPr/>
        </p:nvSpPr>
        <p:spPr>
          <a:xfrm>
            <a:off x="5532120" y="2331720"/>
            <a:ext cx="5779008" cy="694944"/>
          </a:xfrm>
          <a:prstGeom prst="rect">
            <a:avLst/>
          </a:prstGeom>
          <a:noFill/>
        </p:spPr>
        <p:txBody>
          <a:bodyPr wrap="square" lIns="0" rIns="0" tIns="0" bIns="0">
            <a:spAutoFit/>
          </a:bodyPr>
          <a:lstStyle/>
          <a:p>
            <a:pPr>
              <a:lnSpc>
                <a:spcPct val="112000"/>
              </a:lnSpc>
              <a:spcBef>
                <a:spcPts val="0"/>
              </a:spcBef>
              <a:spcAft>
                <a:spcPts val="179"/>
              </a:spcAft>
              <a:defRPr sz="1500" b="0">
                <a:solidFill>
                  <a:srgbClr val="64776F"/>
                </a:solidFill>
                <a:latin typeface="Arial"/>
              </a:defRPr>
            </a:pPr>
            <a:r>
              <a:t>Đăng nhập, hồ sơ/CV, quản trị</a:t>
            </a:r>
          </a:p>
          <a:p>
            <a:pPr>
              <a:lnSpc>
                <a:spcPct val="112000"/>
              </a:lnSpc>
              <a:spcBef>
                <a:spcPts val="0"/>
              </a:spcBef>
              <a:spcAft>
                <a:spcPts val="179"/>
              </a:spcAft>
              <a:defRPr sz="1500" b="0">
                <a:solidFill>
                  <a:srgbClr val="64776F"/>
                </a:solidFill>
                <a:latin typeface="Arial"/>
              </a:defRPr>
            </a:pPr>
            <a:r>
              <a:t>Redis OTP/session, SMTP, Cloudinary</a:t>
            </a:r>
          </a:p>
        </p:txBody>
      </p:sp>
      <p:sp>
        <p:nvSpPr>
          <p:cNvPr id="15" name="Rounded Rectangle 14"/>
          <p:cNvSpPr/>
          <p:nvPr/>
        </p:nvSpPr>
        <p:spPr>
          <a:xfrm>
            <a:off x="566928" y="3346704"/>
            <a:ext cx="11064240" cy="1024128"/>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95528" y="3648456"/>
            <a:ext cx="365760" cy="365760"/>
          </a:xfrm>
          <a:prstGeom prst="roundRect">
            <a:avLst>
              <a:gd name="adj" fmla="val 12000"/>
            </a:avLst>
          </a:prstGeom>
          <a:solidFill>
            <a:srgbClr val="078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3717036"/>
            <a:ext cx="365760" cy="228600"/>
          </a:xfrm>
          <a:prstGeom prst="rect">
            <a:avLst/>
          </a:prstGeom>
          <a:noFill/>
        </p:spPr>
        <p:txBody>
          <a:bodyPr wrap="square" lIns="0" rIns="0" tIns="0" bIns="0">
            <a:spAutoFit/>
          </a:bodyPr>
          <a:lstStyle/>
          <a:p>
            <a:pPr algn="ctr">
              <a:lnSpc>
                <a:spcPct val="112000"/>
              </a:lnSpc>
              <a:spcBef>
                <a:spcPts val="0"/>
              </a:spcBef>
              <a:spcAft>
                <a:spcPts val="156"/>
              </a:spcAft>
              <a:defRPr sz="1300" b="1">
                <a:solidFill>
                  <a:srgbClr val="FFFFFF"/>
                </a:solidFill>
                <a:latin typeface="Arial"/>
              </a:defRPr>
            </a:pPr>
            <a:r>
              <a:t>02</a:t>
            </a:r>
          </a:p>
        </p:txBody>
      </p:sp>
      <p:sp>
        <p:nvSpPr>
          <p:cNvPr id="18" name="TextBox 17"/>
          <p:cNvSpPr txBox="1"/>
          <p:nvPr/>
        </p:nvSpPr>
        <p:spPr>
          <a:xfrm>
            <a:off x="1353312" y="3511296"/>
            <a:ext cx="3977639" cy="329184"/>
          </a:xfrm>
          <a:prstGeom prst="rect">
            <a:avLst/>
          </a:prstGeom>
          <a:noFill/>
        </p:spPr>
        <p:txBody>
          <a:bodyPr wrap="square" lIns="0" rIns="0" tIns="0" bIns="0">
            <a:spAutoFit/>
          </a:bodyPr>
          <a:lstStyle/>
          <a:p>
            <a:pPr>
              <a:lnSpc>
                <a:spcPct val="112000"/>
              </a:lnSpc>
              <a:spcBef>
                <a:spcPts val="0"/>
              </a:spcBef>
              <a:spcAft>
                <a:spcPts val="216"/>
              </a:spcAft>
              <a:defRPr sz="1800" b="1">
                <a:solidFill>
                  <a:srgbClr val="142F2B"/>
                </a:solidFill>
                <a:latin typeface="Arial"/>
              </a:defRPr>
            </a:pPr>
            <a:r>
              <a:t>Người 2 — Tuyển dụng &amp; AI</a:t>
            </a:r>
          </a:p>
        </p:txBody>
      </p:sp>
      <p:sp>
        <p:nvSpPr>
          <p:cNvPr id="19" name="TextBox 18"/>
          <p:cNvSpPr txBox="1"/>
          <p:nvPr/>
        </p:nvSpPr>
        <p:spPr>
          <a:xfrm>
            <a:off x="1353312" y="3968496"/>
            <a:ext cx="3886200" cy="246888"/>
          </a:xfrm>
          <a:prstGeom prst="rect">
            <a:avLst/>
          </a:prstGeom>
          <a:noFill/>
        </p:spPr>
        <p:txBody>
          <a:bodyPr wrap="square" lIns="0" rIns="0" tIns="0" bIns="0">
            <a:spAutoFit/>
          </a:bodyPr>
          <a:lstStyle/>
          <a:p>
            <a:pPr>
              <a:lnSpc>
                <a:spcPct val="112000"/>
              </a:lnSpc>
              <a:spcBef>
                <a:spcPts val="0"/>
              </a:spcBef>
              <a:spcAft>
                <a:spcPts val="156"/>
              </a:spcAft>
              <a:defRPr sz="1300" b="1">
                <a:solidFill>
                  <a:srgbClr val="07824D"/>
                </a:solidFill>
                <a:latin typeface="Arial"/>
              </a:defRPr>
            </a:pPr>
            <a:r>
              <a:t>Company • Job • Application • AI</a:t>
            </a:r>
          </a:p>
        </p:txBody>
      </p:sp>
      <p:sp>
        <p:nvSpPr>
          <p:cNvPr id="20" name="TextBox 19"/>
          <p:cNvSpPr txBox="1"/>
          <p:nvPr/>
        </p:nvSpPr>
        <p:spPr>
          <a:xfrm>
            <a:off x="5532120" y="3557016"/>
            <a:ext cx="5779008" cy="694944"/>
          </a:xfrm>
          <a:prstGeom prst="rect">
            <a:avLst/>
          </a:prstGeom>
          <a:noFill/>
        </p:spPr>
        <p:txBody>
          <a:bodyPr wrap="square" lIns="0" rIns="0" tIns="0" bIns="0">
            <a:spAutoFit/>
          </a:bodyPr>
          <a:lstStyle/>
          <a:p>
            <a:pPr>
              <a:lnSpc>
                <a:spcPct val="112000"/>
              </a:lnSpc>
              <a:spcBef>
                <a:spcPts val="0"/>
              </a:spcBef>
              <a:spcAft>
                <a:spcPts val="179"/>
              </a:spcAft>
              <a:defRPr sz="1500" b="0">
                <a:solidFill>
                  <a:srgbClr val="64776F"/>
                </a:solidFill>
                <a:latin typeface="Arial"/>
              </a:defRPr>
            </a:pPr>
            <a:r>
              <a:t>Công ty, tìm việc, ứng tuyển, HR</a:t>
            </a:r>
          </a:p>
          <a:p>
            <a:pPr>
              <a:lnSpc>
                <a:spcPct val="112000"/>
              </a:lnSpc>
              <a:spcBef>
                <a:spcPts val="0"/>
              </a:spcBef>
              <a:spcAft>
                <a:spcPts val="179"/>
              </a:spcAft>
              <a:defRPr sz="1500" b="0">
                <a:solidFill>
                  <a:srgbClr val="64776F"/>
                </a:solidFill>
                <a:latin typeface="Arial"/>
              </a:defRPr>
            </a:pPr>
            <a:r>
              <a:t>Elasticsearch, pgvector, matching</a:t>
            </a:r>
          </a:p>
        </p:txBody>
      </p:sp>
      <p:sp>
        <p:nvSpPr>
          <p:cNvPr id="21" name="Rounded Rectangle 20"/>
          <p:cNvSpPr/>
          <p:nvPr/>
        </p:nvSpPr>
        <p:spPr>
          <a:xfrm>
            <a:off x="566928" y="4572000"/>
            <a:ext cx="11064240" cy="1024128"/>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95528" y="4873752"/>
            <a:ext cx="365760" cy="365760"/>
          </a:xfrm>
          <a:prstGeom prst="roundRect">
            <a:avLst>
              <a:gd name="adj" fmla="val 12000"/>
            </a:avLst>
          </a:prstGeom>
          <a:solidFill>
            <a:srgbClr val="078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5528" y="4942332"/>
            <a:ext cx="365760" cy="228600"/>
          </a:xfrm>
          <a:prstGeom prst="rect">
            <a:avLst/>
          </a:prstGeom>
          <a:noFill/>
        </p:spPr>
        <p:txBody>
          <a:bodyPr wrap="square" lIns="0" rIns="0" tIns="0" bIns="0">
            <a:spAutoFit/>
          </a:bodyPr>
          <a:lstStyle/>
          <a:p>
            <a:pPr algn="ctr">
              <a:lnSpc>
                <a:spcPct val="112000"/>
              </a:lnSpc>
              <a:spcBef>
                <a:spcPts val="0"/>
              </a:spcBef>
              <a:spcAft>
                <a:spcPts val="156"/>
              </a:spcAft>
              <a:defRPr sz="1300" b="1">
                <a:solidFill>
                  <a:srgbClr val="FFFFFF"/>
                </a:solidFill>
                <a:latin typeface="Arial"/>
              </a:defRPr>
            </a:pPr>
            <a:r>
              <a:t>03</a:t>
            </a:r>
          </a:p>
        </p:txBody>
      </p:sp>
      <p:sp>
        <p:nvSpPr>
          <p:cNvPr id="24" name="TextBox 23"/>
          <p:cNvSpPr txBox="1"/>
          <p:nvPr/>
        </p:nvSpPr>
        <p:spPr>
          <a:xfrm>
            <a:off x="1353312" y="4736592"/>
            <a:ext cx="3977639" cy="329184"/>
          </a:xfrm>
          <a:prstGeom prst="rect">
            <a:avLst/>
          </a:prstGeom>
          <a:noFill/>
        </p:spPr>
        <p:txBody>
          <a:bodyPr wrap="square" lIns="0" rIns="0" tIns="0" bIns="0">
            <a:spAutoFit/>
          </a:bodyPr>
          <a:lstStyle/>
          <a:p>
            <a:pPr>
              <a:lnSpc>
                <a:spcPct val="112000"/>
              </a:lnSpc>
              <a:spcBef>
                <a:spcPts val="0"/>
              </a:spcBef>
              <a:spcAft>
                <a:spcPts val="216"/>
              </a:spcAft>
              <a:defRPr sz="1800" b="1">
                <a:solidFill>
                  <a:srgbClr val="142F2B"/>
                </a:solidFill>
                <a:latin typeface="Arial"/>
              </a:defRPr>
            </a:pPr>
            <a:r>
              <a:t>Người 3 — Phỏng vấn &amp; giao tiếp</a:t>
            </a:r>
          </a:p>
        </p:txBody>
      </p:sp>
      <p:sp>
        <p:nvSpPr>
          <p:cNvPr id="25" name="TextBox 24"/>
          <p:cNvSpPr txBox="1"/>
          <p:nvPr/>
        </p:nvSpPr>
        <p:spPr>
          <a:xfrm>
            <a:off x="1353312" y="5193792"/>
            <a:ext cx="3886200" cy="246888"/>
          </a:xfrm>
          <a:prstGeom prst="rect">
            <a:avLst/>
          </a:prstGeom>
          <a:noFill/>
        </p:spPr>
        <p:txBody>
          <a:bodyPr wrap="square" lIns="0" rIns="0" tIns="0" bIns="0">
            <a:spAutoFit/>
          </a:bodyPr>
          <a:lstStyle/>
          <a:p>
            <a:pPr>
              <a:lnSpc>
                <a:spcPct val="112000"/>
              </a:lnSpc>
              <a:spcBef>
                <a:spcPts val="0"/>
              </a:spcBef>
              <a:spcAft>
                <a:spcPts val="156"/>
              </a:spcAft>
              <a:defRPr sz="1300" b="1">
                <a:solidFill>
                  <a:srgbClr val="07824D"/>
                </a:solidFill>
                <a:latin typeface="Arial"/>
              </a:defRPr>
            </a:pPr>
            <a:r>
              <a:t>Interview • Chat • Notification • Video</a:t>
            </a:r>
          </a:p>
        </p:txBody>
      </p:sp>
      <p:sp>
        <p:nvSpPr>
          <p:cNvPr id="26" name="TextBox 25"/>
          <p:cNvSpPr txBox="1"/>
          <p:nvPr/>
        </p:nvSpPr>
        <p:spPr>
          <a:xfrm>
            <a:off x="5532120" y="4782312"/>
            <a:ext cx="5779008" cy="694944"/>
          </a:xfrm>
          <a:prstGeom prst="rect">
            <a:avLst/>
          </a:prstGeom>
          <a:noFill/>
        </p:spPr>
        <p:txBody>
          <a:bodyPr wrap="square" lIns="0" rIns="0" tIns="0" bIns="0">
            <a:spAutoFit/>
          </a:bodyPr>
          <a:lstStyle/>
          <a:p>
            <a:pPr>
              <a:lnSpc>
                <a:spcPct val="112000"/>
              </a:lnSpc>
              <a:spcBef>
                <a:spcPts val="0"/>
              </a:spcBef>
              <a:spcAft>
                <a:spcPts val="179"/>
              </a:spcAft>
              <a:defRPr sz="1500" b="0">
                <a:solidFill>
                  <a:srgbClr val="64776F"/>
                </a:solidFill>
                <a:latin typeface="Arial"/>
              </a:defRPr>
            </a:pPr>
            <a:r>
              <a:t>Lịch hẹn, chat, thông báo, cuộc gọi</a:t>
            </a:r>
          </a:p>
          <a:p>
            <a:pPr>
              <a:lnSpc>
                <a:spcPct val="112000"/>
              </a:lnSpc>
              <a:spcBef>
                <a:spcPts val="0"/>
              </a:spcBef>
              <a:spcAft>
                <a:spcPts val="179"/>
              </a:spcAft>
              <a:defRPr sz="1500" b="0">
                <a:solidFill>
                  <a:srgbClr val="64776F"/>
                </a:solidFill>
                <a:latin typeface="Arial"/>
              </a:defRPr>
            </a:pPr>
            <a:r>
              <a:t>Kafka, gateway, Compose, LiveKit</a:t>
            </a:r>
          </a:p>
        </p:txBody>
      </p:sp>
      <p:sp>
        <p:nvSpPr>
          <p:cNvPr id="27" name="TextBox 26"/>
          <p:cNvSpPr txBox="1"/>
          <p:nvPr/>
        </p:nvSpPr>
        <p:spPr>
          <a:xfrm>
            <a:off x="731520" y="5971032"/>
            <a:ext cx="10789920" cy="256032"/>
          </a:xfrm>
          <a:prstGeom prst="rect">
            <a:avLst/>
          </a:prstGeom>
          <a:noFill/>
        </p:spPr>
        <p:txBody>
          <a:bodyPr wrap="square" lIns="0" rIns="0" tIns="0" bIns="0">
            <a:spAutoFit/>
          </a:bodyPr>
          <a:lstStyle/>
          <a:p>
            <a:pPr algn="ctr">
              <a:lnSpc>
                <a:spcPct val="112000"/>
              </a:lnSpc>
              <a:spcBef>
                <a:spcPts val="0"/>
              </a:spcBef>
              <a:spcAft>
                <a:spcPts val="179"/>
              </a:spcAft>
              <a:defRPr sz="1500" b="1">
                <a:solidFill>
                  <a:srgbClr val="07824D"/>
                </a:solidFill>
                <a:latin typeface="Arial"/>
              </a:defRPr>
            </a:pPr>
            <a:r>
              <a:t>Điểm phối hợp: JWT • API Media • kiểm duyệt Admin • Kafka event • kiểm thử xuyên service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5"/>
        </a:solidFill>
        <a:effectLst/>
      </p:bgPr>
    </p:bg>
    <p:spTree>
      <p:nvGrpSpPr>
        <p:cNvPr id="1" name=""/>
        <p:cNvGrpSpPr/>
        <p:nvPr/>
      </p:nvGrpSpPr>
      <p:grpSpPr/>
      <p:sp>
        <p:nvSpPr>
          <p:cNvPr id="2" name="TextBox 1"/>
          <p:cNvSpPr txBox="1"/>
          <p:nvPr/>
        </p:nvSpPr>
        <p:spPr>
          <a:xfrm>
            <a:off x="502920" y="256032"/>
            <a:ext cx="4572000" cy="201168"/>
          </a:xfrm>
          <a:prstGeom prst="rect">
            <a:avLst/>
          </a:prstGeom>
          <a:noFill/>
        </p:spPr>
        <p:txBody>
          <a:bodyPr wrap="square" lIns="0" rIns="0" tIns="0" bIns="0">
            <a:spAutoFit/>
          </a:bodyPr>
          <a:lstStyle/>
          <a:p>
            <a:pPr>
              <a:lnSpc>
                <a:spcPct val="112000"/>
              </a:lnSpc>
              <a:spcBef>
                <a:spcPts val="0"/>
              </a:spcBef>
              <a:spcAft>
                <a:spcPts val="108"/>
              </a:spcAft>
              <a:defRPr sz="900" b="1">
                <a:solidFill>
                  <a:srgbClr val="07824D"/>
                </a:solidFill>
                <a:latin typeface="Arial"/>
              </a:defRPr>
            </a:pPr>
            <a:r>
              <a:t>CAREERHUB  /  RECRUITMENT SYSTEM</a:t>
            </a:r>
          </a:p>
        </p:txBody>
      </p:sp>
      <p:sp>
        <p:nvSpPr>
          <p:cNvPr id="3" name="TextBox 2"/>
          <p:cNvSpPr txBox="1"/>
          <p:nvPr/>
        </p:nvSpPr>
        <p:spPr>
          <a:xfrm>
            <a:off x="8321040" y="256032"/>
            <a:ext cx="3364992" cy="201168"/>
          </a:xfrm>
          <a:prstGeom prst="rect">
            <a:avLst/>
          </a:prstGeom>
          <a:noFill/>
        </p:spPr>
        <p:txBody>
          <a:bodyPr wrap="square" lIns="0" rIns="0" tIns="0" bIns="0">
            <a:spAutoFit/>
          </a:bodyPr>
          <a:lstStyle/>
          <a:p>
            <a:pPr algn="r">
              <a:lnSpc>
                <a:spcPct val="112000"/>
              </a:lnSpc>
              <a:spcBef>
                <a:spcPts val="0"/>
              </a:spcBef>
              <a:spcAft>
                <a:spcPts val="108"/>
              </a:spcAft>
              <a:defRPr sz="900" b="0">
                <a:solidFill>
                  <a:srgbClr val="64776F"/>
                </a:solidFill>
                <a:latin typeface="Arial"/>
              </a:defRPr>
            </a:pPr>
            <a:r>
              <a:t>HẠN CHẾ &amp; RỦI RO</a:t>
            </a:r>
          </a:p>
        </p:txBody>
      </p:sp>
      <p:sp>
        <p:nvSpPr>
          <p:cNvPr id="4" name="TextBox 3"/>
          <p:cNvSpPr txBox="1"/>
          <p:nvPr/>
        </p:nvSpPr>
        <p:spPr>
          <a:xfrm>
            <a:off x="502920" y="749808"/>
            <a:ext cx="11109960" cy="621792"/>
          </a:xfrm>
          <a:prstGeom prst="rect">
            <a:avLst/>
          </a:prstGeom>
          <a:noFill/>
        </p:spPr>
        <p:txBody>
          <a:bodyPr wrap="square" lIns="0" rIns="0" tIns="0" bIns="0">
            <a:spAutoFit/>
          </a:bodyPr>
          <a:lstStyle/>
          <a:p>
            <a:pPr>
              <a:lnSpc>
                <a:spcPct val="112000"/>
              </a:lnSpc>
              <a:spcBef>
                <a:spcPts val="0"/>
              </a:spcBef>
              <a:spcAft>
                <a:spcPts val="359"/>
              </a:spcAft>
              <a:defRPr sz="3000" b="1">
                <a:solidFill>
                  <a:srgbClr val="142F2B"/>
                </a:solidFill>
                <a:latin typeface="Arial"/>
              </a:defRPr>
            </a:pPr>
            <a:r>
              <a:t>Các giới hạn cần giải quyết trước nghiệm thu rộng</a:t>
            </a:r>
          </a:p>
        </p:txBody>
      </p:sp>
      <p:sp>
        <p:nvSpPr>
          <p:cNvPr id="5" name="TextBox 4"/>
          <p:cNvSpPr txBox="1"/>
          <p:nvPr/>
        </p:nvSpPr>
        <p:spPr>
          <a:xfrm>
            <a:off x="530352" y="1444752"/>
            <a:ext cx="11018520" cy="484632"/>
          </a:xfrm>
          <a:prstGeom prst="rect">
            <a:avLst/>
          </a:prstGeom>
          <a:noFill/>
        </p:spPr>
        <p:txBody>
          <a:bodyPr wrap="square" lIns="0" rIns="0" tIns="0" bIns="0">
            <a:spAutoFit/>
          </a:bodyPr>
          <a:lstStyle/>
          <a:p>
            <a:pPr>
              <a:lnSpc>
                <a:spcPct val="112000"/>
              </a:lnSpc>
              <a:spcBef>
                <a:spcPts val="0"/>
              </a:spcBef>
              <a:spcAft>
                <a:spcPts val="168"/>
              </a:spcAft>
              <a:defRPr sz="1400" b="0">
                <a:solidFill>
                  <a:srgbClr val="64776F"/>
                </a:solidFill>
                <a:latin typeface="Arial"/>
              </a:defRPr>
            </a:pPr>
            <a:r>
              <a:t>Các luồng đã chạy local vẫn cần kiểm chứng thêm về sản phẩm, dữ liệu và vận hành.</a:t>
            </a:r>
          </a:p>
        </p:txBody>
      </p:sp>
      <p:cxnSp>
        <p:nvCxnSpPr>
          <p:cNvPr id="6" name="Connector 5"/>
          <p:cNvCxnSpPr/>
          <p:nvPr/>
        </p:nvCxnSpPr>
        <p:spPr>
          <a:xfrm>
            <a:off x="502920" y="6437376"/>
            <a:ext cx="11183112" cy="0"/>
          </a:xfrm>
          <a:prstGeom prst="line">
            <a:avLst/>
          </a:prstGeom>
          <a:ln w="8890">
            <a:solidFill>
              <a:srgbClr val="D6E2D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12064" y="6537960"/>
            <a:ext cx="10287000" cy="173736"/>
          </a:xfrm>
          <a:prstGeom prst="rect">
            <a:avLst/>
          </a:prstGeom>
          <a:noFill/>
        </p:spPr>
        <p:txBody>
          <a:bodyPr wrap="square" lIns="0" rIns="0" tIns="0" bIns="0">
            <a:spAutoFit/>
          </a:bodyPr>
          <a:lstStyle/>
          <a:p>
            <a:pPr>
              <a:lnSpc>
                <a:spcPct val="112000"/>
              </a:lnSpc>
              <a:spcBef>
                <a:spcPts val="0"/>
              </a:spcBef>
              <a:spcAft>
                <a:spcPts val="96"/>
              </a:spcAft>
              <a:defRPr sz="800" b="0">
                <a:solidFill>
                  <a:srgbClr val="64776F"/>
                </a:solidFill>
                <a:latin typeface="Arial"/>
              </a:defRPr>
            </a:pPr>
            <a:r>
              <a:t>Nguồn: docs/system-regression-2026-10-16.md · README.md · Không quy đổi sang tỷ lệ hoàn thành.</a:t>
            </a:r>
          </a:p>
        </p:txBody>
      </p:sp>
      <p:sp>
        <p:nvSpPr>
          <p:cNvPr id="8" name="TextBox 7"/>
          <p:cNvSpPr txBox="1"/>
          <p:nvPr/>
        </p:nvSpPr>
        <p:spPr>
          <a:xfrm>
            <a:off x="10881360" y="6510528"/>
            <a:ext cx="795528" cy="210312"/>
          </a:xfrm>
          <a:prstGeom prst="rect">
            <a:avLst/>
          </a:prstGeom>
          <a:noFill/>
        </p:spPr>
        <p:txBody>
          <a:bodyPr wrap="square" lIns="0" rIns="0" tIns="0" bIns="0">
            <a:spAutoFit/>
          </a:bodyPr>
          <a:lstStyle/>
          <a:p>
            <a:pPr algn="r">
              <a:lnSpc>
                <a:spcPct val="112000"/>
              </a:lnSpc>
              <a:spcBef>
                <a:spcPts val="0"/>
              </a:spcBef>
              <a:spcAft>
                <a:spcPts val="108"/>
              </a:spcAft>
              <a:defRPr sz="900" b="0">
                <a:solidFill>
                  <a:srgbClr val="64776F"/>
                </a:solidFill>
                <a:latin typeface="Arial"/>
              </a:defRPr>
            </a:pPr>
            <a:r>
              <a:t>14 / 16</a:t>
            </a:r>
          </a:p>
        </p:txBody>
      </p:sp>
      <p:sp>
        <p:nvSpPr>
          <p:cNvPr id="9" name="Rectangle 8"/>
          <p:cNvSpPr/>
          <p:nvPr/>
        </p:nvSpPr>
        <p:spPr>
          <a:xfrm>
            <a:off x="594360" y="2148840"/>
            <a:ext cx="54864" cy="722376"/>
          </a:xfrm>
          <a:prstGeom prst="rect">
            <a:avLst/>
          </a:prstGeom>
          <a:solidFill>
            <a:srgbClr val="A76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2176272"/>
            <a:ext cx="3493008" cy="685800"/>
          </a:xfrm>
          <a:prstGeom prst="rect">
            <a:avLst/>
          </a:prstGeom>
          <a:noFill/>
        </p:spPr>
        <p:txBody>
          <a:bodyPr wrap="square" lIns="0" rIns="0" tIns="0" bIns="0">
            <a:spAutoFit/>
          </a:bodyPr>
          <a:lstStyle/>
          <a:p>
            <a:pPr>
              <a:lnSpc>
                <a:spcPct val="112000"/>
              </a:lnSpc>
              <a:spcBef>
                <a:spcPts val="0"/>
              </a:spcBef>
              <a:spcAft>
                <a:spcPts val="227"/>
              </a:spcAft>
              <a:defRPr sz="1900" b="1">
                <a:solidFill>
                  <a:srgbClr val="A76516"/>
                </a:solidFill>
                <a:latin typeface="Arial"/>
              </a:defRPr>
            </a:pPr>
            <a:r>
              <a:t>Phỏng vấn online</a:t>
            </a:r>
          </a:p>
        </p:txBody>
      </p:sp>
      <p:sp>
        <p:nvSpPr>
          <p:cNvPr id="11" name="TextBox 10"/>
          <p:cNvSpPr txBox="1"/>
          <p:nvPr/>
        </p:nvSpPr>
        <p:spPr>
          <a:xfrm>
            <a:off x="4572000" y="2221992"/>
            <a:ext cx="6876288" cy="630936"/>
          </a:xfrm>
          <a:prstGeom prst="rect">
            <a:avLst/>
          </a:prstGeom>
          <a:noFill/>
        </p:spPr>
        <p:txBody>
          <a:bodyPr wrap="square" lIns="0" rIns="0" tIns="0" bIns="0">
            <a:spAutoFit/>
          </a:bodyPr>
          <a:lstStyle/>
          <a:p>
            <a:pPr>
              <a:lnSpc>
                <a:spcPct val="112000"/>
              </a:lnSpc>
              <a:spcBef>
                <a:spcPts val="0"/>
              </a:spcBef>
              <a:spcAft>
                <a:spcPts val="216"/>
              </a:spcAft>
              <a:defRPr sz="1800" b="0">
                <a:solidFill>
                  <a:srgbClr val="142F2B"/>
                </a:solidFill>
                <a:latin typeface="Arial"/>
              </a:defRPr>
            </a:pPr>
            <a:r>
              <a:t>Chưa nối lifecycle Interview ↔ Video; lịch ONLINE chưa hỗ trợ.</a:t>
            </a:r>
          </a:p>
        </p:txBody>
      </p:sp>
      <p:sp>
        <p:nvSpPr>
          <p:cNvPr id="12" name="Rectangle 11"/>
          <p:cNvSpPr/>
          <p:nvPr/>
        </p:nvSpPr>
        <p:spPr>
          <a:xfrm>
            <a:off x="594360" y="3108960"/>
            <a:ext cx="54864" cy="722376"/>
          </a:xfrm>
          <a:prstGeom prst="rect">
            <a:avLst/>
          </a:prstGeom>
          <a:solidFill>
            <a:srgbClr val="A76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3136392"/>
            <a:ext cx="3493008" cy="685800"/>
          </a:xfrm>
          <a:prstGeom prst="rect">
            <a:avLst/>
          </a:prstGeom>
          <a:noFill/>
        </p:spPr>
        <p:txBody>
          <a:bodyPr wrap="square" lIns="0" rIns="0" tIns="0" bIns="0">
            <a:spAutoFit/>
          </a:bodyPr>
          <a:lstStyle/>
          <a:p>
            <a:pPr>
              <a:lnSpc>
                <a:spcPct val="112000"/>
              </a:lnSpc>
              <a:spcBef>
                <a:spcPts val="0"/>
              </a:spcBef>
              <a:spcAft>
                <a:spcPts val="227"/>
              </a:spcAft>
              <a:defRPr sz="1900" b="1">
                <a:solidFill>
                  <a:srgbClr val="A76516"/>
                </a:solidFill>
                <a:latin typeface="Arial"/>
              </a:defRPr>
            </a:pPr>
            <a:r>
              <a:t>Chatbot &amp; luyện phỏng vấn</a:t>
            </a:r>
          </a:p>
        </p:txBody>
      </p:sp>
      <p:sp>
        <p:nvSpPr>
          <p:cNvPr id="14" name="TextBox 13"/>
          <p:cNvSpPr txBox="1"/>
          <p:nvPr/>
        </p:nvSpPr>
        <p:spPr>
          <a:xfrm>
            <a:off x="4572000" y="3182112"/>
            <a:ext cx="6876288" cy="630936"/>
          </a:xfrm>
          <a:prstGeom prst="rect">
            <a:avLst/>
          </a:prstGeom>
          <a:noFill/>
        </p:spPr>
        <p:txBody>
          <a:bodyPr wrap="square" lIns="0" rIns="0" tIns="0" bIns="0">
            <a:spAutoFit/>
          </a:bodyPr>
          <a:lstStyle/>
          <a:p>
            <a:pPr>
              <a:lnSpc>
                <a:spcPct val="112000"/>
              </a:lnSpc>
              <a:spcBef>
                <a:spcPts val="0"/>
              </a:spcBef>
              <a:spcAft>
                <a:spcPts val="216"/>
              </a:spcAft>
              <a:defRPr sz="1800" b="0">
                <a:solidFill>
                  <a:srgbClr val="142F2B"/>
                </a:solidFill>
                <a:latin typeface="Arial"/>
              </a:defRPr>
            </a:pPr>
            <a:r>
              <a:t>AI Assistant đang tắt; backend luyện phỏng vấn AI chưa triển khai.</a:t>
            </a:r>
          </a:p>
        </p:txBody>
      </p:sp>
      <p:sp>
        <p:nvSpPr>
          <p:cNvPr id="15" name="Rectangle 14"/>
          <p:cNvSpPr/>
          <p:nvPr/>
        </p:nvSpPr>
        <p:spPr>
          <a:xfrm>
            <a:off x="594360" y="4069080"/>
            <a:ext cx="54864" cy="722376"/>
          </a:xfrm>
          <a:prstGeom prst="rect">
            <a:avLst/>
          </a:prstGeom>
          <a:solidFill>
            <a:srgbClr val="A76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4096512"/>
            <a:ext cx="3493008" cy="685800"/>
          </a:xfrm>
          <a:prstGeom prst="rect">
            <a:avLst/>
          </a:prstGeom>
          <a:noFill/>
        </p:spPr>
        <p:txBody>
          <a:bodyPr wrap="square" lIns="0" rIns="0" tIns="0" bIns="0">
            <a:spAutoFit/>
          </a:bodyPr>
          <a:lstStyle/>
          <a:p>
            <a:pPr>
              <a:lnSpc>
                <a:spcPct val="112000"/>
              </a:lnSpc>
              <a:spcBef>
                <a:spcPts val="0"/>
              </a:spcBef>
              <a:spcAft>
                <a:spcPts val="227"/>
              </a:spcAft>
              <a:defRPr sz="1900" b="1">
                <a:solidFill>
                  <a:srgbClr val="A76516"/>
                </a:solidFill>
                <a:latin typeface="Arial"/>
              </a:defRPr>
            </a:pPr>
            <a:r>
              <a:t>Quản trị nội dung &amp; đối soát</a:t>
            </a:r>
          </a:p>
        </p:txBody>
      </p:sp>
      <p:sp>
        <p:nvSpPr>
          <p:cNvPr id="17" name="TextBox 16"/>
          <p:cNvSpPr txBox="1"/>
          <p:nvPr/>
        </p:nvSpPr>
        <p:spPr>
          <a:xfrm>
            <a:off x="4572000" y="4142232"/>
            <a:ext cx="6876288" cy="630936"/>
          </a:xfrm>
          <a:prstGeom prst="rect">
            <a:avLst/>
          </a:prstGeom>
          <a:noFill/>
        </p:spPr>
        <p:txBody>
          <a:bodyPr wrap="square" lIns="0" rIns="0" tIns="0" bIns="0">
            <a:spAutoFit/>
          </a:bodyPr>
          <a:lstStyle/>
          <a:p>
            <a:pPr>
              <a:lnSpc>
                <a:spcPct val="112000"/>
              </a:lnSpc>
              <a:spcBef>
                <a:spcPts val="0"/>
              </a:spcBef>
              <a:spcAft>
                <a:spcPts val="216"/>
              </a:spcAft>
              <a:defRPr sz="1800" b="0">
                <a:solidFill>
                  <a:srgbClr val="142F2B"/>
                </a:solidFill>
                <a:latin typeface="Arial"/>
              </a:defRPr>
            </a:pPr>
            <a:r>
              <a:t>Báo cáo JOB/COMPANY chưa có hợp đồng gỡ; timeout remote cần đối soát.</a:t>
            </a:r>
          </a:p>
        </p:txBody>
      </p:sp>
      <p:sp>
        <p:nvSpPr>
          <p:cNvPr id="18" name="Rectangle 17"/>
          <p:cNvSpPr/>
          <p:nvPr/>
        </p:nvSpPr>
        <p:spPr>
          <a:xfrm>
            <a:off x="594360" y="5029200"/>
            <a:ext cx="54864" cy="722376"/>
          </a:xfrm>
          <a:prstGeom prst="rect">
            <a:avLst/>
          </a:prstGeom>
          <a:solidFill>
            <a:srgbClr val="A76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 y="5056632"/>
            <a:ext cx="3493008" cy="685800"/>
          </a:xfrm>
          <a:prstGeom prst="rect">
            <a:avLst/>
          </a:prstGeom>
          <a:noFill/>
        </p:spPr>
        <p:txBody>
          <a:bodyPr wrap="square" lIns="0" rIns="0" tIns="0" bIns="0">
            <a:spAutoFit/>
          </a:bodyPr>
          <a:lstStyle/>
          <a:p>
            <a:pPr>
              <a:lnSpc>
                <a:spcPct val="112000"/>
              </a:lnSpc>
              <a:spcBef>
                <a:spcPts val="0"/>
              </a:spcBef>
              <a:spcAft>
                <a:spcPts val="227"/>
              </a:spcAft>
              <a:defRPr sz="1900" b="1">
                <a:solidFill>
                  <a:srgbClr val="A76516"/>
                </a:solidFill>
                <a:latin typeface="Arial"/>
              </a:defRPr>
            </a:pPr>
            <a:r>
              <a:t>Dữ liệu &amp; vận hành</a:t>
            </a:r>
          </a:p>
        </p:txBody>
      </p:sp>
      <p:sp>
        <p:nvSpPr>
          <p:cNvPr id="20" name="TextBox 19"/>
          <p:cNvSpPr txBox="1"/>
          <p:nvPr/>
        </p:nvSpPr>
        <p:spPr>
          <a:xfrm>
            <a:off x="4572000" y="5102352"/>
            <a:ext cx="6876288" cy="630936"/>
          </a:xfrm>
          <a:prstGeom prst="rect">
            <a:avLst/>
          </a:prstGeom>
          <a:noFill/>
        </p:spPr>
        <p:txBody>
          <a:bodyPr wrap="square" lIns="0" rIns="0" tIns="0" bIns="0">
            <a:spAutoFit/>
          </a:bodyPr>
          <a:lstStyle/>
          <a:p>
            <a:pPr>
              <a:lnSpc>
                <a:spcPct val="112000"/>
              </a:lnSpc>
              <a:spcBef>
                <a:spcPts val="0"/>
              </a:spcBef>
              <a:spcAft>
                <a:spcPts val="216"/>
              </a:spcAft>
              <a:defRPr sz="1800" b="0">
                <a:solidFill>
                  <a:srgbClr val="142F2B"/>
                </a:solidFill>
                <a:latin typeface="Arial"/>
              </a:defRPr>
            </a:pPr>
            <a:r>
              <a:t>Chưa đánh giá AI trên CV thực tế; chưa chạy tải dài hạn và tách credential DB.</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5"/>
        </a:solidFill>
        <a:effectLst/>
      </p:bgPr>
    </p:bg>
    <p:spTree>
      <p:nvGrpSpPr>
        <p:cNvPr id="1" name=""/>
        <p:cNvGrpSpPr/>
        <p:nvPr/>
      </p:nvGrpSpPr>
      <p:grpSpPr/>
      <p:sp>
        <p:nvSpPr>
          <p:cNvPr id="2" name="TextBox 1"/>
          <p:cNvSpPr txBox="1"/>
          <p:nvPr/>
        </p:nvSpPr>
        <p:spPr>
          <a:xfrm>
            <a:off x="502920" y="256032"/>
            <a:ext cx="4572000" cy="201168"/>
          </a:xfrm>
          <a:prstGeom prst="rect">
            <a:avLst/>
          </a:prstGeom>
          <a:noFill/>
        </p:spPr>
        <p:txBody>
          <a:bodyPr wrap="square" lIns="0" rIns="0" tIns="0" bIns="0">
            <a:spAutoFit/>
          </a:bodyPr>
          <a:lstStyle/>
          <a:p>
            <a:pPr>
              <a:lnSpc>
                <a:spcPct val="112000"/>
              </a:lnSpc>
              <a:spcBef>
                <a:spcPts val="0"/>
              </a:spcBef>
              <a:spcAft>
                <a:spcPts val="108"/>
              </a:spcAft>
              <a:defRPr sz="900" b="1">
                <a:solidFill>
                  <a:srgbClr val="07824D"/>
                </a:solidFill>
                <a:latin typeface="Arial"/>
              </a:defRPr>
            </a:pPr>
            <a:r>
              <a:t>CAREERHUB  /  RECRUITMENT SYSTEM</a:t>
            </a:r>
          </a:p>
        </p:txBody>
      </p:sp>
      <p:sp>
        <p:nvSpPr>
          <p:cNvPr id="3" name="TextBox 2"/>
          <p:cNvSpPr txBox="1"/>
          <p:nvPr/>
        </p:nvSpPr>
        <p:spPr>
          <a:xfrm>
            <a:off x="8321040" y="256032"/>
            <a:ext cx="3364992" cy="201168"/>
          </a:xfrm>
          <a:prstGeom prst="rect">
            <a:avLst/>
          </a:prstGeom>
          <a:noFill/>
        </p:spPr>
        <p:txBody>
          <a:bodyPr wrap="square" lIns="0" rIns="0" tIns="0" bIns="0">
            <a:spAutoFit/>
          </a:bodyPr>
          <a:lstStyle/>
          <a:p>
            <a:pPr algn="r">
              <a:lnSpc>
                <a:spcPct val="112000"/>
              </a:lnSpc>
              <a:spcBef>
                <a:spcPts val="0"/>
              </a:spcBef>
              <a:spcAft>
                <a:spcPts val="108"/>
              </a:spcAft>
              <a:defRPr sz="900" b="0">
                <a:solidFill>
                  <a:srgbClr val="64776F"/>
                </a:solidFill>
                <a:latin typeface="Arial"/>
              </a:defRPr>
            </a:pPr>
            <a:r>
              <a:t>KẾ HOẠCH ĐỀ XUẤT</a:t>
            </a:r>
          </a:p>
        </p:txBody>
      </p:sp>
      <p:sp>
        <p:nvSpPr>
          <p:cNvPr id="4" name="TextBox 3"/>
          <p:cNvSpPr txBox="1"/>
          <p:nvPr/>
        </p:nvSpPr>
        <p:spPr>
          <a:xfrm>
            <a:off x="502920" y="749808"/>
            <a:ext cx="11109960" cy="621792"/>
          </a:xfrm>
          <a:prstGeom prst="rect">
            <a:avLst/>
          </a:prstGeom>
          <a:noFill/>
        </p:spPr>
        <p:txBody>
          <a:bodyPr wrap="square" lIns="0" rIns="0" tIns="0" bIns="0">
            <a:spAutoFit/>
          </a:bodyPr>
          <a:lstStyle/>
          <a:p>
            <a:pPr>
              <a:lnSpc>
                <a:spcPct val="112000"/>
              </a:lnSpc>
              <a:spcBef>
                <a:spcPts val="0"/>
              </a:spcBef>
              <a:spcAft>
                <a:spcPts val="359"/>
              </a:spcAft>
              <a:defRPr sz="3000" b="1">
                <a:solidFill>
                  <a:srgbClr val="142F2B"/>
                </a:solidFill>
                <a:latin typeface="Arial"/>
              </a:defRPr>
            </a:pPr>
            <a:r>
              <a:t>Kế hoạch tiếp theo theo các mốc kiểm chứng</a:t>
            </a:r>
          </a:p>
        </p:txBody>
      </p:sp>
      <p:sp>
        <p:nvSpPr>
          <p:cNvPr id="5" name="TextBox 4"/>
          <p:cNvSpPr txBox="1"/>
          <p:nvPr/>
        </p:nvSpPr>
        <p:spPr>
          <a:xfrm>
            <a:off x="530352" y="1444752"/>
            <a:ext cx="11018520" cy="484632"/>
          </a:xfrm>
          <a:prstGeom prst="rect">
            <a:avLst/>
          </a:prstGeom>
          <a:noFill/>
        </p:spPr>
        <p:txBody>
          <a:bodyPr wrap="square" lIns="0" rIns="0" tIns="0" bIns="0">
            <a:spAutoFit/>
          </a:bodyPr>
          <a:lstStyle/>
          <a:p>
            <a:pPr>
              <a:lnSpc>
                <a:spcPct val="112000"/>
              </a:lnSpc>
              <a:spcBef>
                <a:spcPts val="0"/>
              </a:spcBef>
              <a:spcAft>
                <a:spcPts val="168"/>
              </a:spcAft>
              <a:defRPr sz="1400" b="0">
                <a:solidFill>
                  <a:srgbClr val="64776F"/>
                </a:solidFill>
                <a:latin typeface="Arial"/>
              </a:defRPr>
            </a:pPr>
            <a:r>
              <a:t>Đề xuất thứ tự ưu tiên; thời lượng cần được nhóm chốt theo nguồn lực thực tế.</a:t>
            </a:r>
          </a:p>
        </p:txBody>
      </p:sp>
      <p:cxnSp>
        <p:nvCxnSpPr>
          <p:cNvPr id="6" name="Connector 5"/>
          <p:cNvCxnSpPr/>
          <p:nvPr/>
        </p:nvCxnSpPr>
        <p:spPr>
          <a:xfrm>
            <a:off x="502920" y="6437376"/>
            <a:ext cx="11183112" cy="0"/>
          </a:xfrm>
          <a:prstGeom prst="line">
            <a:avLst/>
          </a:prstGeom>
          <a:ln w="8890">
            <a:solidFill>
              <a:srgbClr val="D6E2D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12064" y="6537960"/>
            <a:ext cx="10287000" cy="173736"/>
          </a:xfrm>
          <a:prstGeom prst="rect">
            <a:avLst/>
          </a:prstGeom>
          <a:noFill/>
        </p:spPr>
        <p:txBody>
          <a:bodyPr wrap="square" lIns="0" rIns="0" tIns="0" bIns="0">
            <a:spAutoFit/>
          </a:bodyPr>
          <a:lstStyle/>
          <a:p>
            <a:pPr>
              <a:lnSpc>
                <a:spcPct val="112000"/>
              </a:lnSpc>
              <a:spcBef>
                <a:spcPts val="0"/>
              </a:spcBef>
              <a:spcAft>
                <a:spcPts val="96"/>
              </a:spcAft>
              <a:defRPr sz="800" b="0">
                <a:solidFill>
                  <a:srgbClr val="64776F"/>
                </a:solidFill>
                <a:latin typeface="Arial"/>
              </a:defRPr>
            </a:pPr>
            <a:r>
              <a:t>Đề xuất từ các giới hạn đã ghi nhận · Không phải lịch cam kết hoặc trạng thái công việc đã hoàn thành.</a:t>
            </a:r>
          </a:p>
        </p:txBody>
      </p:sp>
      <p:sp>
        <p:nvSpPr>
          <p:cNvPr id="8" name="TextBox 7"/>
          <p:cNvSpPr txBox="1"/>
          <p:nvPr/>
        </p:nvSpPr>
        <p:spPr>
          <a:xfrm>
            <a:off x="10881360" y="6510528"/>
            <a:ext cx="795528" cy="210312"/>
          </a:xfrm>
          <a:prstGeom prst="rect">
            <a:avLst/>
          </a:prstGeom>
          <a:noFill/>
        </p:spPr>
        <p:txBody>
          <a:bodyPr wrap="square" lIns="0" rIns="0" tIns="0" bIns="0">
            <a:spAutoFit/>
          </a:bodyPr>
          <a:lstStyle/>
          <a:p>
            <a:pPr algn="r">
              <a:lnSpc>
                <a:spcPct val="112000"/>
              </a:lnSpc>
              <a:spcBef>
                <a:spcPts val="0"/>
              </a:spcBef>
              <a:spcAft>
                <a:spcPts val="108"/>
              </a:spcAft>
              <a:defRPr sz="900" b="0">
                <a:solidFill>
                  <a:srgbClr val="64776F"/>
                </a:solidFill>
                <a:latin typeface="Arial"/>
              </a:defRPr>
            </a:pPr>
            <a:r>
              <a:t>15 / 16</a:t>
            </a:r>
          </a:p>
        </p:txBody>
      </p:sp>
      <p:sp>
        <p:nvSpPr>
          <p:cNvPr id="9" name="TextBox 8"/>
          <p:cNvSpPr txBox="1"/>
          <p:nvPr/>
        </p:nvSpPr>
        <p:spPr>
          <a:xfrm>
            <a:off x="640080" y="2185416"/>
            <a:ext cx="2468880" cy="237744"/>
          </a:xfrm>
          <a:prstGeom prst="rect">
            <a:avLst/>
          </a:prstGeom>
          <a:noFill/>
        </p:spPr>
        <p:txBody>
          <a:bodyPr wrap="square" lIns="0" rIns="0" tIns="0" bIns="0">
            <a:spAutoFit/>
          </a:bodyPr>
          <a:lstStyle/>
          <a:p>
            <a:pPr>
              <a:lnSpc>
                <a:spcPct val="112000"/>
              </a:lnSpc>
              <a:spcBef>
                <a:spcPts val="0"/>
              </a:spcBef>
              <a:spcAft>
                <a:spcPts val="131"/>
              </a:spcAft>
              <a:defRPr sz="1100" b="1">
                <a:solidFill>
                  <a:srgbClr val="07824D"/>
                </a:solidFill>
                <a:latin typeface="Arial"/>
              </a:defRPr>
            </a:pPr>
            <a:r>
              <a:t>MỐC 1</a:t>
            </a:r>
          </a:p>
        </p:txBody>
      </p:sp>
      <p:cxnSp>
        <p:nvCxnSpPr>
          <p:cNvPr id="10" name="Connector 9"/>
          <p:cNvCxnSpPr/>
          <p:nvPr/>
        </p:nvCxnSpPr>
        <p:spPr>
          <a:xfrm>
            <a:off x="658368" y="2706624"/>
            <a:ext cx="2386584" cy="0"/>
          </a:xfrm>
          <a:prstGeom prst="line">
            <a:avLst/>
          </a:prstGeom>
          <a:ln w="25400">
            <a:solidFill>
              <a:srgbClr val="07824D"/>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48640" y="2990088"/>
            <a:ext cx="2606040" cy="2843784"/>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200400"/>
            <a:ext cx="2240280" cy="768096"/>
          </a:xfrm>
          <a:prstGeom prst="rect">
            <a:avLst/>
          </a:prstGeom>
          <a:noFill/>
        </p:spPr>
        <p:txBody>
          <a:bodyPr wrap="square" lIns="0" rIns="0" tIns="0" bIns="0">
            <a:spAutoFit/>
          </a:bodyPr>
          <a:lstStyle/>
          <a:p>
            <a:pPr>
              <a:lnSpc>
                <a:spcPct val="112000"/>
              </a:lnSpc>
              <a:spcBef>
                <a:spcPts val="0"/>
              </a:spcBef>
              <a:spcAft>
                <a:spcPts val="252"/>
              </a:spcAft>
              <a:defRPr sz="2100" b="1">
                <a:solidFill>
                  <a:srgbClr val="142F2B"/>
                </a:solidFill>
                <a:latin typeface="Arial"/>
              </a:defRPr>
            </a:pPr>
            <a:r>
              <a:t>Ổn định bản demo</a:t>
            </a:r>
          </a:p>
        </p:txBody>
      </p:sp>
      <p:sp>
        <p:nvSpPr>
          <p:cNvPr id="13" name="TextBox 12"/>
          <p:cNvSpPr txBox="1"/>
          <p:nvPr/>
        </p:nvSpPr>
        <p:spPr>
          <a:xfrm>
            <a:off x="731520" y="4197096"/>
            <a:ext cx="2240280" cy="950976"/>
          </a:xfrm>
          <a:prstGeom prst="rect">
            <a:avLst/>
          </a:prstGeom>
          <a:noFill/>
        </p:spPr>
        <p:txBody>
          <a:bodyPr wrap="square" lIns="0" rIns="0" tIns="0" bIns="0">
            <a:spAutoFit/>
          </a:bodyPr>
          <a:lstStyle/>
          <a:p>
            <a:pPr>
              <a:lnSpc>
                <a:spcPct val="112000"/>
              </a:lnSpc>
              <a:spcBef>
                <a:spcPts val="0"/>
              </a:spcBef>
              <a:spcAft>
                <a:spcPts val="179"/>
              </a:spcAft>
              <a:defRPr sz="1500" b="0">
                <a:solidFill>
                  <a:srgbClr val="64776F"/>
                </a:solidFill>
                <a:latin typeface="Arial"/>
              </a:defRPr>
            </a:pPr>
            <a:r>
              <a:t>Chạy lại 3 hành trình</a:t>
            </a:r>
          </a:p>
          <a:p>
            <a:pPr>
              <a:lnSpc>
                <a:spcPct val="112000"/>
              </a:lnSpc>
              <a:spcBef>
                <a:spcPts val="0"/>
              </a:spcBef>
              <a:spcAft>
                <a:spcPts val="179"/>
              </a:spcAft>
              <a:defRPr sz="1500" b="0">
                <a:solidFill>
                  <a:srgbClr val="64776F"/>
                </a:solidFill>
                <a:latin typeface="Arial"/>
              </a:defRPr>
            </a:pPr>
            <a:r>
              <a:t>Chốt fixture và lỗi chặn</a:t>
            </a:r>
          </a:p>
        </p:txBody>
      </p:sp>
      <p:sp>
        <p:nvSpPr>
          <p:cNvPr id="14" name="TextBox 13"/>
          <p:cNvSpPr txBox="1"/>
          <p:nvPr/>
        </p:nvSpPr>
        <p:spPr>
          <a:xfrm>
            <a:off x="731520" y="5266944"/>
            <a:ext cx="2240280" cy="502920"/>
          </a:xfrm>
          <a:prstGeom prst="rect">
            <a:avLst/>
          </a:prstGeom>
          <a:noFill/>
        </p:spPr>
        <p:txBody>
          <a:bodyPr wrap="square" lIns="0" rIns="0" tIns="0" bIns="0">
            <a:spAutoFit/>
          </a:bodyPr>
          <a:lstStyle/>
          <a:p>
            <a:pPr>
              <a:lnSpc>
                <a:spcPct val="112000"/>
              </a:lnSpc>
              <a:spcBef>
                <a:spcPts val="0"/>
              </a:spcBef>
              <a:spcAft>
                <a:spcPts val="131"/>
              </a:spcAft>
              <a:defRPr sz="1100" b="1">
                <a:solidFill>
                  <a:srgbClr val="07824D"/>
                </a:solidFill>
                <a:latin typeface="Arial"/>
              </a:defRPr>
            </a:pPr>
            <a:r>
              <a:t>Tiêu chí: demo xuyên service lặp lại được</a:t>
            </a:r>
          </a:p>
        </p:txBody>
      </p:sp>
      <p:sp>
        <p:nvSpPr>
          <p:cNvPr id="15" name="TextBox 14"/>
          <p:cNvSpPr txBox="1"/>
          <p:nvPr/>
        </p:nvSpPr>
        <p:spPr>
          <a:xfrm>
            <a:off x="3474720" y="2185416"/>
            <a:ext cx="2468880" cy="237744"/>
          </a:xfrm>
          <a:prstGeom prst="rect">
            <a:avLst/>
          </a:prstGeom>
          <a:noFill/>
        </p:spPr>
        <p:txBody>
          <a:bodyPr wrap="square" lIns="0" rIns="0" tIns="0" bIns="0">
            <a:spAutoFit/>
          </a:bodyPr>
          <a:lstStyle/>
          <a:p>
            <a:pPr>
              <a:lnSpc>
                <a:spcPct val="112000"/>
              </a:lnSpc>
              <a:spcBef>
                <a:spcPts val="0"/>
              </a:spcBef>
              <a:spcAft>
                <a:spcPts val="131"/>
              </a:spcAft>
              <a:defRPr sz="1100" b="1">
                <a:solidFill>
                  <a:srgbClr val="07824D"/>
                </a:solidFill>
                <a:latin typeface="Arial"/>
              </a:defRPr>
            </a:pPr>
            <a:r>
              <a:t>MỐC 2</a:t>
            </a:r>
          </a:p>
        </p:txBody>
      </p:sp>
      <p:cxnSp>
        <p:nvCxnSpPr>
          <p:cNvPr id="16" name="Connector 15"/>
          <p:cNvCxnSpPr/>
          <p:nvPr/>
        </p:nvCxnSpPr>
        <p:spPr>
          <a:xfrm>
            <a:off x="3493008" y="2706624"/>
            <a:ext cx="2386584" cy="0"/>
          </a:xfrm>
          <a:prstGeom prst="line">
            <a:avLst/>
          </a:prstGeom>
          <a:ln w="25400">
            <a:solidFill>
              <a:srgbClr val="07824D"/>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383280" y="2990088"/>
            <a:ext cx="2606040" cy="2843784"/>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0" y="3200400"/>
            <a:ext cx="2240280" cy="768096"/>
          </a:xfrm>
          <a:prstGeom prst="rect">
            <a:avLst/>
          </a:prstGeom>
          <a:noFill/>
        </p:spPr>
        <p:txBody>
          <a:bodyPr wrap="square" lIns="0" rIns="0" tIns="0" bIns="0">
            <a:spAutoFit/>
          </a:bodyPr>
          <a:lstStyle/>
          <a:p>
            <a:pPr>
              <a:lnSpc>
                <a:spcPct val="112000"/>
              </a:lnSpc>
              <a:spcBef>
                <a:spcPts val="0"/>
              </a:spcBef>
              <a:spcAft>
                <a:spcPts val="252"/>
              </a:spcAft>
              <a:defRPr sz="2100" b="1">
                <a:solidFill>
                  <a:srgbClr val="142F2B"/>
                </a:solidFill>
                <a:latin typeface="Arial"/>
              </a:defRPr>
            </a:pPr>
            <a:r>
              <a:t>Khép luồng còn thiếu</a:t>
            </a:r>
          </a:p>
        </p:txBody>
      </p:sp>
      <p:sp>
        <p:nvSpPr>
          <p:cNvPr id="19" name="TextBox 18"/>
          <p:cNvSpPr txBox="1"/>
          <p:nvPr/>
        </p:nvSpPr>
        <p:spPr>
          <a:xfrm>
            <a:off x="3566160" y="4197096"/>
            <a:ext cx="2240280" cy="950976"/>
          </a:xfrm>
          <a:prstGeom prst="rect">
            <a:avLst/>
          </a:prstGeom>
          <a:noFill/>
        </p:spPr>
        <p:txBody>
          <a:bodyPr wrap="square" lIns="0" rIns="0" tIns="0" bIns="0">
            <a:spAutoFit/>
          </a:bodyPr>
          <a:lstStyle/>
          <a:p>
            <a:pPr>
              <a:lnSpc>
                <a:spcPct val="112000"/>
              </a:lnSpc>
              <a:spcBef>
                <a:spcPts val="0"/>
              </a:spcBef>
              <a:spcAft>
                <a:spcPts val="179"/>
              </a:spcAft>
              <a:defRPr sz="1500" b="0">
                <a:solidFill>
                  <a:srgbClr val="64776F"/>
                </a:solidFill>
                <a:latin typeface="Arial"/>
              </a:defRPr>
            </a:pPr>
            <a:r>
              <a:t>Nối Interview–Video</a:t>
            </a:r>
          </a:p>
          <a:p>
            <a:pPr>
              <a:lnSpc>
                <a:spcPct val="112000"/>
              </a:lnSpc>
              <a:spcBef>
                <a:spcPts val="0"/>
              </a:spcBef>
              <a:spcAft>
                <a:spcPts val="179"/>
              </a:spcAft>
              <a:defRPr sz="1500" b="0">
                <a:solidFill>
                  <a:srgbClr val="64776F"/>
                </a:solidFill>
                <a:latin typeface="Arial"/>
              </a:defRPr>
            </a:pPr>
            <a:r>
              <a:t>Chốt xử lý báo cáo</a:t>
            </a:r>
          </a:p>
        </p:txBody>
      </p:sp>
      <p:sp>
        <p:nvSpPr>
          <p:cNvPr id="20" name="TextBox 19"/>
          <p:cNvSpPr txBox="1"/>
          <p:nvPr/>
        </p:nvSpPr>
        <p:spPr>
          <a:xfrm>
            <a:off x="3566160" y="5266944"/>
            <a:ext cx="2240280" cy="502920"/>
          </a:xfrm>
          <a:prstGeom prst="rect">
            <a:avLst/>
          </a:prstGeom>
          <a:noFill/>
        </p:spPr>
        <p:txBody>
          <a:bodyPr wrap="square" lIns="0" rIns="0" tIns="0" bIns="0">
            <a:spAutoFit/>
          </a:bodyPr>
          <a:lstStyle/>
          <a:p>
            <a:pPr>
              <a:lnSpc>
                <a:spcPct val="112000"/>
              </a:lnSpc>
              <a:spcBef>
                <a:spcPts val="0"/>
              </a:spcBef>
              <a:spcAft>
                <a:spcPts val="131"/>
              </a:spcAft>
              <a:defRPr sz="1100" b="1">
                <a:solidFill>
                  <a:srgbClr val="07824D"/>
                </a:solidFill>
                <a:latin typeface="Arial"/>
              </a:defRPr>
            </a:pPr>
            <a:r>
              <a:t>Tiêu chí: test quyền và tình huống lỗi đạt</a:t>
            </a:r>
          </a:p>
        </p:txBody>
      </p:sp>
      <p:sp>
        <p:nvSpPr>
          <p:cNvPr id="21" name="TextBox 20"/>
          <p:cNvSpPr txBox="1"/>
          <p:nvPr/>
        </p:nvSpPr>
        <p:spPr>
          <a:xfrm>
            <a:off x="6309359" y="2185416"/>
            <a:ext cx="2468880" cy="237744"/>
          </a:xfrm>
          <a:prstGeom prst="rect">
            <a:avLst/>
          </a:prstGeom>
          <a:noFill/>
        </p:spPr>
        <p:txBody>
          <a:bodyPr wrap="square" lIns="0" rIns="0" tIns="0" bIns="0">
            <a:spAutoFit/>
          </a:bodyPr>
          <a:lstStyle/>
          <a:p>
            <a:pPr>
              <a:lnSpc>
                <a:spcPct val="112000"/>
              </a:lnSpc>
              <a:spcBef>
                <a:spcPts val="0"/>
              </a:spcBef>
              <a:spcAft>
                <a:spcPts val="131"/>
              </a:spcAft>
              <a:defRPr sz="1100" b="1">
                <a:solidFill>
                  <a:srgbClr val="07824D"/>
                </a:solidFill>
                <a:latin typeface="Arial"/>
              </a:defRPr>
            </a:pPr>
            <a:r>
              <a:t>MỐC 3</a:t>
            </a:r>
          </a:p>
        </p:txBody>
      </p:sp>
      <p:cxnSp>
        <p:nvCxnSpPr>
          <p:cNvPr id="22" name="Connector 21"/>
          <p:cNvCxnSpPr/>
          <p:nvPr/>
        </p:nvCxnSpPr>
        <p:spPr>
          <a:xfrm>
            <a:off x="6327648" y="2706624"/>
            <a:ext cx="2386584" cy="0"/>
          </a:xfrm>
          <a:prstGeom prst="line">
            <a:avLst/>
          </a:prstGeom>
          <a:ln w="25400">
            <a:solidFill>
              <a:srgbClr val="07824D"/>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217920" y="2990088"/>
            <a:ext cx="2606040" cy="2843784"/>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3200400"/>
            <a:ext cx="2240280" cy="768096"/>
          </a:xfrm>
          <a:prstGeom prst="rect">
            <a:avLst/>
          </a:prstGeom>
          <a:noFill/>
        </p:spPr>
        <p:txBody>
          <a:bodyPr wrap="square" lIns="0" rIns="0" tIns="0" bIns="0">
            <a:spAutoFit/>
          </a:bodyPr>
          <a:lstStyle/>
          <a:p>
            <a:pPr>
              <a:lnSpc>
                <a:spcPct val="112000"/>
              </a:lnSpc>
              <a:spcBef>
                <a:spcPts val="0"/>
              </a:spcBef>
              <a:spcAft>
                <a:spcPts val="252"/>
              </a:spcAft>
              <a:defRPr sz="2100" b="1">
                <a:solidFill>
                  <a:srgbClr val="142F2B"/>
                </a:solidFill>
                <a:latin typeface="Arial"/>
              </a:defRPr>
            </a:pPr>
            <a:r>
              <a:t>Đánh giá dữ liệu &amp; tải</a:t>
            </a:r>
          </a:p>
        </p:txBody>
      </p:sp>
      <p:sp>
        <p:nvSpPr>
          <p:cNvPr id="25" name="TextBox 24"/>
          <p:cNvSpPr txBox="1"/>
          <p:nvPr/>
        </p:nvSpPr>
        <p:spPr>
          <a:xfrm>
            <a:off x="6400800" y="4197096"/>
            <a:ext cx="2240280" cy="950976"/>
          </a:xfrm>
          <a:prstGeom prst="rect">
            <a:avLst/>
          </a:prstGeom>
          <a:noFill/>
        </p:spPr>
        <p:txBody>
          <a:bodyPr wrap="square" lIns="0" rIns="0" tIns="0" bIns="0">
            <a:spAutoFit/>
          </a:bodyPr>
          <a:lstStyle/>
          <a:p>
            <a:pPr>
              <a:lnSpc>
                <a:spcPct val="112000"/>
              </a:lnSpc>
              <a:spcBef>
                <a:spcPts val="0"/>
              </a:spcBef>
              <a:spcAft>
                <a:spcPts val="179"/>
              </a:spcAft>
              <a:defRPr sz="1500" b="0">
                <a:solidFill>
                  <a:srgbClr val="64776F"/>
                </a:solidFill>
                <a:latin typeface="Arial"/>
              </a:defRPr>
            </a:pPr>
            <a:r>
              <a:t>Bộ CV có quyền sử dụng</a:t>
            </a:r>
          </a:p>
          <a:p>
            <a:pPr>
              <a:lnSpc>
                <a:spcPct val="112000"/>
              </a:lnSpc>
              <a:spcBef>
                <a:spcPts val="0"/>
              </a:spcBef>
              <a:spcAft>
                <a:spcPts val="179"/>
              </a:spcAft>
              <a:defRPr sz="1500" b="0">
                <a:solidFill>
                  <a:srgbClr val="64776F"/>
                </a:solidFill>
                <a:latin typeface="Arial"/>
              </a:defRPr>
            </a:pPr>
            <a:r>
              <a:t>Đo ranking, tải và độ trễ</a:t>
            </a:r>
          </a:p>
        </p:txBody>
      </p:sp>
      <p:sp>
        <p:nvSpPr>
          <p:cNvPr id="26" name="TextBox 25"/>
          <p:cNvSpPr txBox="1"/>
          <p:nvPr/>
        </p:nvSpPr>
        <p:spPr>
          <a:xfrm>
            <a:off x="6400800" y="5266944"/>
            <a:ext cx="2240280" cy="502920"/>
          </a:xfrm>
          <a:prstGeom prst="rect">
            <a:avLst/>
          </a:prstGeom>
          <a:noFill/>
        </p:spPr>
        <p:txBody>
          <a:bodyPr wrap="square" lIns="0" rIns="0" tIns="0" bIns="0">
            <a:spAutoFit/>
          </a:bodyPr>
          <a:lstStyle/>
          <a:p>
            <a:pPr>
              <a:lnSpc>
                <a:spcPct val="112000"/>
              </a:lnSpc>
              <a:spcBef>
                <a:spcPts val="0"/>
              </a:spcBef>
              <a:spcAft>
                <a:spcPts val="131"/>
              </a:spcAft>
              <a:defRPr sz="1100" b="1">
                <a:solidFill>
                  <a:srgbClr val="07824D"/>
                </a:solidFill>
                <a:latin typeface="Arial"/>
              </a:defRPr>
            </a:pPr>
            <a:r>
              <a:t>Tiêu chí: kết quả đo có thể tái lập</a:t>
            </a:r>
          </a:p>
        </p:txBody>
      </p:sp>
      <p:sp>
        <p:nvSpPr>
          <p:cNvPr id="27" name="TextBox 26"/>
          <p:cNvSpPr txBox="1"/>
          <p:nvPr/>
        </p:nvSpPr>
        <p:spPr>
          <a:xfrm>
            <a:off x="9144000" y="2185416"/>
            <a:ext cx="2468880" cy="237744"/>
          </a:xfrm>
          <a:prstGeom prst="rect">
            <a:avLst/>
          </a:prstGeom>
          <a:noFill/>
        </p:spPr>
        <p:txBody>
          <a:bodyPr wrap="square" lIns="0" rIns="0" tIns="0" bIns="0">
            <a:spAutoFit/>
          </a:bodyPr>
          <a:lstStyle/>
          <a:p>
            <a:pPr>
              <a:lnSpc>
                <a:spcPct val="112000"/>
              </a:lnSpc>
              <a:spcBef>
                <a:spcPts val="0"/>
              </a:spcBef>
              <a:spcAft>
                <a:spcPts val="131"/>
              </a:spcAft>
              <a:defRPr sz="1100" b="1">
                <a:solidFill>
                  <a:srgbClr val="07824D"/>
                </a:solidFill>
                <a:latin typeface="Arial"/>
              </a:defRPr>
            </a:pPr>
            <a:r>
              <a:t>MỐC 4</a:t>
            </a:r>
          </a:p>
        </p:txBody>
      </p:sp>
      <p:cxnSp>
        <p:nvCxnSpPr>
          <p:cNvPr id="28" name="Connector 27"/>
          <p:cNvCxnSpPr/>
          <p:nvPr/>
        </p:nvCxnSpPr>
        <p:spPr>
          <a:xfrm>
            <a:off x="9162288" y="2706624"/>
            <a:ext cx="2386584" cy="0"/>
          </a:xfrm>
          <a:prstGeom prst="line">
            <a:avLst/>
          </a:prstGeom>
          <a:ln w="25400">
            <a:solidFill>
              <a:srgbClr val="07824D"/>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9052560" y="2990088"/>
            <a:ext cx="2606040" cy="2843784"/>
          </a:xfrm>
          <a:prstGeom prst="roundRect">
            <a:avLst>
              <a:gd name="adj" fmla="val 12000"/>
            </a:avLst>
          </a:prstGeom>
          <a:solidFill>
            <a:srgbClr val="FFFFFF"/>
          </a:solidFill>
          <a:ln w="10160">
            <a:solidFill>
              <a:srgbClr val="D6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35440" y="3200400"/>
            <a:ext cx="2240280" cy="768096"/>
          </a:xfrm>
          <a:prstGeom prst="rect">
            <a:avLst/>
          </a:prstGeom>
          <a:noFill/>
        </p:spPr>
        <p:txBody>
          <a:bodyPr wrap="square" lIns="0" rIns="0" tIns="0" bIns="0">
            <a:spAutoFit/>
          </a:bodyPr>
          <a:lstStyle/>
          <a:p>
            <a:pPr>
              <a:lnSpc>
                <a:spcPct val="112000"/>
              </a:lnSpc>
              <a:spcBef>
                <a:spcPts val="0"/>
              </a:spcBef>
              <a:spcAft>
                <a:spcPts val="252"/>
              </a:spcAft>
              <a:defRPr sz="2100" b="1">
                <a:solidFill>
                  <a:srgbClr val="142F2B"/>
                </a:solidFill>
                <a:latin typeface="Arial"/>
              </a:defRPr>
            </a:pPr>
            <a:r>
              <a:t>Chuẩn bị nghiệm thu</a:t>
            </a:r>
          </a:p>
        </p:txBody>
      </p:sp>
      <p:sp>
        <p:nvSpPr>
          <p:cNvPr id="31" name="TextBox 30"/>
          <p:cNvSpPr txBox="1"/>
          <p:nvPr/>
        </p:nvSpPr>
        <p:spPr>
          <a:xfrm>
            <a:off x="9235440" y="4197096"/>
            <a:ext cx="2240280" cy="950976"/>
          </a:xfrm>
          <a:prstGeom prst="rect">
            <a:avLst/>
          </a:prstGeom>
          <a:noFill/>
        </p:spPr>
        <p:txBody>
          <a:bodyPr wrap="square" lIns="0" rIns="0" tIns="0" bIns="0">
            <a:spAutoFit/>
          </a:bodyPr>
          <a:lstStyle/>
          <a:p>
            <a:pPr>
              <a:lnSpc>
                <a:spcPct val="112000"/>
              </a:lnSpc>
              <a:spcBef>
                <a:spcPts val="0"/>
              </a:spcBef>
              <a:spcAft>
                <a:spcPts val="179"/>
              </a:spcAft>
              <a:defRPr sz="1500" b="0">
                <a:solidFill>
                  <a:srgbClr val="64776F"/>
                </a:solidFill>
                <a:latin typeface="Arial"/>
              </a:defRPr>
            </a:pPr>
            <a:r>
              <a:t>Tách quyền DB, giám sát</a:t>
            </a:r>
          </a:p>
          <a:p>
            <a:pPr>
              <a:lnSpc>
                <a:spcPct val="112000"/>
              </a:lnSpc>
              <a:spcBef>
                <a:spcPts val="0"/>
              </a:spcBef>
              <a:spcAft>
                <a:spcPts val="179"/>
              </a:spcAft>
              <a:defRPr sz="1500" b="0">
                <a:solidFill>
                  <a:srgbClr val="64776F"/>
                </a:solidFill>
                <a:latin typeface="Arial"/>
              </a:defRPr>
            </a:pPr>
            <a:r>
              <a:t>Sao lưu và bàn giao</a:t>
            </a:r>
          </a:p>
        </p:txBody>
      </p:sp>
      <p:sp>
        <p:nvSpPr>
          <p:cNvPr id="32" name="TextBox 31"/>
          <p:cNvSpPr txBox="1"/>
          <p:nvPr/>
        </p:nvSpPr>
        <p:spPr>
          <a:xfrm>
            <a:off x="9235440" y="5266944"/>
            <a:ext cx="2240280" cy="502920"/>
          </a:xfrm>
          <a:prstGeom prst="rect">
            <a:avLst/>
          </a:prstGeom>
          <a:noFill/>
        </p:spPr>
        <p:txBody>
          <a:bodyPr wrap="square" lIns="0" rIns="0" tIns="0" bIns="0">
            <a:spAutoFit/>
          </a:bodyPr>
          <a:lstStyle/>
          <a:p>
            <a:pPr>
              <a:lnSpc>
                <a:spcPct val="112000"/>
              </a:lnSpc>
              <a:spcBef>
                <a:spcPts val="0"/>
              </a:spcBef>
              <a:spcAft>
                <a:spcPts val="131"/>
              </a:spcAft>
              <a:defRPr sz="1100" b="1">
                <a:solidFill>
                  <a:srgbClr val="07824D"/>
                </a:solidFill>
                <a:latin typeface="Arial"/>
              </a:defRPr>
            </a:pPr>
            <a:r>
              <a:t>Tiêu chí: duyệt checklist vận hành</a:t>
            </a:r>
          </a:p>
        </p:txBody>
      </p:sp>
      <p:sp>
        <p:nvSpPr>
          <p:cNvPr id="33" name="TextBox 32"/>
          <p:cNvSpPr txBox="1"/>
          <p:nvPr/>
        </p:nvSpPr>
        <p:spPr>
          <a:xfrm>
            <a:off x="658368" y="6007608"/>
            <a:ext cx="10863072" cy="274320"/>
          </a:xfrm>
          <a:prstGeom prst="rect">
            <a:avLst/>
          </a:prstGeom>
          <a:noFill/>
        </p:spPr>
        <p:txBody>
          <a:bodyPr wrap="square" lIns="0" rIns="0" tIns="0" bIns="0">
            <a:spAutoFit/>
          </a:bodyPr>
          <a:lstStyle/>
          <a:p>
            <a:pPr algn="ctr">
              <a:lnSpc>
                <a:spcPct val="112000"/>
              </a:lnSpc>
              <a:spcBef>
                <a:spcPts val="0"/>
              </a:spcBef>
              <a:spcAft>
                <a:spcPts val="156"/>
              </a:spcAft>
              <a:defRPr sz="1300" b="0">
                <a:solidFill>
                  <a:srgbClr val="64776F"/>
                </a:solidFill>
                <a:latin typeface="Arial"/>
              </a:defRPr>
            </a:pPr>
            <a:r>
              <a:t>Chatbot chỉ đưa vào nghiệm thu khi nhóm xác nhận nhu cầu, cấu hình provider và tiêu chí chất lượng.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2723"/>
        </a:solidFill>
        <a:effectLst/>
      </p:bgPr>
    </p:bg>
    <p:spTree>
      <p:nvGrpSpPr>
        <p:cNvPr id="1" name=""/>
        <p:cNvGrpSpPr/>
        <p:nvPr/>
      </p:nvGrpSpPr>
      <p:grpSpPr/>
      <p:sp>
        <p:nvSpPr>
          <p:cNvPr id="2" name="TextBox 1"/>
          <p:cNvSpPr txBox="1"/>
          <p:nvPr/>
        </p:nvSpPr>
        <p:spPr>
          <a:xfrm>
            <a:off x="502920" y="256032"/>
            <a:ext cx="4572000" cy="201168"/>
          </a:xfrm>
          <a:prstGeom prst="rect">
            <a:avLst/>
          </a:prstGeom>
          <a:noFill/>
        </p:spPr>
        <p:txBody>
          <a:bodyPr wrap="square" lIns="0" rIns="0" tIns="0" bIns="0">
            <a:spAutoFit/>
          </a:bodyPr>
          <a:lstStyle/>
          <a:p>
            <a:pPr>
              <a:lnSpc>
                <a:spcPct val="112000"/>
              </a:lnSpc>
              <a:spcBef>
                <a:spcPts val="0"/>
              </a:spcBef>
              <a:spcAft>
                <a:spcPts val="108"/>
              </a:spcAft>
              <a:defRPr sz="900" b="1">
                <a:solidFill>
                  <a:srgbClr val="A6C7B8"/>
                </a:solidFill>
                <a:latin typeface="Arial"/>
              </a:defRPr>
            </a:pPr>
            <a:r>
              <a:t>CAREERHUB  /  RECRUITMENT SYSTEM</a:t>
            </a:r>
          </a:p>
        </p:txBody>
      </p:sp>
      <p:sp>
        <p:nvSpPr>
          <p:cNvPr id="3" name="TextBox 2"/>
          <p:cNvSpPr txBox="1"/>
          <p:nvPr/>
        </p:nvSpPr>
        <p:spPr>
          <a:xfrm>
            <a:off x="8321040" y="256032"/>
            <a:ext cx="3364992" cy="201168"/>
          </a:xfrm>
          <a:prstGeom prst="rect">
            <a:avLst/>
          </a:prstGeom>
          <a:noFill/>
        </p:spPr>
        <p:txBody>
          <a:bodyPr wrap="square" lIns="0" rIns="0" tIns="0" bIns="0">
            <a:spAutoFit/>
          </a:bodyPr>
          <a:lstStyle/>
          <a:p>
            <a:pPr algn="r">
              <a:lnSpc>
                <a:spcPct val="112000"/>
              </a:lnSpc>
              <a:spcBef>
                <a:spcPts val="0"/>
              </a:spcBef>
              <a:spcAft>
                <a:spcPts val="108"/>
              </a:spcAft>
              <a:defRPr sz="900" b="0">
                <a:solidFill>
                  <a:srgbClr val="A6C7B8"/>
                </a:solidFill>
                <a:latin typeface="Arial"/>
              </a:defRPr>
            </a:pPr>
            <a:r>
              <a:t>KẾT LUẬN &amp; TRAO ĐỔI</a:t>
            </a:r>
          </a:p>
        </p:txBody>
      </p:sp>
      <p:sp>
        <p:nvSpPr>
          <p:cNvPr id="4" name="TextBox 3"/>
          <p:cNvSpPr txBox="1"/>
          <p:nvPr/>
        </p:nvSpPr>
        <p:spPr>
          <a:xfrm>
            <a:off x="502920" y="749808"/>
            <a:ext cx="11109960" cy="621792"/>
          </a:xfrm>
          <a:prstGeom prst="rect">
            <a:avLst/>
          </a:prstGeom>
          <a:noFill/>
        </p:spPr>
        <p:txBody>
          <a:bodyPr wrap="square" lIns="0" rIns="0" tIns="0" bIns="0">
            <a:spAutoFit/>
          </a:bodyPr>
          <a:lstStyle/>
          <a:p>
            <a:pPr>
              <a:lnSpc>
                <a:spcPct val="112000"/>
              </a:lnSpc>
              <a:spcBef>
                <a:spcPts val="0"/>
              </a:spcBef>
              <a:spcAft>
                <a:spcPts val="359"/>
              </a:spcAft>
              <a:defRPr sz="3000" b="1">
                <a:solidFill>
                  <a:srgbClr val="FFFFFF"/>
                </a:solidFill>
                <a:latin typeface="Arial"/>
              </a:defRPr>
            </a:pPr>
            <a:r>
              <a:t>Nền tảng đã có luồng tuyển dụng tích hợp</a:t>
            </a:r>
          </a:p>
        </p:txBody>
      </p:sp>
      <p:sp>
        <p:nvSpPr>
          <p:cNvPr id="5" name="TextBox 4"/>
          <p:cNvSpPr txBox="1"/>
          <p:nvPr/>
        </p:nvSpPr>
        <p:spPr>
          <a:xfrm>
            <a:off x="530352" y="1444752"/>
            <a:ext cx="11018520" cy="484632"/>
          </a:xfrm>
          <a:prstGeom prst="rect">
            <a:avLst/>
          </a:prstGeom>
          <a:noFill/>
        </p:spPr>
        <p:txBody>
          <a:bodyPr wrap="square" lIns="0" rIns="0" tIns="0" bIns="0">
            <a:spAutoFit/>
          </a:bodyPr>
          <a:lstStyle/>
          <a:p>
            <a:pPr>
              <a:lnSpc>
                <a:spcPct val="112000"/>
              </a:lnSpc>
              <a:spcBef>
                <a:spcPts val="0"/>
              </a:spcBef>
              <a:spcAft>
                <a:spcPts val="168"/>
              </a:spcAft>
              <a:defRPr sz="1400" b="0">
                <a:solidFill>
                  <a:srgbClr val="A6C7B8"/>
                </a:solidFill>
                <a:latin typeface="Arial"/>
              </a:defRPr>
            </a:pPr>
            <a:r>
              <a:t>Bước tiếp theo: củng cố bằng chứng, khép chức năng còn mở và chuẩn bị nghiệm thu.</a:t>
            </a:r>
          </a:p>
        </p:txBody>
      </p:sp>
      <p:cxnSp>
        <p:nvCxnSpPr>
          <p:cNvPr id="6" name="Connector 5"/>
          <p:cNvCxnSpPr/>
          <p:nvPr/>
        </p:nvCxnSpPr>
        <p:spPr>
          <a:xfrm>
            <a:off x="502920" y="6437376"/>
            <a:ext cx="11183112" cy="0"/>
          </a:xfrm>
          <a:prstGeom prst="line">
            <a:avLst/>
          </a:prstGeom>
          <a:ln w="8890">
            <a:solidFill>
              <a:srgbClr val="64776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12064" y="6537960"/>
            <a:ext cx="10287000" cy="173736"/>
          </a:xfrm>
          <a:prstGeom prst="rect">
            <a:avLst/>
          </a:prstGeom>
          <a:noFill/>
        </p:spPr>
        <p:txBody>
          <a:bodyPr wrap="square" lIns="0" rIns="0" tIns="0" bIns="0">
            <a:spAutoFit/>
          </a:bodyPr>
          <a:lstStyle/>
          <a:p>
            <a:pPr>
              <a:lnSpc>
                <a:spcPct val="112000"/>
              </a:lnSpc>
              <a:spcBef>
                <a:spcPts val="0"/>
              </a:spcBef>
              <a:spcAft>
                <a:spcPts val="96"/>
              </a:spcAft>
              <a:defRPr sz="800" b="0">
                <a:solidFill>
                  <a:srgbClr val="A6C7B8"/>
                </a:solidFill>
                <a:latin typeface="Arial"/>
              </a:defRPr>
            </a:pPr>
            <a:r>
              <a:t>Nguồn và lời dẫn chi tiết nằm trong ghi chú từng slide và Ghi_chu_thuyet_trinh.md.</a:t>
            </a:r>
          </a:p>
        </p:txBody>
      </p:sp>
      <p:sp>
        <p:nvSpPr>
          <p:cNvPr id="8" name="TextBox 7"/>
          <p:cNvSpPr txBox="1"/>
          <p:nvPr/>
        </p:nvSpPr>
        <p:spPr>
          <a:xfrm>
            <a:off x="10881360" y="6510528"/>
            <a:ext cx="795528" cy="210312"/>
          </a:xfrm>
          <a:prstGeom prst="rect">
            <a:avLst/>
          </a:prstGeom>
          <a:noFill/>
        </p:spPr>
        <p:txBody>
          <a:bodyPr wrap="square" lIns="0" rIns="0" tIns="0" bIns="0">
            <a:spAutoFit/>
          </a:bodyPr>
          <a:lstStyle/>
          <a:p>
            <a:pPr algn="r">
              <a:lnSpc>
                <a:spcPct val="112000"/>
              </a:lnSpc>
              <a:spcBef>
                <a:spcPts val="0"/>
              </a:spcBef>
              <a:spcAft>
                <a:spcPts val="108"/>
              </a:spcAft>
              <a:defRPr sz="900" b="0">
                <a:solidFill>
                  <a:srgbClr val="A6C7B8"/>
                </a:solidFill>
                <a:latin typeface="Arial"/>
              </a:defRPr>
            </a:pPr>
            <a:r>
              <a:t>16 / 16</a:t>
            </a:r>
          </a:p>
        </p:txBody>
      </p:sp>
      <p:sp>
        <p:nvSpPr>
          <p:cNvPr id="9" name="Rounded Rectangle 8"/>
          <p:cNvSpPr/>
          <p:nvPr/>
        </p:nvSpPr>
        <p:spPr>
          <a:xfrm>
            <a:off x="640080" y="2231136"/>
            <a:ext cx="365760" cy="365760"/>
          </a:xfrm>
          <a:prstGeom prst="roundRect">
            <a:avLst>
              <a:gd name="adj" fmla="val 12000"/>
            </a:avLst>
          </a:prstGeom>
          <a:solidFill>
            <a:srgbClr val="078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299716"/>
            <a:ext cx="365760" cy="228600"/>
          </a:xfrm>
          <a:prstGeom prst="rect">
            <a:avLst/>
          </a:prstGeom>
          <a:noFill/>
        </p:spPr>
        <p:txBody>
          <a:bodyPr wrap="square" lIns="0" rIns="0" tIns="0" bIns="0">
            <a:spAutoFit/>
          </a:bodyPr>
          <a:lstStyle/>
          <a:p>
            <a:pPr algn="ctr">
              <a:lnSpc>
                <a:spcPct val="112000"/>
              </a:lnSpc>
              <a:spcBef>
                <a:spcPts val="0"/>
              </a:spcBef>
              <a:spcAft>
                <a:spcPts val="156"/>
              </a:spcAft>
              <a:defRPr sz="1300" b="1">
                <a:solidFill>
                  <a:srgbClr val="FFFFFF"/>
                </a:solidFill>
                <a:latin typeface="Arial"/>
              </a:defRPr>
            </a:pPr>
            <a:r>
              <a:t>01</a:t>
            </a:r>
          </a:p>
        </p:txBody>
      </p:sp>
      <p:sp>
        <p:nvSpPr>
          <p:cNvPr id="11" name="TextBox 10"/>
          <p:cNvSpPr txBox="1"/>
          <p:nvPr/>
        </p:nvSpPr>
        <p:spPr>
          <a:xfrm>
            <a:off x="1243584" y="2212848"/>
            <a:ext cx="3840480" cy="393192"/>
          </a:xfrm>
          <a:prstGeom prst="rect">
            <a:avLst/>
          </a:prstGeom>
          <a:noFill/>
        </p:spPr>
        <p:txBody>
          <a:bodyPr wrap="square" lIns="0" rIns="0" tIns="0" bIns="0">
            <a:spAutoFit/>
          </a:bodyPr>
          <a:lstStyle/>
          <a:p>
            <a:pPr>
              <a:lnSpc>
                <a:spcPct val="112000"/>
              </a:lnSpc>
              <a:spcBef>
                <a:spcPts val="0"/>
              </a:spcBef>
              <a:spcAft>
                <a:spcPts val="276"/>
              </a:spcAft>
              <a:defRPr sz="2300" b="1">
                <a:solidFill>
                  <a:srgbClr val="FFFFFF"/>
                </a:solidFill>
                <a:latin typeface="Arial"/>
              </a:defRPr>
            </a:pPr>
            <a:r>
              <a:t>Phạm vi rõ ràng</a:t>
            </a:r>
          </a:p>
        </p:txBody>
      </p:sp>
      <p:sp>
        <p:nvSpPr>
          <p:cNvPr id="12" name="TextBox 11"/>
          <p:cNvSpPr txBox="1"/>
          <p:nvPr/>
        </p:nvSpPr>
        <p:spPr>
          <a:xfrm>
            <a:off x="1243584" y="2679191"/>
            <a:ext cx="9875520" cy="411480"/>
          </a:xfrm>
          <a:prstGeom prst="rect">
            <a:avLst/>
          </a:prstGeom>
          <a:noFill/>
        </p:spPr>
        <p:txBody>
          <a:bodyPr wrap="square" lIns="0" rIns="0" tIns="0" bIns="0">
            <a:spAutoFit/>
          </a:bodyPr>
          <a:lstStyle/>
          <a:p>
            <a:pPr>
              <a:lnSpc>
                <a:spcPct val="112000"/>
              </a:lnSpc>
              <a:spcBef>
                <a:spcPts val="0"/>
              </a:spcBef>
              <a:spcAft>
                <a:spcPts val="216"/>
              </a:spcAft>
              <a:defRPr sz="1800" b="0">
                <a:solidFill>
                  <a:srgbClr val="A6C7B8"/>
                </a:solidFill>
                <a:latin typeface="Arial"/>
              </a:defRPr>
            </a:pPr>
            <a:r>
              <a:t>3 vai trò • 12 API service • giao diện riêng cho từng cổng</a:t>
            </a:r>
          </a:p>
        </p:txBody>
      </p:sp>
      <p:sp>
        <p:nvSpPr>
          <p:cNvPr id="13" name="Rounded Rectangle 12"/>
          <p:cNvSpPr/>
          <p:nvPr/>
        </p:nvSpPr>
        <p:spPr>
          <a:xfrm>
            <a:off x="640080" y="3328416"/>
            <a:ext cx="365760" cy="365760"/>
          </a:xfrm>
          <a:prstGeom prst="roundRect">
            <a:avLst>
              <a:gd name="adj" fmla="val 12000"/>
            </a:avLst>
          </a:prstGeom>
          <a:solidFill>
            <a:srgbClr val="078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396996"/>
            <a:ext cx="365760" cy="228600"/>
          </a:xfrm>
          <a:prstGeom prst="rect">
            <a:avLst/>
          </a:prstGeom>
          <a:noFill/>
        </p:spPr>
        <p:txBody>
          <a:bodyPr wrap="square" lIns="0" rIns="0" tIns="0" bIns="0">
            <a:spAutoFit/>
          </a:bodyPr>
          <a:lstStyle/>
          <a:p>
            <a:pPr algn="ctr">
              <a:lnSpc>
                <a:spcPct val="112000"/>
              </a:lnSpc>
              <a:spcBef>
                <a:spcPts val="0"/>
              </a:spcBef>
              <a:spcAft>
                <a:spcPts val="156"/>
              </a:spcAft>
              <a:defRPr sz="1300" b="1">
                <a:solidFill>
                  <a:srgbClr val="FFFFFF"/>
                </a:solidFill>
                <a:latin typeface="Arial"/>
              </a:defRPr>
            </a:pPr>
            <a:r>
              <a:t>02</a:t>
            </a:r>
          </a:p>
        </p:txBody>
      </p:sp>
      <p:sp>
        <p:nvSpPr>
          <p:cNvPr id="15" name="TextBox 14"/>
          <p:cNvSpPr txBox="1"/>
          <p:nvPr/>
        </p:nvSpPr>
        <p:spPr>
          <a:xfrm>
            <a:off x="1243584" y="3310128"/>
            <a:ext cx="3840480" cy="393192"/>
          </a:xfrm>
          <a:prstGeom prst="rect">
            <a:avLst/>
          </a:prstGeom>
          <a:noFill/>
        </p:spPr>
        <p:txBody>
          <a:bodyPr wrap="square" lIns="0" rIns="0" tIns="0" bIns="0">
            <a:spAutoFit/>
          </a:bodyPr>
          <a:lstStyle/>
          <a:p>
            <a:pPr>
              <a:lnSpc>
                <a:spcPct val="112000"/>
              </a:lnSpc>
              <a:spcBef>
                <a:spcPts val="0"/>
              </a:spcBef>
              <a:spcAft>
                <a:spcPts val="276"/>
              </a:spcAft>
              <a:defRPr sz="2300" b="1">
                <a:solidFill>
                  <a:srgbClr val="FFFFFF"/>
                </a:solidFill>
                <a:latin typeface="Arial"/>
              </a:defRPr>
            </a:pPr>
            <a:r>
              <a:t>Đã có kiểm chứng local</a:t>
            </a:r>
          </a:p>
        </p:txBody>
      </p:sp>
      <p:sp>
        <p:nvSpPr>
          <p:cNvPr id="16" name="TextBox 15"/>
          <p:cNvSpPr txBox="1"/>
          <p:nvPr/>
        </p:nvSpPr>
        <p:spPr>
          <a:xfrm>
            <a:off x="1243584" y="3776472"/>
            <a:ext cx="9875520" cy="411480"/>
          </a:xfrm>
          <a:prstGeom prst="rect">
            <a:avLst/>
          </a:prstGeom>
          <a:noFill/>
        </p:spPr>
        <p:txBody>
          <a:bodyPr wrap="square" lIns="0" rIns="0" tIns="0" bIns="0">
            <a:spAutoFit/>
          </a:bodyPr>
          <a:lstStyle/>
          <a:p>
            <a:pPr>
              <a:lnSpc>
                <a:spcPct val="112000"/>
              </a:lnSpc>
              <a:spcBef>
                <a:spcPts val="0"/>
              </a:spcBef>
              <a:spcAft>
                <a:spcPts val="216"/>
              </a:spcAft>
              <a:defRPr sz="1800" b="0">
                <a:solidFill>
                  <a:srgbClr val="A6C7B8"/>
                </a:solidFill>
                <a:latin typeface="Arial"/>
              </a:defRPr>
            </a:pPr>
            <a:r>
              <a:t>Từ kiểm duyệt tin, nộp CV đến offer, chat và matching</a:t>
            </a:r>
          </a:p>
        </p:txBody>
      </p:sp>
      <p:sp>
        <p:nvSpPr>
          <p:cNvPr id="17" name="Rounded Rectangle 16"/>
          <p:cNvSpPr/>
          <p:nvPr/>
        </p:nvSpPr>
        <p:spPr>
          <a:xfrm>
            <a:off x="640080" y="4425696"/>
            <a:ext cx="365760" cy="365760"/>
          </a:xfrm>
          <a:prstGeom prst="roundRect">
            <a:avLst>
              <a:gd name="adj" fmla="val 12000"/>
            </a:avLst>
          </a:prstGeom>
          <a:solidFill>
            <a:srgbClr val="078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494276"/>
            <a:ext cx="365760" cy="228600"/>
          </a:xfrm>
          <a:prstGeom prst="rect">
            <a:avLst/>
          </a:prstGeom>
          <a:noFill/>
        </p:spPr>
        <p:txBody>
          <a:bodyPr wrap="square" lIns="0" rIns="0" tIns="0" bIns="0">
            <a:spAutoFit/>
          </a:bodyPr>
          <a:lstStyle/>
          <a:p>
            <a:pPr algn="ctr">
              <a:lnSpc>
                <a:spcPct val="112000"/>
              </a:lnSpc>
              <a:spcBef>
                <a:spcPts val="0"/>
              </a:spcBef>
              <a:spcAft>
                <a:spcPts val="156"/>
              </a:spcAft>
              <a:defRPr sz="1300" b="1">
                <a:solidFill>
                  <a:srgbClr val="FFFFFF"/>
                </a:solidFill>
                <a:latin typeface="Arial"/>
              </a:defRPr>
            </a:pPr>
            <a:r>
              <a:t>03</a:t>
            </a:r>
          </a:p>
        </p:txBody>
      </p:sp>
      <p:sp>
        <p:nvSpPr>
          <p:cNvPr id="19" name="TextBox 18"/>
          <p:cNvSpPr txBox="1"/>
          <p:nvPr/>
        </p:nvSpPr>
        <p:spPr>
          <a:xfrm>
            <a:off x="1243584" y="4407408"/>
            <a:ext cx="3840480" cy="393192"/>
          </a:xfrm>
          <a:prstGeom prst="rect">
            <a:avLst/>
          </a:prstGeom>
          <a:noFill/>
        </p:spPr>
        <p:txBody>
          <a:bodyPr wrap="square" lIns="0" rIns="0" tIns="0" bIns="0">
            <a:spAutoFit/>
          </a:bodyPr>
          <a:lstStyle/>
          <a:p>
            <a:pPr>
              <a:lnSpc>
                <a:spcPct val="112000"/>
              </a:lnSpc>
              <a:spcBef>
                <a:spcPts val="0"/>
              </a:spcBef>
              <a:spcAft>
                <a:spcPts val="276"/>
              </a:spcAft>
              <a:defRPr sz="2300" b="1">
                <a:solidFill>
                  <a:srgbClr val="FFFFFF"/>
                </a:solidFill>
                <a:latin typeface="Arial"/>
              </a:defRPr>
            </a:pPr>
            <a:r>
              <a:t>Còn việc trước production</a:t>
            </a:r>
          </a:p>
        </p:txBody>
      </p:sp>
      <p:sp>
        <p:nvSpPr>
          <p:cNvPr id="20" name="TextBox 19"/>
          <p:cNvSpPr txBox="1"/>
          <p:nvPr/>
        </p:nvSpPr>
        <p:spPr>
          <a:xfrm>
            <a:off x="1243584" y="4873752"/>
            <a:ext cx="9875520" cy="411480"/>
          </a:xfrm>
          <a:prstGeom prst="rect">
            <a:avLst/>
          </a:prstGeom>
          <a:noFill/>
        </p:spPr>
        <p:txBody>
          <a:bodyPr wrap="square" lIns="0" rIns="0" tIns="0" bIns="0">
            <a:spAutoFit/>
          </a:bodyPr>
          <a:lstStyle/>
          <a:p>
            <a:pPr>
              <a:lnSpc>
                <a:spcPct val="112000"/>
              </a:lnSpc>
              <a:spcBef>
                <a:spcPts val="0"/>
              </a:spcBef>
              <a:spcAft>
                <a:spcPts val="216"/>
              </a:spcAft>
              <a:defRPr sz="1800" b="0">
                <a:solidFill>
                  <a:srgbClr val="A6C7B8"/>
                </a:solidFill>
                <a:latin typeface="Arial"/>
              </a:defRPr>
            </a:pPr>
            <a:r>
              <a:t>Online interview, nội dung báo cáo, chất lượng AI và vận hành</a:t>
            </a:r>
          </a:p>
        </p:txBody>
      </p:sp>
      <p:sp>
        <p:nvSpPr>
          <p:cNvPr id="21" name="TextBox 20"/>
          <p:cNvSpPr txBox="1"/>
          <p:nvPr/>
        </p:nvSpPr>
        <p:spPr>
          <a:xfrm>
            <a:off x="694944" y="5788152"/>
            <a:ext cx="10744200" cy="320040"/>
          </a:xfrm>
          <a:prstGeom prst="rect">
            <a:avLst/>
          </a:prstGeom>
          <a:noFill/>
        </p:spPr>
        <p:txBody>
          <a:bodyPr wrap="square" lIns="0" rIns="0" tIns="0" bIns="0">
            <a:spAutoFit/>
          </a:bodyPr>
          <a:lstStyle/>
          <a:p>
            <a:pPr algn="ctr">
              <a:lnSpc>
                <a:spcPct val="112000"/>
              </a:lnSpc>
              <a:spcBef>
                <a:spcPts val="0"/>
              </a:spcBef>
              <a:spcAft>
                <a:spcPts val="216"/>
              </a:spcAft>
              <a:defRPr sz="1800" b="1">
                <a:solidFill>
                  <a:srgbClr val="FFFFFF"/>
                </a:solidFill>
                <a:latin typeface="Arial"/>
              </a:defRPr>
            </a:pPr>
            <a:r>
              <a:t>CẢM ƠN THẦY/CÔ VÀ CÁC BẠN  •  TRAO ĐỔI &amp; GÓP Ý</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Recruitment System — Báo cáo sơ bộ</dc:title>
  <dc:subject>CareerHub | Tổng hợp hiện trạng dự án đến 23/10/2026</dc:subject>
  <dc:creator>Recruitment System</dc:creator>
  <cp:keywords>Recruitment, CareerHub, báo cáo sơ bộ, microservices</cp:keywords>
  <dc:description>Tổng hợp từ repository; không chạy lại kiểm thử trong lần tạo báo cáo.</dc:description>
  <cp:lastModifiedBy>Steve Canny</cp:lastModifiedBy>
  <cp:revision>1</cp:revision>
  <dcterms:created xsi:type="dcterms:W3CDTF">2013-01-27T09:14:16Z</dcterms:created>
  <dcterms:modified xsi:type="dcterms:W3CDTF">2013-01-27T09:15:58Z</dcterms:modified>
  <cp:category/>
</cp:coreProperties>
</file>